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8"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E32D33-733F-4778-9F84-2C2EB53EEC54}" v="5" dt="2025-04-13T15:07:32.5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s Salam" userId="0e2b1981-3d04-4857-a4cb-b2b53ead0854" providerId="ADAL" clId="{6CE32D33-733F-4778-9F84-2C2EB53EEC54}"/>
    <pc:docChg chg="custSel addSld delSld modSld">
      <pc:chgData name="Abdus Salam" userId="0e2b1981-3d04-4857-a4cb-b2b53ead0854" providerId="ADAL" clId="{6CE32D33-733F-4778-9F84-2C2EB53EEC54}" dt="2025-04-13T15:10:05.898" v="36" actId="20577"/>
      <pc:docMkLst>
        <pc:docMk/>
      </pc:docMkLst>
      <pc:sldChg chg="addSp modSp mod">
        <pc:chgData name="Abdus Salam" userId="0e2b1981-3d04-4857-a4cb-b2b53ead0854" providerId="ADAL" clId="{6CE32D33-733F-4778-9F84-2C2EB53EEC54}" dt="2025-04-13T15:07:56.132" v="34" actId="403"/>
        <pc:sldMkLst>
          <pc:docMk/>
          <pc:sldMk cId="3230743448" sldId="256"/>
        </pc:sldMkLst>
        <pc:spChg chg="add mod">
          <ac:chgData name="Abdus Salam" userId="0e2b1981-3d04-4857-a4cb-b2b53ead0854" providerId="ADAL" clId="{6CE32D33-733F-4778-9F84-2C2EB53EEC54}" dt="2025-04-13T15:07:56.132" v="34" actId="403"/>
          <ac:spMkLst>
            <pc:docMk/>
            <pc:sldMk cId="3230743448" sldId="256"/>
            <ac:spMk id="2" creationId="{8508C07C-DAF0-8F90-2B87-41E0E7216B28}"/>
          </ac:spMkLst>
        </pc:spChg>
      </pc:sldChg>
      <pc:sldChg chg="new del">
        <pc:chgData name="Abdus Salam" userId="0e2b1981-3d04-4857-a4cb-b2b53ead0854" providerId="ADAL" clId="{6CE32D33-733F-4778-9F84-2C2EB53EEC54}" dt="2025-04-13T14:58:43.307" v="2" actId="47"/>
        <pc:sldMkLst>
          <pc:docMk/>
          <pc:sldMk cId="3827195947" sldId="286"/>
        </pc:sldMkLst>
      </pc:sldChg>
      <pc:sldChg chg="modSp new mod">
        <pc:chgData name="Abdus Salam" userId="0e2b1981-3d04-4857-a4cb-b2b53ead0854" providerId="ADAL" clId="{6CE32D33-733F-4778-9F84-2C2EB53EEC54}" dt="2025-04-13T15:10:05.898" v="36" actId="20577"/>
        <pc:sldMkLst>
          <pc:docMk/>
          <pc:sldMk cId="2417703431" sldId="287"/>
        </pc:sldMkLst>
        <pc:spChg chg="mod">
          <ac:chgData name="Abdus Salam" userId="0e2b1981-3d04-4857-a4cb-b2b53ead0854" providerId="ADAL" clId="{6CE32D33-733F-4778-9F84-2C2EB53EEC54}" dt="2025-04-13T14:58:48.098" v="12" actId="20577"/>
          <ac:spMkLst>
            <pc:docMk/>
            <pc:sldMk cId="2417703431" sldId="287"/>
            <ac:spMk id="2" creationId="{DBC206FA-9858-FA5B-72C1-3ED938A93C74}"/>
          </ac:spMkLst>
        </pc:spChg>
        <pc:spChg chg="mod">
          <ac:chgData name="Abdus Salam" userId="0e2b1981-3d04-4857-a4cb-b2b53ead0854" providerId="ADAL" clId="{6CE32D33-733F-4778-9F84-2C2EB53EEC54}" dt="2025-04-13T15:10:05.898" v="36" actId="20577"/>
          <ac:spMkLst>
            <pc:docMk/>
            <pc:sldMk cId="2417703431" sldId="287"/>
            <ac:spMk id="3" creationId="{EEAE2593-C63B-FA3D-5FA5-98776E82159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9E94A-69B5-4EB2-946B-9F0B55C854A2}" type="datetimeFigureOut">
              <a:rPr lang="en-GB" smtClean="0"/>
              <a:t>13/04/2025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8108C-7A65-4E29-BB97-0193868182BE}" type="slidenum">
              <a:rPr lang="en-GB" smtClean="0"/>
              <a:t>‹#›</a:t>
            </a:fld>
            <a:endParaRPr lang="en-GB"/>
          </a:p>
        </p:txBody>
      </p:sp>
    </p:spTree>
    <p:extLst>
      <p:ext uri="{BB962C8B-B14F-4D97-AF65-F5344CB8AC3E}">
        <p14:creationId xmlns:p14="http://schemas.microsoft.com/office/powerpoint/2010/main" val="1583788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3938C-8F81-3D5D-A68B-687E886D15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F562337-6598-760D-36F7-210803857A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572FA32-C95B-1D5A-5835-79FE0A565ED3}"/>
              </a:ext>
            </a:extLst>
          </p:cNvPr>
          <p:cNvSpPr>
            <a:spLocks noGrp="1"/>
          </p:cNvSpPr>
          <p:nvPr>
            <p:ph type="dt" sz="half" idx="10"/>
          </p:nvPr>
        </p:nvSpPr>
        <p:spPr/>
        <p:txBody>
          <a:bodyPr/>
          <a:lstStyle/>
          <a:p>
            <a:fld id="{41072699-F9A0-4DBF-879E-04983D165F60}" type="datetime1">
              <a:rPr lang="en-GB" smtClean="0"/>
              <a:t>13/04/2025</a:t>
            </a:fld>
            <a:endParaRPr lang="en-GB"/>
          </a:p>
        </p:txBody>
      </p:sp>
      <p:sp>
        <p:nvSpPr>
          <p:cNvPr id="5" name="Footer Placeholder 4">
            <a:extLst>
              <a:ext uri="{FF2B5EF4-FFF2-40B4-BE49-F238E27FC236}">
                <a16:creationId xmlns:a16="http://schemas.microsoft.com/office/drawing/2014/main" id="{A96455D4-0924-D2D4-E888-E7B4B7D9D7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E9CD86-F23D-678D-FA2B-7BB29D39D6BD}"/>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127209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5B08-8561-61ED-8D29-B4DF9D4641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4D27719-5230-5CC9-82F8-853EC98246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0D580D-A327-AEB5-736C-F67DDB89D60B}"/>
              </a:ext>
            </a:extLst>
          </p:cNvPr>
          <p:cNvSpPr>
            <a:spLocks noGrp="1"/>
          </p:cNvSpPr>
          <p:nvPr>
            <p:ph type="dt" sz="half" idx="10"/>
          </p:nvPr>
        </p:nvSpPr>
        <p:spPr/>
        <p:txBody>
          <a:bodyPr/>
          <a:lstStyle/>
          <a:p>
            <a:fld id="{24DBBE25-9A02-4FF7-A819-4B8DA2236554}" type="datetime1">
              <a:rPr lang="en-GB" smtClean="0"/>
              <a:t>13/04/2025</a:t>
            </a:fld>
            <a:endParaRPr lang="en-GB"/>
          </a:p>
        </p:txBody>
      </p:sp>
      <p:sp>
        <p:nvSpPr>
          <p:cNvPr id="5" name="Footer Placeholder 4">
            <a:extLst>
              <a:ext uri="{FF2B5EF4-FFF2-40B4-BE49-F238E27FC236}">
                <a16:creationId xmlns:a16="http://schemas.microsoft.com/office/drawing/2014/main" id="{29D3FD59-BFA9-1FCF-A3A4-0E4A024349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6F8E46-0853-4D9E-CBF3-A5036F19E489}"/>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509262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1863-8805-5EFF-D344-F78E83DB5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B745185-D480-E9ED-A637-4202B33491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092654-9C79-EBBB-B732-80055C58A381}"/>
              </a:ext>
            </a:extLst>
          </p:cNvPr>
          <p:cNvSpPr>
            <a:spLocks noGrp="1"/>
          </p:cNvSpPr>
          <p:nvPr>
            <p:ph type="dt" sz="half" idx="10"/>
          </p:nvPr>
        </p:nvSpPr>
        <p:spPr/>
        <p:txBody>
          <a:bodyPr/>
          <a:lstStyle/>
          <a:p>
            <a:fld id="{95029D94-3476-4183-85D7-AB20F6999429}" type="datetime1">
              <a:rPr lang="en-GB" smtClean="0"/>
              <a:t>13/04/2025</a:t>
            </a:fld>
            <a:endParaRPr lang="en-GB"/>
          </a:p>
        </p:txBody>
      </p:sp>
      <p:sp>
        <p:nvSpPr>
          <p:cNvPr id="5" name="Footer Placeholder 4">
            <a:extLst>
              <a:ext uri="{FF2B5EF4-FFF2-40B4-BE49-F238E27FC236}">
                <a16:creationId xmlns:a16="http://schemas.microsoft.com/office/drawing/2014/main" id="{4FF935E1-BBE3-47F9-7F23-84899768CA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CE038A-2782-2B9B-42DF-8AA0F6D1CE52}"/>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4045973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1520-2C7F-4694-5459-63466ACD74F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8549BC-942B-2827-FBFE-40B0630A40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CFBD812-DA53-4BF0-4962-51B2752238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8931AEE-0B4B-592C-706C-BA15C5D389C0}"/>
              </a:ext>
            </a:extLst>
          </p:cNvPr>
          <p:cNvSpPr>
            <a:spLocks noGrp="1"/>
          </p:cNvSpPr>
          <p:nvPr>
            <p:ph type="dt" sz="half" idx="10"/>
          </p:nvPr>
        </p:nvSpPr>
        <p:spPr/>
        <p:txBody>
          <a:bodyPr/>
          <a:lstStyle/>
          <a:p>
            <a:fld id="{657043C2-D694-4B73-A769-AAC359184494}" type="datetime1">
              <a:rPr lang="en-GB" smtClean="0"/>
              <a:t>13/04/2025</a:t>
            </a:fld>
            <a:endParaRPr lang="en-GB"/>
          </a:p>
        </p:txBody>
      </p:sp>
      <p:sp>
        <p:nvSpPr>
          <p:cNvPr id="6" name="Footer Placeholder 5">
            <a:extLst>
              <a:ext uri="{FF2B5EF4-FFF2-40B4-BE49-F238E27FC236}">
                <a16:creationId xmlns:a16="http://schemas.microsoft.com/office/drawing/2014/main" id="{4AD8DD22-91F8-5FAB-18B6-1ACDC90D9F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B9EE26-C96D-E9DA-889A-D6FC08F75C3E}"/>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850505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2EA3-25A0-A693-6155-126326CAA56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0AAFBE6-AC51-DE29-D337-80E728B24D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8B329B-2558-6BF4-9EF2-D9BE02C1C5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55A92BB-F1F8-E0C4-8EE4-B1FD8655AB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3AAD05-9A1B-2550-FC90-6A25EA34CE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857C881-0E30-6577-3C33-3AD260701418}"/>
              </a:ext>
            </a:extLst>
          </p:cNvPr>
          <p:cNvSpPr>
            <a:spLocks noGrp="1"/>
          </p:cNvSpPr>
          <p:nvPr>
            <p:ph type="dt" sz="half" idx="10"/>
          </p:nvPr>
        </p:nvSpPr>
        <p:spPr/>
        <p:txBody>
          <a:bodyPr/>
          <a:lstStyle/>
          <a:p>
            <a:fld id="{42A77C7F-D740-49AD-8117-A25BD322793F}" type="datetime1">
              <a:rPr lang="en-GB" smtClean="0"/>
              <a:t>13/04/2025</a:t>
            </a:fld>
            <a:endParaRPr lang="en-GB"/>
          </a:p>
        </p:txBody>
      </p:sp>
      <p:sp>
        <p:nvSpPr>
          <p:cNvPr id="8" name="Footer Placeholder 7">
            <a:extLst>
              <a:ext uri="{FF2B5EF4-FFF2-40B4-BE49-F238E27FC236}">
                <a16:creationId xmlns:a16="http://schemas.microsoft.com/office/drawing/2014/main" id="{889CAB12-1BA8-5C68-A92E-7A3E488E144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4A99E9-C3DE-CFE3-2196-CA581D6A66EB}"/>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70512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01EE-6ADD-3E9B-8B37-AC6E54034E7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E5985D4-5970-DB26-F8B7-B8163D35DB60}"/>
              </a:ext>
            </a:extLst>
          </p:cNvPr>
          <p:cNvSpPr>
            <a:spLocks noGrp="1"/>
          </p:cNvSpPr>
          <p:nvPr>
            <p:ph type="dt" sz="half" idx="10"/>
          </p:nvPr>
        </p:nvSpPr>
        <p:spPr/>
        <p:txBody>
          <a:bodyPr/>
          <a:lstStyle/>
          <a:p>
            <a:fld id="{4CAB3330-D013-4F53-99EE-FA4E14EED1ED}" type="datetime1">
              <a:rPr lang="en-GB" smtClean="0"/>
              <a:t>13/04/2025</a:t>
            </a:fld>
            <a:endParaRPr lang="en-GB"/>
          </a:p>
        </p:txBody>
      </p:sp>
      <p:sp>
        <p:nvSpPr>
          <p:cNvPr id="4" name="Footer Placeholder 3">
            <a:extLst>
              <a:ext uri="{FF2B5EF4-FFF2-40B4-BE49-F238E27FC236}">
                <a16:creationId xmlns:a16="http://schemas.microsoft.com/office/drawing/2014/main" id="{F56595F7-DD79-9A92-5A3A-DD0F38D61AA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55B2B0D-E795-F021-6AEF-59A6C3075948}"/>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597241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1908CA-6D52-3801-3691-15A5E378755F}"/>
              </a:ext>
            </a:extLst>
          </p:cNvPr>
          <p:cNvSpPr>
            <a:spLocks noGrp="1"/>
          </p:cNvSpPr>
          <p:nvPr>
            <p:ph type="dt" sz="half" idx="10"/>
          </p:nvPr>
        </p:nvSpPr>
        <p:spPr/>
        <p:txBody>
          <a:bodyPr/>
          <a:lstStyle/>
          <a:p>
            <a:fld id="{2448AEA6-1D6A-481D-A3DF-29ABD4449136}" type="datetime1">
              <a:rPr lang="en-GB" smtClean="0"/>
              <a:t>13/04/2025</a:t>
            </a:fld>
            <a:endParaRPr lang="en-GB"/>
          </a:p>
        </p:txBody>
      </p:sp>
      <p:sp>
        <p:nvSpPr>
          <p:cNvPr id="3" name="Footer Placeholder 2">
            <a:extLst>
              <a:ext uri="{FF2B5EF4-FFF2-40B4-BE49-F238E27FC236}">
                <a16:creationId xmlns:a16="http://schemas.microsoft.com/office/drawing/2014/main" id="{1CA4128B-0FE0-AB9E-B1F7-48B26482461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E793DE-E275-EA62-1BE3-FB7514554552}"/>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228730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1317C-B077-2002-E4AA-4E13B8F55C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208615D-D7CA-7791-6BEA-3D226FA41B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84211E0-4D0D-93F2-6DAF-B1B501C11A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721300-1760-B0AD-C7B6-3E336BD89A5B}"/>
              </a:ext>
            </a:extLst>
          </p:cNvPr>
          <p:cNvSpPr>
            <a:spLocks noGrp="1"/>
          </p:cNvSpPr>
          <p:nvPr>
            <p:ph type="dt" sz="half" idx="10"/>
          </p:nvPr>
        </p:nvSpPr>
        <p:spPr/>
        <p:txBody>
          <a:bodyPr/>
          <a:lstStyle/>
          <a:p>
            <a:fld id="{952F8788-F4F7-4ECE-B95F-DDA15E37A402}" type="datetime1">
              <a:rPr lang="en-GB" smtClean="0"/>
              <a:t>13/04/2025</a:t>
            </a:fld>
            <a:endParaRPr lang="en-GB"/>
          </a:p>
        </p:txBody>
      </p:sp>
      <p:sp>
        <p:nvSpPr>
          <p:cNvPr id="6" name="Footer Placeholder 5">
            <a:extLst>
              <a:ext uri="{FF2B5EF4-FFF2-40B4-BE49-F238E27FC236}">
                <a16:creationId xmlns:a16="http://schemas.microsoft.com/office/drawing/2014/main" id="{5226476F-3829-2A6E-1E4E-3801A5187F3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BEB21F-32F8-DAE6-87FE-79AAE24B28C1}"/>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4134474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614ED-1BFB-1D46-4B62-546D213028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9DE307-882C-3AE0-ECA4-70D7753C2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99156ED-D3E2-6F44-27BC-756E3A0A5F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2EB767-F564-E55D-4782-54527BD737F4}"/>
              </a:ext>
            </a:extLst>
          </p:cNvPr>
          <p:cNvSpPr>
            <a:spLocks noGrp="1"/>
          </p:cNvSpPr>
          <p:nvPr>
            <p:ph type="dt" sz="half" idx="10"/>
          </p:nvPr>
        </p:nvSpPr>
        <p:spPr/>
        <p:txBody>
          <a:bodyPr/>
          <a:lstStyle/>
          <a:p>
            <a:fld id="{051608DD-13F8-4DD5-A802-E746736570A8}" type="datetime1">
              <a:rPr lang="en-GB" smtClean="0"/>
              <a:t>13/04/2025</a:t>
            </a:fld>
            <a:endParaRPr lang="en-GB"/>
          </a:p>
        </p:txBody>
      </p:sp>
      <p:sp>
        <p:nvSpPr>
          <p:cNvPr id="6" name="Footer Placeholder 5">
            <a:extLst>
              <a:ext uri="{FF2B5EF4-FFF2-40B4-BE49-F238E27FC236}">
                <a16:creationId xmlns:a16="http://schemas.microsoft.com/office/drawing/2014/main" id="{6DFC5156-CD80-EEA0-8AC3-01D10C4A4CD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A8BE35-752A-A73C-C06F-2D6DCE3527A3}"/>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1461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D19B9-4D55-DD67-BAD5-A151882DA7F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17ECC40-8D0F-280F-7DFA-D7D16D0260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34CC6A-7BD5-0672-A128-565046700D8C}"/>
              </a:ext>
            </a:extLst>
          </p:cNvPr>
          <p:cNvSpPr>
            <a:spLocks noGrp="1"/>
          </p:cNvSpPr>
          <p:nvPr>
            <p:ph type="dt" sz="half" idx="10"/>
          </p:nvPr>
        </p:nvSpPr>
        <p:spPr/>
        <p:txBody>
          <a:bodyPr/>
          <a:lstStyle/>
          <a:p>
            <a:fld id="{A9F3733E-F508-4315-A759-93080B87757E}" type="datetime1">
              <a:rPr lang="en-GB" smtClean="0"/>
              <a:t>13/04/2025</a:t>
            </a:fld>
            <a:endParaRPr lang="en-GB"/>
          </a:p>
        </p:txBody>
      </p:sp>
      <p:sp>
        <p:nvSpPr>
          <p:cNvPr id="5" name="Footer Placeholder 4">
            <a:extLst>
              <a:ext uri="{FF2B5EF4-FFF2-40B4-BE49-F238E27FC236}">
                <a16:creationId xmlns:a16="http://schemas.microsoft.com/office/drawing/2014/main" id="{50C2BE23-92D8-9407-6F57-359C415C30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34E3DC-82A1-A272-9175-6273C8741023}"/>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992086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417E13-1C81-20AF-E23A-AB51E93EA0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2B81EC3-94C5-E734-4F3B-D9F42595DE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0ADA3B-6C04-0094-974B-8E44C9EB8414}"/>
              </a:ext>
            </a:extLst>
          </p:cNvPr>
          <p:cNvSpPr>
            <a:spLocks noGrp="1"/>
          </p:cNvSpPr>
          <p:nvPr>
            <p:ph type="dt" sz="half" idx="10"/>
          </p:nvPr>
        </p:nvSpPr>
        <p:spPr/>
        <p:txBody>
          <a:bodyPr/>
          <a:lstStyle/>
          <a:p>
            <a:fld id="{58822343-4584-4574-9ECC-E033E0065FF1}" type="datetime1">
              <a:rPr lang="en-GB" smtClean="0"/>
              <a:t>13/04/2025</a:t>
            </a:fld>
            <a:endParaRPr lang="en-GB"/>
          </a:p>
        </p:txBody>
      </p:sp>
      <p:sp>
        <p:nvSpPr>
          <p:cNvPr id="5" name="Footer Placeholder 4">
            <a:extLst>
              <a:ext uri="{FF2B5EF4-FFF2-40B4-BE49-F238E27FC236}">
                <a16:creationId xmlns:a16="http://schemas.microsoft.com/office/drawing/2014/main" id="{AC17C18A-6CE4-6638-893A-089CF71BC7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F6D4ED-DDA4-BC09-19AA-387A41AB829B}"/>
              </a:ext>
            </a:extLst>
          </p:cNvPr>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41736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325DA4-B586-1380-F465-5A40A3F75C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F52EA88-2189-D5C9-0818-5C30B49C27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BB4113-C1A6-5AB5-8826-84C201CAD4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A8B93C-9DB8-40BB-95C5-F8284A0B6BFD}" type="datetime1">
              <a:rPr lang="en-GB" smtClean="0"/>
              <a:t>13/04/2025</a:t>
            </a:fld>
            <a:endParaRPr lang="en-GB"/>
          </a:p>
        </p:txBody>
      </p:sp>
      <p:sp>
        <p:nvSpPr>
          <p:cNvPr id="5" name="Footer Placeholder 4">
            <a:extLst>
              <a:ext uri="{FF2B5EF4-FFF2-40B4-BE49-F238E27FC236}">
                <a16:creationId xmlns:a16="http://schemas.microsoft.com/office/drawing/2014/main" id="{82985A94-ECE6-CD19-4349-272AB6ADA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020C6FC-9EC1-BD61-7E98-2B22B458D3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B654D-6898-4783-8329-E1EB680B937A}" type="slidenum">
              <a:rPr lang="en-GB" smtClean="0"/>
              <a:t>‹#›</a:t>
            </a:fld>
            <a:endParaRPr lang="en-GB"/>
          </a:p>
        </p:txBody>
      </p:sp>
    </p:spTree>
    <p:extLst>
      <p:ext uri="{BB962C8B-B14F-4D97-AF65-F5344CB8AC3E}">
        <p14:creationId xmlns:p14="http://schemas.microsoft.com/office/powerpoint/2010/main" val="1787892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D3FEE6-28D3-ED86-5D96-6B7F0EF263B3}"/>
              </a:ext>
            </a:extLst>
          </p:cNvPr>
          <p:cNvSpPr txBox="1"/>
          <p:nvPr/>
        </p:nvSpPr>
        <p:spPr>
          <a:xfrm>
            <a:off x="1899557" y="1734391"/>
            <a:ext cx="8392886" cy="1754326"/>
          </a:xfrm>
          <a:prstGeom prst="rect">
            <a:avLst/>
          </a:prstGeom>
          <a:noFill/>
        </p:spPr>
        <p:txBody>
          <a:bodyPr wrap="square">
            <a:spAutoFit/>
          </a:bodyPr>
          <a:lstStyle/>
          <a:p>
            <a:pPr algn="ctr"/>
            <a:r>
              <a:rPr lang="en-US" sz="5400" dirty="0">
                <a:latin typeface="Times New Roman" panose="02020603050405020304" pitchFamily="18" charset="0"/>
                <a:cs typeface="Times New Roman" panose="02020603050405020304" pitchFamily="18" charset="0"/>
              </a:rPr>
              <a:t>Vector Semantics and Embeddings</a:t>
            </a:r>
          </a:p>
        </p:txBody>
      </p:sp>
      <p:sp>
        <p:nvSpPr>
          <p:cNvPr id="4" name="Slide Number Placeholder 3">
            <a:extLst>
              <a:ext uri="{FF2B5EF4-FFF2-40B4-BE49-F238E27FC236}">
                <a16:creationId xmlns:a16="http://schemas.microsoft.com/office/drawing/2014/main" id="{C7A5DE63-FECD-BAD9-05E8-4AD6ED7D4624}"/>
              </a:ext>
            </a:extLst>
          </p:cNvPr>
          <p:cNvSpPr>
            <a:spLocks noGrp="1"/>
          </p:cNvSpPr>
          <p:nvPr>
            <p:ph type="sldNum" sz="quarter" idx="12"/>
          </p:nvPr>
        </p:nvSpPr>
        <p:spPr/>
        <p:txBody>
          <a:bodyPr/>
          <a:lstStyle/>
          <a:p>
            <a:fld id="{008B654D-6898-4783-8329-E1EB680B937A}" type="slidenum">
              <a:rPr lang="en-GB" smtClean="0"/>
              <a:t>1</a:t>
            </a:fld>
            <a:endParaRPr lang="en-GB"/>
          </a:p>
        </p:txBody>
      </p:sp>
      <p:sp>
        <p:nvSpPr>
          <p:cNvPr id="2" name="TextBox 1">
            <a:extLst>
              <a:ext uri="{FF2B5EF4-FFF2-40B4-BE49-F238E27FC236}">
                <a16:creationId xmlns:a16="http://schemas.microsoft.com/office/drawing/2014/main" id="{8508C07C-DAF0-8F90-2B87-41E0E7216B28}"/>
              </a:ext>
            </a:extLst>
          </p:cNvPr>
          <p:cNvSpPr txBox="1"/>
          <p:nvPr/>
        </p:nvSpPr>
        <p:spPr>
          <a:xfrm>
            <a:off x="4153033" y="4550229"/>
            <a:ext cx="3885936" cy="461665"/>
          </a:xfrm>
          <a:prstGeom prst="rect">
            <a:avLst/>
          </a:prstGeom>
          <a:noFill/>
        </p:spPr>
        <p:txBody>
          <a:bodyPr wrap="none" rtlCol="0">
            <a:spAutoFit/>
          </a:bodyPr>
          <a:lstStyle/>
          <a:p>
            <a:pPr algn="ctr"/>
            <a:r>
              <a:rPr lang="en-US" sz="2400" dirty="0"/>
              <a:t>Thanks to Dr. Ashraf Uddin Sir</a:t>
            </a:r>
            <a:endParaRPr lang="en-AU" sz="2400" dirty="0"/>
          </a:p>
        </p:txBody>
      </p:sp>
    </p:spTree>
    <p:extLst>
      <p:ext uri="{BB962C8B-B14F-4D97-AF65-F5344CB8AC3E}">
        <p14:creationId xmlns:p14="http://schemas.microsoft.com/office/powerpoint/2010/main" val="3230743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Vector Semantics and Embeddings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90395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Words that occur in similar contexts tend to have similar meanings.</a:t>
            </a:r>
          </a:p>
          <a:p>
            <a:pPr algn="just">
              <a:lnSpc>
                <a:spcPct val="150000"/>
              </a:lnSpc>
            </a:pPr>
            <a:r>
              <a:rPr lang="en-US" sz="2400" dirty="0">
                <a:latin typeface="Times New Roman" panose="02020603050405020304" pitchFamily="18" charset="0"/>
                <a:cs typeface="Times New Roman" panose="02020603050405020304" pitchFamily="18" charset="0"/>
              </a:rPr>
              <a:t>Vector semantics instantiates learning representations of the meaning of words, called embeddings, directly from their distributions in texts. </a:t>
            </a:r>
          </a:p>
          <a:p>
            <a:pPr algn="just">
              <a:lnSpc>
                <a:spcPct val="150000"/>
              </a:lnSpc>
            </a:pPr>
            <a:r>
              <a:rPr lang="en-US" sz="2400" dirty="0">
                <a:latin typeface="Times New Roman" panose="02020603050405020304" pitchFamily="18" charset="0"/>
                <a:cs typeface="Times New Roman" panose="02020603050405020304" pitchFamily="18" charset="0"/>
              </a:rPr>
              <a:t>These representations are used in every natural language processing application that makes use of meaning, and the </a:t>
            </a:r>
            <a:r>
              <a:rPr lang="en-US" sz="2400" b="1" dirty="0">
                <a:latin typeface="Times New Roman" panose="02020603050405020304" pitchFamily="18" charset="0"/>
                <a:cs typeface="Times New Roman" panose="02020603050405020304" pitchFamily="18" charset="0"/>
              </a:rPr>
              <a:t>static embeddings </a:t>
            </a:r>
            <a:r>
              <a:rPr lang="en-US" sz="2400" dirty="0">
                <a:latin typeface="Times New Roman" panose="02020603050405020304" pitchFamily="18" charset="0"/>
                <a:cs typeface="Times New Roman" panose="02020603050405020304" pitchFamily="18" charset="0"/>
              </a:rPr>
              <a:t>we introduce here underlie the more powerful </a:t>
            </a:r>
            <a:r>
              <a:rPr lang="en-US" sz="2400" b="1" dirty="0">
                <a:latin typeface="Times New Roman" panose="02020603050405020304" pitchFamily="18" charset="0"/>
                <a:cs typeface="Times New Roman" panose="02020603050405020304" pitchFamily="18" charset="0"/>
              </a:rPr>
              <a:t>dynamic</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contextualized embeddings </a:t>
            </a:r>
            <a:r>
              <a:rPr lang="en-US" sz="2400" dirty="0">
                <a:latin typeface="Times New Roman" panose="02020603050405020304" pitchFamily="18" charset="0"/>
                <a:cs typeface="Times New Roman" panose="02020603050405020304" pitchFamily="18" charset="0"/>
              </a:rPr>
              <a:t>like BERT.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a:t>
            </a:fld>
            <a:endParaRPr lang="en-GB"/>
          </a:p>
        </p:txBody>
      </p:sp>
    </p:spTree>
    <p:extLst>
      <p:ext uri="{BB962C8B-B14F-4D97-AF65-F5344CB8AC3E}">
        <p14:creationId xmlns:p14="http://schemas.microsoft.com/office/powerpoint/2010/main" val="552860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Vector Semantics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Vectors semantics is the standard way to represent word meaning in NLP, helping us model many of the aspects of word meaning .</a:t>
            </a:r>
          </a:p>
          <a:p>
            <a:pPr algn="just">
              <a:lnSpc>
                <a:spcPct val="150000"/>
              </a:lnSpc>
            </a:pPr>
            <a:r>
              <a:rPr lang="en-US" sz="2400" dirty="0">
                <a:latin typeface="Times New Roman" panose="02020603050405020304" pitchFamily="18" charset="0"/>
                <a:cs typeface="Times New Roman" panose="02020603050405020304" pitchFamily="18" charset="0"/>
              </a:rPr>
              <a:t>For example, suppose you didn’t know the meaning of the word </a:t>
            </a:r>
            <a:r>
              <a:rPr lang="en-US" sz="2400" b="1" dirty="0" err="1">
                <a:latin typeface="Times New Roman" panose="02020603050405020304" pitchFamily="18" charset="0"/>
                <a:cs typeface="Times New Roman" panose="02020603050405020304" pitchFamily="18" charset="0"/>
              </a:rPr>
              <a:t>ongchoi</a:t>
            </a:r>
            <a:r>
              <a:rPr lang="en-US" sz="2400" dirty="0">
                <a:latin typeface="Times New Roman" panose="02020603050405020304" pitchFamily="18" charset="0"/>
                <a:cs typeface="Times New Roman" panose="02020603050405020304" pitchFamily="18" charset="0"/>
              </a:rPr>
              <a:t> (a recent borrowing from Cantonese) but you see it in the following contexts: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3</a:t>
            </a:fld>
            <a:endParaRPr lang="en-GB"/>
          </a:p>
        </p:txBody>
      </p:sp>
      <p:pic>
        <p:nvPicPr>
          <p:cNvPr id="6" name="Picture 5">
            <a:extLst>
              <a:ext uri="{FF2B5EF4-FFF2-40B4-BE49-F238E27FC236}">
                <a16:creationId xmlns:a16="http://schemas.microsoft.com/office/drawing/2014/main" id="{B4441575-7930-E281-82F0-F46C9C85FB69}"/>
              </a:ext>
            </a:extLst>
          </p:cNvPr>
          <p:cNvPicPr>
            <a:picLocks noChangeAspect="1"/>
          </p:cNvPicPr>
          <p:nvPr/>
        </p:nvPicPr>
        <p:blipFill>
          <a:blip r:embed="rId2"/>
          <a:stretch>
            <a:fillRect/>
          </a:stretch>
        </p:blipFill>
        <p:spPr>
          <a:xfrm>
            <a:off x="1121228" y="3504263"/>
            <a:ext cx="9750245" cy="2936105"/>
          </a:xfrm>
          <a:prstGeom prst="rect">
            <a:avLst/>
          </a:prstGeom>
        </p:spPr>
      </p:pic>
    </p:spTree>
    <p:extLst>
      <p:ext uri="{BB962C8B-B14F-4D97-AF65-F5344CB8AC3E}">
        <p14:creationId xmlns:p14="http://schemas.microsoft.com/office/powerpoint/2010/main" val="264753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Vector Semantics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308324"/>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fact that </a:t>
            </a:r>
            <a:r>
              <a:rPr lang="en-US" sz="2400" b="1" dirty="0" err="1">
                <a:latin typeface="Times New Roman" panose="02020603050405020304" pitchFamily="18" charset="0"/>
                <a:cs typeface="Times New Roman" panose="02020603050405020304" pitchFamily="18" charset="0"/>
              </a:rPr>
              <a:t>ongchoi</a:t>
            </a:r>
            <a:r>
              <a:rPr lang="en-US" sz="2400" dirty="0">
                <a:latin typeface="Times New Roman" panose="02020603050405020304" pitchFamily="18" charset="0"/>
                <a:cs typeface="Times New Roman" panose="02020603050405020304" pitchFamily="18" charset="0"/>
              </a:rPr>
              <a:t> occurs with words like </a:t>
            </a:r>
            <a:r>
              <a:rPr lang="en-US" sz="2400" b="1" dirty="0">
                <a:latin typeface="Times New Roman" panose="02020603050405020304" pitchFamily="18" charset="0"/>
                <a:cs typeface="Times New Roman" panose="02020603050405020304" pitchFamily="18" charset="0"/>
              </a:rPr>
              <a:t>rice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garlic</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delicious</a:t>
            </a:r>
            <a:r>
              <a:rPr lang="en-US" sz="2400" dirty="0">
                <a:latin typeface="Times New Roman" panose="02020603050405020304" pitchFamily="18" charset="0"/>
                <a:cs typeface="Times New Roman" panose="02020603050405020304" pitchFamily="18" charset="0"/>
              </a:rPr>
              <a:t> and</a:t>
            </a:r>
          </a:p>
          <a:p>
            <a:pPr algn="just">
              <a:lnSpc>
                <a:spcPct val="150000"/>
              </a:lnSpc>
            </a:pPr>
            <a:r>
              <a:rPr lang="en-US" sz="2400" b="1" dirty="0">
                <a:latin typeface="Times New Roman" panose="02020603050405020304" pitchFamily="18" charset="0"/>
                <a:cs typeface="Times New Roman" panose="02020603050405020304" pitchFamily="18" charset="0"/>
              </a:rPr>
              <a:t>salty</a:t>
            </a:r>
            <a:r>
              <a:rPr lang="en-US" sz="2400" dirty="0">
                <a:latin typeface="Times New Roman" panose="02020603050405020304" pitchFamily="18" charset="0"/>
                <a:cs typeface="Times New Roman" panose="02020603050405020304" pitchFamily="18" charset="0"/>
              </a:rPr>
              <a:t>, as do words like </a:t>
            </a:r>
            <a:r>
              <a:rPr lang="en-US" sz="2400" b="1" dirty="0">
                <a:latin typeface="Times New Roman" panose="02020603050405020304" pitchFamily="18" charset="0"/>
                <a:cs typeface="Times New Roman" panose="02020603050405020304" pitchFamily="18" charset="0"/>
              </a:rPr>
              <a:t>spinach</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chard</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collard</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greens</a:t>
            </a:r>
            <a:r>
              <a:rPr lang="en-US" sz="2400" dirty="0">
                <a:latin typeface="Times New Roman" panose="02020603050405020304" pitchFamily="18" charset="0"/>
                <a:cs typeface="Times New Roman" panose="02020603050405020304" pitchFamily="18" charset="0"/>
              </a:rPr>
              <a:t> might suggest that </a:t>
            </a:r>
            <a:r>
              <a:rPr lang="en-US" sz="2400" b="1" dirty="0" err="1">
                <a:latin typeface="Times New Roman" panose="02020603050405020304" pitchFamily="18" charset="0"/>
                <a:cs typeface="Times New Roman" panose="02020603050405020304" pitchFamily="18" charset="0"/>
              </a:rPr>
              <a:t>ongchoi</a:t>
            </a:r>
            <a:r>
              <a:rPr lang="en-US" sz="2400" dirty="0">
                <a:latin typeface="Times New Roman" panose="02020603050405020304" pitchFamily="18" charset="0"/>
                <a:cs typeface="Times New Roman" panose="02020603050405020304" pitchFamily="18" charset="0"/>
              </a:rPr>
              <a:t> is a leafy green similar to these other leafy greens. We can do the same thing computationally by just counting words in the context of </a:t>
            </a:r>
            <a:r>
              <a:rPr lang="en-US" sz="2400" b="1" dirty="0" err="1">
                <a:latin typeface="Times New Roman" panose="02020603050405020304" pitchFamily="18" charset="0"/>
                <a:cs typeface="Times New Roman" panose="02020603050405020304" pitchFamily="18" charset="0"/>
              </a:rPr>
              <a:t>ongchoi</a:t>
            </a:r>
            <a:endParaRPr lang="en-US" sz="24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4</a:t>
            </a:fld>
            <a:endParaRPr lang="en-GB"/>
          </a:p>
        </p:txBody>
      </p:sp>
      <p:pic>
        <p:nvPicPr>
          <p:cNvPr id="6" name="Picture 5">
            <a:extLst>
              <a:ext uri="{FF2B5EF4-FFF2-40B4-BE49-F238E27FC236}">
                <a16:creationId xmlns:a16="http://schemas.microsoft.com/office/drawing/2014/main" id="{B4441575-7930-E281-82F0-F46C9C85FB69}"/>
              </a:ext>
            </a:extLst>
          </p:cNvPr>
          <p:cNvPicPr>
            <a:picLocks noChangeAspect="1"/>
          </p:cNvPicPr>
          <p:nvPr/>
        </p:nvPicPr>
        <p:blipFill>
          <a:blip r:embed="rId2"/>
          <a:stretch>
            <a:fillRect/>
          </a:stretch>
        </p:blipFill>
        <p:spPr>
          <a:xfrm>
            <a:off x="1121228" y="3504263"/>
            <a:ext cx="9750245" cy="2936105"/>
          </a:xfrm>
          <a:prstGeom prst="rect">
            <a:avLst/>
          </a:prstGeom>
        </p:spPr>
      </p:pic>
    </p:spTree>
    <p:extLst>
      <p:ext uri="{BB962C8B-B14F-4D97-AF65-F5344CB8AC3E}">
        <p14:creationId xmlns:p14="http://schemas.microsoft.com/office/powerpoint/2010/main" val="77445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Vector Semantics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idea of vector semantics is to represent a word as a point in a multidimensional semantic space that is derived from the distributions of word neighbors. Vectors for representing words are called embeddings (more strictly applied only to dense vectors like word2vec). </a:t>
            </a:r>
            <a:endParaRPr lang="en-US" sz="24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5</a:t>
            </a:fld>
            <a:endParaRPr lang="en-GB"/>
          </a:p>
        </p:txBody>
      </p:sp>
      <p:pic>
        <p:nvPicPr>
          <p:cNvPr id="7" name="Picture 6">
            <a:extLst>
              <a:ext uri="{FF2B5EF4-FFF2-40B4-BE49-F238E27FC236}">
                <a16:creationId xmlns:a16="http://schemas.microsoft.com/office/drawing/2014/main" id="{3F96601C-3ECA-B61C-81AA-B49176777AAE}"/>
              </a:ext>
            </a:extLst>
          </p:cNvPr>
          <p:cNvPicPr>
            <a:picLocks noChangeAspect="1"/>
          </p:cNvPicPr>
          <p:nvPr/>
        </p:nvPicPr>
        <p:blipFill>
          <a:blip r:embed="rId2"/>
          <a:stretch>
            <a:fillRect/>
          </a:stretch>
        </p:blipFill>
        <p:spPr>
          <a:xfrm>
            <a:off x="5113538" y="3360833"/>
            <a:ext cx="6658253" cy="3191975"/>
          </a:xfrm>
          <a:prstGeom prst="rect">
            <a:avLst/>
          </a:prstGeom>
        </p:spPr>
      </p:pic>
      <p:sp>
        <p:nvSpPr>
          <p:cNvPr id="8" name="TextBox 7">
            <a:extLst>
              <a:ext uri="{FF2B5EF4-FFF2-40B4-BE49-F238E27FC236}">
                <a16:creationId xmlns:a16="http://schemas.microsoft.com/office/drawing/2014/main" id="{D65221B7-DF4E-9408-BE35-69A0C0130B2C}"/>
              </a:ext>
            </a:extLst>
          </p:cNvPr>
          <p:cNvSpPr txBox="1"/>
          <p:nvPr/>
        </p:nvSpPr>
        <p:spPr>
          <a:xfrm>
            <a:off x="1121228" y="3407318"/>
            <a:ext cx="3628009" cy="3268652"/>
          </a:xfrm>
          <a:prstGeom prst="rect">
            <a:avLst/>
          </a:prstGeom>
          <a:solidFill>
            <a:schemeClr val="accent2">
              <a:lumMod val="60000"/>
              <a:lumOff val="40000"/>
            </a:schemeClr>
          </a:solid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A two-dimensional projection of embeddings for some words and phrases, showing that words with similar meanings are nearby in space. The original 60-dimensional embeddings were trained for sentiment analysis. </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327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Vector Semantics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452431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fine-grained model of word similarity of vector semantics offers enormous</a:t>
            </a:r>
          </a:p>
          <a:p>
            <a:pPr algn="just">
              <a:lnSpc>
                <a:spcPct val="150000"/>
              </a:lnSpc>
            </a:pPr>
            <a:r>
              <a:rPr lang="en-US" sz="2400" dirty="0">
                <a:latin typeface="Times New Roman" panose="02020603050405020304" pitchFamily="18" charset="0"/>
                <a:cs typeface="Times New Roman" panose="02020603050405020304" pitchFamily="18" charset="0"/>
              </a:rPr>
              <a:t>power to NLP applications. </a:t>
            </a:r>
          </a:p>
          <a:p>
            <a:pPr algn="just">
              <a:lnSpc>
                <a:spcPct val="150000"/>
              </a:lnSpc>
            </a:pPr>
            <a:r>
              <a:rPr lang="en-US" sz="2400" dirty="0">
                <a:solidFill>
                  <a:srgbClr val="FF0000"/>
                </a:solidFill>
                <a:latin typeface="Times New Roman" panose="02020603050405020304" pitchFamily="18" charset="0"/>
                <a:cs typeface="Times New Roman" panose="02020603050405020304" pitchFamily="18" charset="0"/>
              </a:rPr>
              <a:t>NLP applications like the sentiment classifiers depend on the same words appearing in the training and test sets. But by representing words as embeddings, classifiers can assign sentiment as long as it sees some words with similar meanings. </a:t>
            </a:r>
          </a:p>
          <a:p>
            <a:pPr algn="just">
              <a:lnSpc>
                <a:spcPct val="150000"/>
              </a:lnSpc>
            </a:pPr>
            <a:r>
              <a:rPr lang="en-US" sz="2400" dirty="0">
                <a:latin typeface="Times New Roman" panose="02020603050405020304" pitchFamily="18" charset="0"/>
                <a:cs typeface="Times New Roman" panose="02020603050405020304" pitchFamily="18" charset="0"/>
              </a:rPr>
              <a:t>And as we’ll see, vector semantic models can be learned automatically from text without supervision.</a:t>
            </a:r>
            <a:endParaRPr lang="en-US" sz="24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6</a:t>
            </a:fld>
            <a:endParaRPr lang="en-GB"/>
          </a:p>
        </p:txBody>
      </p:sp>
    </p:spTree>
    <p:extLst>
      <p:ext uri="{BB962C8B-B14F-4D97-AF65-F5344CB8AC3E}">
        <p14:creationId xmlns:p14="http://schemas.microsoft.com/office/powerpoint/2010/main" val="3868978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Vector Semantics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We’ll introduce the two most commonly used models. In the </a:t>
            </a:r>
            <a:r>
              <a:rPr lang="en-US" sz="2400" b="1" dirty="0" err="1">
                <a:latin typeface="Times New Roman" panose="02020603050405020304" pitchFamily="18" charset="0"/>
                <a:cs typeface="Times New Roman" panose="02020603050405020304" pitchFamily="18" charset="0"/>
              </a:rPr>
              <a:t>tf-idf</a:t>
            </a:r>
            <a:r>
              <a:rPr lang="en-US" sz="2400" dirty="0">
                <a:latin typeface="Times New Roman" panose="02020603050405020304" pitchFamily="18" charset="0"/>
                <a:cs typeface="Times New Roman" panose="02020603050405020304" pitchFamily="18" charset="0"/>
              </a:rPr>
              <a:t> model, an important baseline, the meaning of a word is defined by a simple function of the counts of nearby words. We will see that this method results in very </a:t>
            </a:r>
            <a:r>
              <a:rPr lang="en-US" sz="2400" b="1" dirty="0">
                <a:latin typeface="Times New Roman" panose="02020603050405020304" pitchFamily="18" charset="0"/>
                <a:cs typeface="Times New Roman" panose="02020603050405020304" pitchFamily="18" charset="0"/>
              </a:rPr>
              <a:t>long vectors that are sparse</a:t>
            </a:r>
            <a:r>
              <a:rPr lang="en-US" sz="2400" dirty="0">
                <a:latin typeface="Times New Roman" panose="02020603050405020304" pitchFamily="18" charset="0"/>
                <a:cs typeface="Times New Roman" panose="02020603050405020304" pitchFamily="18" charset="0"/>
              </a:rPr>
              <a:t>, i.e. mostly zeros (since most words simply never occur in the context of others). </a:t>
            </a:r>
          </a:p>
          <a:p>
            <a:pPr algn="just">
              <a:lnSpc>
                <a:spcPct val="150000"/>
              </a:lnSpc>
            </a:pPr>
            <a:r>
              <a:rPr lang="en-US" sz="2400" dirty="0">
                <a:latin typeface="Times New Roman" panose="02020603050405020304" pitchFamily="18" charset="0"/>
                <a:cs typeface="Times New Roman" panose="02020603050405020304" pitchFamily="18" charset="0"/>
              </a:rPr>
              <a:t>We’ll introduce the </a:t>
            </a:r>
            <a:r>
              <a:rPr lang="en-US" sz="2400" b="1" dirty="0">
                <a:latin typeface="Times New Roman" panose="02020603050405020304" pitchFamily="18" charset="0"/>
                <a:cs typeface="Times New Roman" panose="02020603050405020304" pitchFamily="18" charset="0"/>
              </a:rPr>
              <a:t>word2vec</a:t>
            </a:r>
            <a:r>
              <a:rPr lang="en-US" sz="2400" dirty="0">
                <a:latin typeface="Times New Roman" panose="02020603050405020304" pitchFamily="18" charset="0"/>
                <a:cs typeface="Times New Roman" panose="02020603050405020304" pitchFamily="18" charset="0"/>
              </a:rPr>
              <a:t> model family for constructing short, </a:t>
            </a:r>
            <a:r>
              <a:rPr lang="en-US" sz="2400" b="1" dirty="0">
                <a:latin typeface="Times New Roman" panose="02020603050405020304" pitchFamily="18" charset="0"/>
                <a:cs typeface="Times New Roman" panose="02020603050405020304" pitchFamily="18" charset="0"/>
              </a:rPr>
              <a:t>dense vectors</a:t>
            </a:r>
            <a:r>
              <a:rPr lang="en-US" sz="2400" dirty="0">
                <a:latin typeface="Times New Roman" panose="02020603050405020304" pitchFamily="18" charset="0"/>
                <a:cs typeface="Times New Roman" panose="02020603050405020304" pitchFamily="18" charset="0"/>
              </a:rPr>
              <a:t> that have useful semantic properties. We’ll also introduce the cosine, the standard way to use embeddings to compute semantic similarity, between two words, two sentences, or two documents, an important tool in practical applications like question answering, and summarization.</a:t>
            </a:r>
            <a:endParaRPr lang="en-US" sz="24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7</a:t>
            </a:fld>
            <a:endParaRPr lang="en-GB"/>
          </a:p>
        </p:txBody>
      </p:sp>
    </p:spTree>
    <p:extLst>
      <p:ext uri="{BB962C8B-B14F-4D97-AF65-F5344CB8AC3E}">
        <p14:creationId xmlns:p14="http://schemas.microsoft.com/office/powerpoint/2010/main" val="4039361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Words and Vectors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349956"/>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Vector or distributional models of meaning are generally based on a </a:t>
            </a:r>
            <a:r>
              <a:rPr lang="en-US" sz="2400" b="1" dirty="0">
                <a:latin typeface="Times New Roman" panose="02020603050405020304" pitchFamily="18" charset="0"/>
                <a:cs typeface="Times New Roman" panose="02020603050405020304" pitchFamily="18" charset="0"/>
              </a:rPr>
              <a:t>co-occurrence matrix</a:t>
            </a:r>
            <a:r>
              <a:rPr lang="en-US" sz="2400" dirty="0">
                <a:latin typeface="Times New Roman" panose="02020603050405020304" pitchFamily="18" charset="0"/>
                <a:cs typeface="Times New Roman" panose="02020603050405020304" pitchFamily="18" charset="0"/>
              </a:rPr>
              <a:t>, a way of representing how often words co-occur. We’ll look at two popular matrices: the </a:t>
            </a:r>
            <a:r>
              <a:rPr lang="en-US" sz="2400" b="1" dirty="0">
                <a:latin typeface="Times New Roman" panose="02020603050405020304" pitchFamily="18" charset="0"/>
                <a:cs typeface="Times New Roman" panose="02020603050405020304" pitchFamily="18" charset="0"/>
              </a:rPr>
              <a:t>term-document</a:t>
            </a:r>
            <a:r>
              <a:rPr lang="en-US" sz="2400" dirty="0">
                <a:latin typeface="Times New Roman" panose="02020603050405020304" pitchFamily="18" charset="0"/>
                <a:cs typeface="Times New Roman" panose="02020603050405020304" pitchFamily="18" charset="0"/>
              </a:rPr>
              <a:t> matrix and the </a:t>
            </a:r>
            <a:r>
              <a:rPr lang="en-US" sz="2400" b="1" dirty="0">
                <a:latin typeface="Times New Roman" panose="02020603050405020304" pitchFamily="18" charset="0"/>
                <a:cs typeface="Times New Roman" panose="02020603050405020304" pitchFamily="18" charset="0"/>
              </a:rPr>
              <a:t>term-term</a:t>
            </a:r>
            <a:r>
              <a:rPr lang="en-US" sz="2400" dirty="0">
                <a:latin typeface="Times New Roman" panose="02020603050405020304" pitchFamily="18" charset="0"/>
                <a:cs typeface="Times New Roman" panose="02020603050405020304" pitchFamily="18" charset="0"/>
              </a:rPr>
              <a:t> matrix.</a:t>
            </a:r>
          </a:p>
          <a:p>
            <a:pPr algn="just">
              <a:lnSpc>
                <a:spcPct val="150000"/>
              </a:lnSpc>
            </a:pPr>
            <a:r>
              <a:rPr lang="en-US" sz="2400" dirty="0">
                <a:latin typeface="Times New Roman" panose="02020603050405020304" pitchFamily="18" charset="0"/>
                <a:cs typeface="Times New Roman" panose="02020603050405020304" pitchFamily="18" charset="0"/>
              </a:rPr>
              <a:t>In a term-document matrix, each row represents a word in the vocabulary and each column represents a document from some collection of documents.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8</a:t>
            </a:fld>
            <a:endParaRPr lang="en-GB"/>
          </a:p>
        </p:txBody>
      </p:sp>
      <p:pic>
        <p:nvPicPr>
          <p:cNvPr id="6" name="Picture 5">
            <a:extLst>
              <a:ext uri="{FF2B5EF4-FFF2-40B4-BE49-F238E27FC236}">
                <a16:creationId xmlns:a16="http://schemas.microsoft.com/office/drawing/2014/main" id="{7892B6E5-1D1C-4FBE-37CC-6186018C26B6}"/>
              </a:ext>
            </a:extLst>
          </p:cNvPr>
          <p:cNvPicPr>
            <a:picLocks noChangeAspect="1"/>
          </p:cNvPicPr>
          <p:nvPr/>
        </p:nvPicPr>
        <p:blipFill>
          <a:blip r:embed="rId2"/>
          <a:stretch>
            <a:fillRect/>
          </a:stretch>
        </p:blipFill>
        <p:spPr>
          <a:xfrm>
            <a:off x="1757778" y="4445664"/>
            <a:ext cx="9031457" cy="2068744"/>
          </a:xfrm>
          <a:prstGeom prst="rect">
            <a:avLst/>
          </a:prstGeom>
        </p:spPr>
      </p:pic>
    </p:spTree>
    <p:extLst>
      <p:ext uri="{BB962C8B-B14F-4D97-AF65-F5344CB8AC3E}">
        <p14:creationId xmlns:p14="http://schemas.microsoft.com/office/powerpoint/2010/main" val="1070074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Words and Vectors</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13396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We can think of the vector for a document as a point in </a:t>
            </a:r>
            <a:r>
              <a:rPr lang="en-US" sz="2400" b="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-dimensional space;</a:t>
            </a:r>
          </a:p>
          <a:p>
            <a:pPr algn="just">
              <a:lnSpc>
                <a:spcPct val="150000"/>
              </a:lnSpc>
            </a:pPr>
            <a:r>
              <a:rPr lang="en-US" sz="2400" dirty="0">
                <a:latin typeface="Times New Roman" panose="02020603050405020304" pitchFamily="18" charset="0"/>
                <a:cs typeface="Times New Roman" panose="02020603050405020304" pitchFamily="18" charset="0"/>
              </a:rPr>
              <a:t>Thus, the documents in Fig. 6.3 are points in 4-dimensional space.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9</a:t>
            </a:fld>
            <a:endParaRPr lang="en-GB"/>
          </a:p>
        </p:txBody>
      </p:sp>
      <p:pic>
        <p:nvPicPr>
          <p:cNvPr id="7" name="Picture 6">
            <a:extLst>
              <a:ext uri="{FF2B5EF4-FFF2-40B4-BE49-F238E27FC236}">
                <a16:creationId xmlns:a16="http://schemas.microsoft.com/office/drawing/2014/main" id="{D39F2663-5ECC-8D8D-295B-7D5CD496C701}"/>
              </a:ext>
            </a:extLst>
          </p:cNvPr>
          <p:cNvPicPr>
            <a:picLocks noChangeAspect="1"/>
          </p:cNvPicPr>
          <p:nvPr/>
        </p:nvPicPr>
        <p:blipFill>
          <a:blip r:embed="rId2"/>
          <a:stretch>
            <a:fillRect/>
          </a:stretch>
        </p:blipFill>
        <p:spPr>
          <a:xfrm>
            <a:off x="1595713" y="2356083"/>
            <a:ext cx="9000570" cy="2176810"/>
          </a:xfrm>
          <a:prstGeom prst="rect">
            <a:avLst/>
          </a:prstGeom>
        </p:spPr>
      </p:pic>
      <p:sp>
        <p:nvSpPr>
          <p:cNvPr id="8" name="TextBox 7">
            <a:extLst>
              <a:ext uri="{FF2B5EF4-FFF2-40B4-BE49-F238E27FC236}">
                <a16:creationId xmlns:a16="http://schemas.microsoft.com/office/drawing/2014/main" id="{7154BED1-B67D-9650-3AC1-3A322B087E84}"/>
              </a:ext>
            </a:extLst>
          </p:cNvPr>
          <p:cNvSpPr txBox="1"/>
          <p:nvPr/>
        </p:nvSpPr>
        <p:spPr>
          <a:xfrm>
            <a:off x="1121228" y="4415264"/>
            <a:ext cx="9949543"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real term-document matrix, of course, wouldn’t just have 4 rows and columns. More generally, the term-document matrix has </a:t>
            </a:r>
            <a:r>
              <a:rPr lang="en-US" sz="2400" b="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 rows (one for each word type in the vocabulary) and D columns (one for each document in the collection.</a:t>
            </a:r>
          </a:p>
        </p:txBody>
      </p:sp>
    </p:spTree>
    <p:extLst>
      <p:ext uri="{BB962C8B-B14F-4D97-AF65-F5344CB8AC3E}">
        <p14:creationId xmlns:p14="http://schemas.microsoft.com/office/powerpoint/2010/main" val="973733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Word as vector</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We’ve seen that documents can be represented as vectors in a vector space. But</a:t>
            </a:r>
          </a:p>
          <a:p>
            <a:pPr algn="just">
              <a:lnSpc>
                <a:spcPct val="150000"/>
              </a:lnSpc>
            </a:pPr>
            <a:r>
              <a:rPr lang="en-US" sz="2400" dirty="0">
                <a:latin typeface="Times New Roman" panose="02020603050405020304" pitchFamily="18" charset="0"/>
                <a:cs typeface="Times New Roman" panose="02020603050405020304" pitchFamily="18" charset="0"/>
              </a:rPr>
              <a:t>vector semantics can also be used to represent the meaning of words. We do this row vector by associating each word with a word vector— a row vector rather than a column vector, hence with different dimensions, as shown in Fig</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10</a:t>
            </a:fld>
            <a:endParaRPr lang="en-GB"/>
          </a:p>
        </p:txBody>
      </p:sp>
      <p:pic>
        <p:nvPicPr>
          <p:cNvPr id="6" name="Picture 5">
            <a:extLst>
              <a:ext uri="{FF2B5EF4-FFF2-40B4-BE49-F238E27FC236}">
                <a16:creationId xmlns:a16="http://schemas.microsoft.com/office/drawing/2014/main" id="{7A6CF67D-2B27-9327-CF77-931C11A96B1A}"/>
              </a:ext>
            </a:extLst>
          </p:cNvPr>
          <p:cNvPicPr>
            <a:picLocks noChangeAspect="1"/>
          </p:cNvPicPr>
          <p:nvPr/>
        </p:nvPicPr>
        <p:blipFill>
          <a:blip r:embed="rId2"/>
          <a:stretch>
            <a:fillRect/>
          </a:stretch>
        </p:blipFill>
        <p:spPr>
          <a:xfrm>
            <a:off x="1346816" y="3532206"/>
            <a:ext cx="9498368" cy="2268874"/>
          </a:xfrm>
          <a:prstGeom prst="rect">
            <a:avLst/>
          </a:prstGeom>
        </p:spPr>
      </p:pic>
    </p:spTree>
    <p:extLst>
      <p:ext uri="{BB962C8B-B14F-4D97-AF65-F5344CB8AC3E}">
        <p14:creationId xmlns:p14="http://schemas.microsoft.com/office/powerpoint/2010/main" val="208689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Word as vector</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An alternative to using the term-document matrix to represent words as vectors of document counts, is to use the </a:t>
            </a:r>
            <a:r>
              <a:rPr lang="en-US" sz="2400" b="1" dirty="0">
                <a:latin typeface="Times New Roman" panose="02020603050405020304" pitchFamily="18" charset="0"/>
                <a:cs typeface="Times New Roman" panose="02020603050405020304" pitchFamily="18" charset="0"/>
              </a:rPr>
              <a:t>term-term matrix</a:t>
            </a:r>
            <a:r>
              <a:rPr lang="en-US" sz="2400" dirty="0">
                <a:latin typeface="Times New Roman" panose="02020603050405020304" pitchFamily="18" charset="0"/>
                <a:cs typeface="Times New Roman" panose="02020603050405020304" pitchFamily="18" charset="0"/>
              </a:rPr>
              <a:t>, also called the word-word matrix or the </a:t>
            </a:r>
            <a:r>
              <a:rPr lang="en-US" sz="2400" b="1" dirty="0">
                <a:latin typeface="Times New Roman" panose="02020603050405020304" pitchFamily="18" charset="0"/>
                <a:cs typeface="Times New Roman" panose="02020603050405020304" pitchFamily="18" charset="0"/>
              </a:rPr>
              <a:t>term-context matrix</a:t>
            </a:r>
            <a:r>
              <a:rPr lang="en-US" sz="2400" dirty="0">
                <a:latin typeface="Times New Roman" panose="02020603050405020304" pitchFamily="18" charset="0"/>
                <a:cs typeface="Times New Roman" panose="02020603050405020304" pitchFamily="18" charset="0"/>
              </a:rPr>
              <a:t>, in which the columns are labeled by words rather than documents. This matrix is thus of dimensionality </a:t>
            </a:r>
            <a:r>
              <a:rPr lang="en-US" sz="2400" b="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|V| </a:t>
            </a:r>
          </a:p>
          <a:p>
            <a:pPr algn="just">
              <a:lnSpc>
                <a:spcPct val="150000"/>
              </a:lnSpc>
            </a:pPr>
            <a:r>
              <a:rPr lang="en-US" sz="2400" dirty="0">
                <a:latin typeface="Times New Roman" panose="02020603050405020304" pitchFamily="18" charset="0"/>
                <a:cs typeface="Times New Roman" panose="02020603050405020304" pitchFamily="18" charset="0"/>
              </a:rPr>
              <a:t>The context could be the document, in which case the cell represents the number of times the two words appear in the same document. It is most common, however, to use smaller contexts, generally a </a:t>
            </a:r>
            <a:r>
              <a:rPr lang="en-US" sz="2400" b="1" dirty="0">
                <a:latin typeface="Times New Roman" panose="02020603050405020304" pitchFamily="18" charset="0"/>
                <a:cs typeface="Times New Roman" panose="02020603050405020304" pitchFamily="18" charset="0"/>
              </a:rPr>
              <a:t>window</a:t>
            </a:r>
            <a:r>
              <a:rPr lang="en-US" sz="2400" dirty="0">
                <a:latin typeface="Times New Roman" panose="02020603050405020304" pitchFamily="18" charset="0"/>
                <a:cs typeface="Times New Roman" panose="02020603050405020304" pitchFamily="18" charset="0"/>
              </a:rPr>
              <a:t> around the word, for example of 4 words to the left and 4 words to the right, in which case the cell represents the number of times (in some training corpus) the column word occurs in such a ±4 word window around the row word.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11</a:t>
            </a:fld>
            <a:endParaRPr lang="en-GB" dirty="0"/>
          </a:p>
        </p:txBody>
      </p:sp>
    </p:spTree>
    <p:extLst>
      <p:ext uri="{BB962C8B-B14F-4D97-AF65-F5344CB8AC3E}">
        <p14:creationId xmlns:p14="http://schemas.microsoft.com/office/powerpoint/2010/main" val="3822424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Word as vector</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349956"/>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If we take every occurrence of each word (say strawberry) and count the context words around it, we get a word-word co-occurrence matrix.</a:t>
            </a:r>
          </a:p>
          <a:p>
            <a:pPr algn="just">
              <a:lnSpc>
                <a:spcPct val="150000"/>
              </a:lnSpc>
            </a:pPr>
            <a:r>
              <a:rPr lang="en-US" sz="2400" dirty="0">
                <a:latin typeface="Times New Roman" panose="02020603050405020304" pitchFamily="18" charset="0"/>
                <a:cs typeface="Times New Roman" panose="02020603050405020304" pitchFamily="18" charset="0"/>
              </a:rPr>
              <a:t>Note in Fig. 6.6 that the two words cherry and strawberry are more similar to each other (both pie and sugar tend to occur in their window) than they are to other words like digital; conversely, digital and information are more similar to each other than, say, to strawberry.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12</a:t>
            </a:fld>
            <a:endParaRPr lang="en-GB" dirty="0"/>
          </a:p>
        </p:txBody>
      </p:sp>
      <p:pic>
        <p:nvPicPr>
          <p:cNvPr id="6" name="Picture 5">
            <a:extLst>
              <a:ext uri="{FF2B5EF4-FFF2-40B4-BE49-F238E27FC236}">
                <a16:creationId xmlns:a16="http://schemas.microsoft.com/office/drawing/2014/main" id="{0237EBDB-16CE-4DEF-E9CC-791336BCFC72}"/>
              </a:ext>
            </a:extLst>
          </p:cNvPr>
          <p:cNvPicPr>
            <a:picLocks noChangeAspect="1"/>
          </p:cNvPicPr>
          <p:nvPr/>
        </p:nvPicPr>
        <p:blipFill>
          <a:blip r:embed="rId2"/>
          <a:stretch>
            <a:fillRect/>
          </a:stretch>
        </p:blipFill>
        <p:spPr>
          <a:xfrm>
            <a:off x="2026646" y="4408142"/>
            <a:ext cx="8429207" cy="2313333"/>
          </a:xfrm>
          <a:prstGeom prst="rect">
            <a:avLst/>
          </a:prstGeom>
        </p:spPr>
      </p:pic>
    </p:spTree>
    <p:extLst>
      <p:ext uri="{BB962C8B-B14F-4D97-AF65-F5344CB8AC3E}">
        <p14:creationId xmlns:p14="http://schemas.microsoft.com/office/powerpoint/2010/main" val="4062620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Word as vector</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13396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spatial visualization of word vectors for digital and information, showing just</a:t>
            </a:r>
          </a:p>
          <a:p>
            <a:pPr algn="just">
              <a:lnSpc>
                <a:spcPct val="150000"/>
              </a:lnSpc>
            </a:pPr>
            <a:r>
              <a:rPr lang="en-US" sz="2400" dirty="0">
                <a:latin typeface="Times New Roman" panose="02020603050405020304" pitchFamily="18" charset="0"/>
                <a:cs typeface="Times New Roman" panose="02020603050405020304" pitchFamily="18" charset="0"/>
              </a:rPr>
              <a:t>two of the dimensions, corresponding to the words data and computer.</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13</a:t>
            </a:fld>
            <a:endParaRPr lang="en-GB" dirty="0"/>
          </a:p>
        </p:txBody>
      </p:sp>
      <p:pic>
        <p:nvPicPr>
          <p:cNvPr id="7" name="Picture 6">
            <a:extLst>
              <a:ext uri="{FF2B5EF4-FFF2-40B4-BE49-F238E27FC236}">
                <a16:creationId xmlns:a16="http://schemas.microsoft.com/office/drawing/2014/main" id="{B0ACA99C-D0BE-D43B-3053-6B6B82B55F98}"/>
              </a:ext>
            </a:extLst>
          </p:cNvPr>
          <p:cNvPicPr>
            <a:picLocks noChangeAspect="1"/>
          </p:cNvPicPr>
          <p:nvPr/>
        </p:nvPicPr>
        <p:blipFill>
          <a:blip r:embed="rId2"/>
          <a:stretch>
            <a:fillRect/>
          </a:stretch>
        </p:blipFill>
        <p:spPr>
          <a:xfrm>
            <a:off x="3036626" y="2746375"/>
            <a:ext cx="5124450" cy="3609975"/>
          </a:xfrm>
          <a:prstGeom prst="rect">
            <a:avLst/>
          </a:prstGeom>
        </p:spPr>
      </p:pic>
    </p:spTree>
    <p:extLst>
      <p:ext uri="{BB962C8B-B14F-4D97-AF65-F5344CB8AC3E}">
        <p14:creationId xmlns:p14="http://schemas.microsoft.com/office/powerpoint/2010/main" val="333079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Cosine for measuring similarity</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349956"/>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To measure similarity between two target words </a:t>
            </a:r>
            <a:r>
              <a:rPr lang="en-US" sz="2400" b="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w</a:t>
            </a:r>
            <a:r>
              <a:rPr lang="en-US" sz="2400" dirty="0">
                <a:latin typeface="Times New Roman" panose="02020603050405020304" pitchFamily="18" charset="0"/>
                <a:cs typeface="Times New Roman" panose="02020603050405020304" pitchFamily="18" charset="0"/>
              </a:rPr>
              <a:t>, we need a metric that</a:t>
            </a:r>
          </a:p>
          <a:p>
            <a:pPr algn="just">
              <a:lnSpc>
                <a:spcPct val="150000"/>
              </a:lnSpc>
            </a:pPr>
            <a:r>
              <a:rPr lang="en-US" sz="2400" dirty="0">
                <a:latin typeface="Times New Roman" panose="02020603050405020304" pitchFamily="18" charset="0"/>
                <a:cs typeface="Times New Roman" panose="02020603050405020304" pitchFamily="18" charset="0"/>
              </a:rPr>
              <a:t>takes two vectors (of the same dimensionality, either both with words as dimensions, hence of length </a:t>
            </a:r>
            <a:r>
              <a:rPr lang="en-US" sz="2400" b="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 or both with documents as dimensions as documents, of length </a:t>
            </a:r>
            <a:r>
              <a:rPr lang="en-US" sz="2400" b="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and gives a measure of their similarity. </a:t>
            </a:r>
          </a:p>
          <a:p>
            <a:pPr algn="just">
              <a:lnSpc>
                <a:spcPct val="150000"/>
              </a:lnSpc>
            </a:pPr>
            <a:r>
              <a:rPr lang="en-US" sz="2400" dirty="0">
                <a:latin typeface="Times New Roman" panose="02020603050405020304" pitchFamily="18" charset="0"/>
                <a:cs typeface="Times New Roman" panose="02020603050405020304" pitchFamily="18" charset="0"/>
              </a:rPr>
              <a:t>By far the most common similarity metric is the </a:t>
            </a:r>
            <a:r>
              <a:rPr lang="en-US" sz="2400" b="1" dirty="0">
                <a:latin typeface="Times New Roman" panose="02020603050405020304" pitchFamily="18" charset="0"/>
                <a:cs typeface="Times New Roman" panose="02020603050405020304" pitchFamily="18" charset="0"/>
              </a:rPr>
              <a:t>cosine</a:t>
            </a:r>
            <a:r>
              <a:rPr lang="en-US" sz="2400" dirty="0">
                <a:latin typeface="Times New Roman" panose="02020603050405020304" pitchFamily="18" charset="0"/>
                <a:cs typeface="Times New Roman" panose="02020603050405020304" pitchFamily="18" charset="0"/>
              </a:rPr>
              <a:t> of the angle between the vectors.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14</a:t>
            </a:fld>
            <a:endParaRPr lang="en-GB" dirty="0"/>
          </a:p>
        </p:txBody>
      </p:sp>
      <p:pic>
        <p:nvPicPr>
          <p:cNvPr id="6" name="Picture 5">
            <a:extLst>
              <a:ext uri="{FF2B5EF4-FFF2-40B4-BE49-F238E27FC236}">
                <a16:creationId xmlns:a16="http://schemas.microsoft.com/office/drawing/2014/main" id="{8F3A0A25-EC77-4022-977D-4B88922BC8AB}"/>
              </a:ext>
            </a:extLst>
          </p:cNvPr>
          <p:cNvPicPr>
            <a:picLocks noChangeAspect="1"/>
          </p:cNvPicPr>
          <p:nvPr/>
        </p:nvPicPr>
        <p:blipFill>
          <a:blip r:embed="rId2"/>
          <a:stretch>
            <a:fillRect/>
          </a:stretch>
        </p:blipFill>
        <p:spPr>
          <a:xfrm>
            <a:off x="3968318" y="4101114"/>
            <a:ext cx="4876800" cy="1905000"/>
          </a:xfrm>
          <a:prstGeom prst="rect">
            <a:avLst/>
          </a:prstGeom>
        </p:spPr>
      </p:pic>
    </p:spTree>
    <p:extLst>
      <p:ext uri="{BB962C8B-B14F-4D97-AF65-F5344CB8AC3E}">
        <p14:creationId xmlns:p14="http://schemas.microsoft.com/office/powerpoint/2010/main" val="521435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Cosine for measuring similarity</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Let’s see how the cosine computes which of the words cherry or digital is closer</a:t>
            </a:r>
          </a:p>
          <a:p>
            <a:pPr algn="just">
              <a:lnSpc>
                <a:spcPct val="150000"/>
              </a:lnSpc>
            </a:pPr>
            <a:r>
              <a:rPr lang="en-US" sz="2400" dirty="0">
                <a:latin typeface="Times New Roman" panose="02020603050405020304" pitchFamily="18" charset="0"/>
                <a:cs typeface="Times New Roman" panose="02020603050405020304" pitchFamily="18" charset="0"/>
              </a:rPr>
              <a:t>in meaning to information, just using raw counts from the following shortened table:</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15</a:t>
            </a:fld>
            <a:endParaRPr lang="en-GB" dirty="0"/>
          </a:p>
        </p:txBody>
      </p:sp>
      <p:pic>
        <p:nvPicPr>
          <p:cNvPr id="7" name="Picture 6">
            <a:extLst>
              <a:ext uri="{FF2B5EF4-FFF2-40B4-BE49-F238E27FC236}">
                <a16:creationId xmlns:a16="http://schemas.microsoft.com/office/drawing/2014/main" id="{20DBA912-F30D-3564-7ED3-C8B9A76D1F6C}"/>
              </a:ext>
            </a:extLst>
          </p:cNvPr>
          <p:cNvPicPr>
            <a:picLocks noChangeAspect="1"/>
          </p:cNvPicPr>
          <p:nvPr/>
        </p:nvPicPr>
        <p:blipFill>
          <a:blip r:embed="rId2"/>
          <a:stretch>
            <a:fillRect/>
          </a:stretch>
        </p:blipFill>
        <p:spPr>
          <a:xfrm>
            <a:off x="1665533" y="2939988"/>
            <a:ext cx="8505825" cy="2895600"/>
          </a:xfrm>
          <a:prstGeom prst="rect">
            <a:avLst/>
          </a:prstGeom>
        </p:spPr>
      </p:pic>
    </p:spTree>
    <p:extLst>
      <p:ext uri="{BB962C8B-B14F-4D97-AF65-F5344CB8AC3E}">
        <p14:creationId xmlns:p14="http://schemas.microsoft.com/office/powerpoint/2010/main" val="4101348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Cosine for measuring similarity</a:t>
            </a: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A (rough) graphical demonstration of cosine similarity, showing vectors for three words (</a:t>
            </a:r>
            <a:r>
              <a:rPr lang="en-US" sz="2400" b="1" dirty="0">
                <a:latin typeface="Times New Roman" panose="02020603050405020304" pitchFamily="18" charset="0"/>
                <a:cs typeface="Times New Roman" panose="02020603050405020304" pitchFamily="18" charset="0"/>
              </a:rPr>
              <a:t>cherry, digital, and information</a:t>
            </a:r>
            <a:r>
              <a:rPr lang="en-US" sz="2400" dirty="0">
                <a:latin typeface="Times New Roman" panose="02020603050405020304" pitchFamily="18" charset="0"/>
                <a:cs typeface="Times New Roman" panose="02020603050405020304" pitchFamily="18" charset="0"/>
              </a:rPr>
              <a:t>) in the two dimensional space defined by counts of the words </a:t>
            </a:r>
            <a:r>
              <a:rPr lang="en-US" sz="2400" b="1" dirty="0">
                <a:latin typeface="Times New Roman" panose="02020603050405020304" pitchFamily="18" charset="0"/>
                <a:cs typeface="Times New Roman" panose="02020603050405020304" pitchFamily="18" charset="0"/>
              </a:rPr>
              <a:t>computer</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pie</a:t>
            </a:r>
            <a:r>
              <a:rPr lang="en-US" sz="2400" dirty="0">
                <a:latin typeface="Times New Roman" panose="02020603050405020304" pitchFamily="18" charset="0"/>
                <a:cs typeface="Times New Roman" panose="02020603050405020304" pitchFamily="18" charset="0"/>
              </a:rPr>
              <a:t> nearby.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16</a:t>
            </a:fld>
            <a:endParaRPr lang="en-GB" dirty="0"/>
          </a:p>
        </p:txBody>
      </p:sp>
      <p:pic>
        <p:nvPicPr>
          <p:cNvPr id="6" name="Picture 5">
            <a:extLst>
              <a:ext uri="{FF2B5EF4-FFF2-40B4-BE49-F238E27FC236}">
                <a16:creationId xmlns:a16="http://schemas.microsoft.com/office/drawing/2014/main" id="{C6DCD991-5796-F930-B875-E83F564FB63B}"/>
              </a:ext>
            </a:extLst>
          </p:cNvPr>
          <p:cNvPicPr>
            <a:picLocks noChangeAspect="1"/>
          </p:cNvPicPr>
          <p:nvPr/>
        </p:nvPicPr>
        <p:blipFill>
          <a:blip r:embed="rId2"/>
          <a:stretch>
            <a:fillRect/>
          </a:stretch>
        </p:blipFill>
        <p:spPr>
          <a:xfrm>
            <a:off x="2749858" y="3163825"/>
            <a:ext cx="6248400" cy="2447925"/>
          </a:xfrm>
          <a:prstGeom prst="rect">
            <a:avLst/>
          </a:prstGeom>
        </p:spPr>
      </p:pic>
    </p:spTree>
    <p:extLst>
      <p:ext uri="{BB962C8B-B14F-4D97-AF65-F5344CB8AC3E}">
        <p14:creationId xmlns:p14="http://schemas.microsoft.com/office/powerpoint/2010/main" val="1486164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TF-IDF: Weighing terms in the vector</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co-occurrence matrix represents each cell by frequencies, either of words with documents, or words with other words. But raw frequency is not the best measure of association between words. Raw frequency is very skewed and not very </a:t>
            </a:r>
            <a:r>
              <a:rPr lang="en-US" sz="2400" b="1" dirty="0">
                <a:latin typeface="Times New Roman" panose="02020603050405020304" pitchFamily="18" charset="0"/>
                <a:cs typeface="Times New Roman" panose="02020603050405020304" pitchFamily="18" charset="0"/>
              </a:rPr>
              <a:t>discriminative</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b="1" dirty="0" err="1">
                <a:latin typeface="Times New Roman" panose="02020603050405020304" pitchFamily="18" charset="0"/>
                <a:cs typeface="Times New Roman" panose="02020603050405020304" pitchFamily="18" charset="0"/>
              </a:rPr>
              <a:t>tf-idf</a:t>
            </a:r>
            <a:r>
              <a:rPr lang="en-US" sz="2400" dirty="0">
                <a:latin typeface="Times New Roman" panose="02020603050405020304" pitchFamily="18" charset="0"/>
                <a:cs typeface="Times New Roman" panose="02020603050405020304" pitchFamily="18" charset="0"/>
              </a:rPr>
              <a:t> weighting is the product of two terms, each term capturing one of these two intuitions:</a:t>
            </a:r>
          </a:p>
          <a:p>
            <a:pPr algn="just">
              <a:lnSpc>
                <a:spcPct val="150000"/>
              </a:lnSpc>
            </a:pPr>
            <a:r>
              <a:rPr lang="en-US" sz="2400" dirty="0">
                <a:latin typeface="Times New Roman" panose="02020603050405020304" pitchFamily="18" charset="0"/>
                <a:cs typeface="Times New Roman" panose="02020603050405020304" pitchFamily="18" charset="0"/>
              </a:rPr>
              <a:t>The first is the </a:t>
            </a:r>
            <a:r>
              <a:rPr lang="en-US" sz="2400" b="1" dirty="0">
                <a:latin typeface="Times New Roman" panose="02020603050405020304" pitchFamily="18" charset="0"/>
                <a:cs typeface="Times New Roman" panose="02020603050405020304" pitchFamily="18" charset="0"/>
              </a:rPr>
              <a:t>term frequency</a:t>
            </a:r>
            <a:r>
              <a:rPr lang="en-US" sz="2400" dirty="0">
                <a:latin typeface="Times New Roman" panose="02020603050405020304" pitchFamily="18" charset="0"/>
                <a:cs typeface="Times New Roman" panose="02020603050405020304" pitchFamily="18" charset="0"/>
              </a:rPr>
              <a:t>: the frequency of the word </a:t>
            </a:r>
            <a:r>
              <a:rPr lang="en-US" sz="2400" b="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in the document </a:t>
            </a:r>
            <a:r>
              <a:rPr lang="en-US" sz="2400" b="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We can just use the raw count as the term frequency:</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17</a:t>
            </a:fld>
            <a:endParaRPr lang="en-GB" dirty="0"/>
          </a:p>
        </p:txBody>
      </p:sp>
      <p:pic>
        <p:nvPicPr>
          <p:cNvPr id="7" name="Picture 6">
            <a:extLst>
              <a:ext uri="{FF2B5EF4-FFF2-40B4-BE49-F238E27FC236}">
                <a16:creationId xmlns:a16="http://schemas.microsoft.com/office/drawing/2014/main" id="{55BFE42C-847C-627C-D25D-BADFA3B9CF2A}"/>
              </a:ext>
            </a:extLst>
          </p:cNvPr>
          <p:cNvPicPr>
            <a:picLocks noChangeAspect="1"/>
          </p:cNvPicPr>
          <p:nvPr/>
        </p:nvPicPr>
        <p:blipFill>
          <a:blip r:embed="rId2"/>
          <a:stretch>
            <a:fillRect/>
          </a:stretch>
        </p:blipFill>
        <p:spPr>
          <a:xfrm>
            <a:off x="5427400" y="5762292"/>
            <a:ext cx="2171700" cy="361950"/>
          </a:xfrm>
          <a:prstGeom prst="rect">
            <a:avLst/>
          </a:prstGeom>
        </p:spPr>
      </p:pic>
      <p:pic>
        <p:nvPicPr>
          <p:cNvPr id="9" name="Picture 8">
            <a:extLst>
              <a:ext uri="{FF2B5EF4-FFF2-40B4-BE49-F238E27FC236}">
                <a16:creationId xmlns:a16="http://schemas.microsoft.com/office/drawing/2014/main" id="{6D17968B-6847-17C0-9B1E-3842F7D9241E}"/>
              </a:ext>
            </a:extLst>
          </p:cNvPr>
          <p:cNvPicPr>
            <a:picLocks noChangeAspect="1"/>
          </p:cNvPicPr>
          <p:nvPr/>
        </p:nvPicPr>
        <p:blipFill>
          <a:blip r:embed="rId3"/>
          <a:stretch>
            <a:fillRect/>
          </a:stretch>
        </p:blipFill>
        <p:spPr>
          <a:xfrm>
            <a:off x="5442196" y="6181333"/>
            <a:ext cx="3190875" cy="371475"/>
          </a:xfrm>
          <a:prstGeom prst="rect">
            <a:avLst/>
          </a:prstGeom>
        </p:spPr>
      </p:pic>
    </p:spTree>
    <p:extLst>
      <p:ext uri="{BB962C8B-B14F-4D97-AF65-F5344CB8AC3E}">
        <p14:creationId xmlns:p14="http://schemas.microsoft.com/office/powerpoint/2010/main" val="450945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TF-IDF: Weighing terms in the vector</a:t>
            </a:r>
            <a:endParaRPr lang="en-GB" sz="3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459010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second factor in </a:t>
                </a:r>
                <a:r>
                  <a:rPr lang="en-US" sz="2400" b="1" dirty="0" err="1">
                    <a:latin typeface="Times New Roman" panose="02020603050405020304" pitchFamily="18" charset="0"/>
                    <a:cs typeface="Times New Roman" panose="02020603050405020304" pitchFamily="18" charset="0"/>
                  </a:rPr>
                  <a:t>tf-idf</a:t>
                </a:r>
                <a:r>
                  <a:rPr lang="en-US" sz="2400" dirty="0">
                    <a:latin typeface="Times New Roman" panose="02020603050405020304" pitchFamily="18" charset="0"/>
                    <a:cs typeface="Times New Roman" panose="02020603050405020304" pitchFamily="18" charset="0"/>
                  </a:rPr>
                  <a:t> is used to give a higher weight to words that occur only in a few documents. Terms that are limited to a few documents are useful for discriminating those documents from the rest of the collection; terms that occur frequently across the entire collection aren’t as helpful. The document frequency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𝒅𝒇</m:t>
                        </m:r>
                      </m:e>
                      <m:sub>
                        <m:r>
                          <a:rPr lang="en-US" sz="2400" b="1" i="1" smtClean="0">
                            <a:latin typeface="Cambria Math" panose="02040503050406030204" pitchFamily="18" charset="0"/>
                            <a:cs typeface="Times New Roman" panose="02020603050405020304" pitchFamily="18" charset="0"/>
                          </a:rPr>
                          <m:t>𝒕</m:t>
                        </m:r>
                      </m:sub>
                    </m:sSub>
                  </m:oMath>
                </a14:m>
                <a:r>
                  <a:rPr lang="en-US" sz="2400" dirty="0">
                    <a:latin typeface="Times New Roman" panose="02020603050405020304" pitchFamily="18" charset="0"/>
                    <a:cs typeface="Times New Roman" panose="02020603050405020304" pitchFamily="18" charset="0"/>
                  </a:rPr>
                  <a:t> of a term </a:t>
                </a:r>
                <a:r>
                  <a:rPr lang="en-US" sz="2400" b="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is the number of documents it occurs in. </a:t>
                </a:r>
              </a:p>
              <a:p>
                <a:pPr algn="just">
                  <a:lnSpc>
                    <a:spcPct val="150000"/>
                  </a:lnSpc>
                </a:pPr>
                <a:r>
                  <a:rPr lang="en-US" sz="2400" dirty="0">
                    <a:latin typeface="Times New Roman" panose="02020603050405020304" pitchFamily="18" charset="0"/>
                    <a:cs typeface="Times New Roman" panose="02020603050405020304" pitchFamily="18" charset="0"/>
                  </a:rPr>
                  <a:t>We emphasize discriminative words via the inverse document frequency or </a:t>
                </a:r>
                <a:r>
                  <a:rPr lang="en-US" sz="2400" b="1" dirty="0" err="1">
                    <a:latin typeface="Times New Roman" panose="02020603050405020304" pitchFamily="18" charset="0"/>
                    <a:cs typeface="Times New Roman" panose="02020603050405020304" pitchFamily="18" charset="0"/>
                  </a:rPr>
                  <a:t>idf</a:t>
                </a:r>
                <a:r>
                  <a:rPr lang="en-US" sz="2400" dirty="0">
                    <a:latin typeface="Times New Roman" panose="02020603050405020304" pitchFamily="18" charset="0"/>
                    <a:cs typeface="Times New Roman" panose="02020603050405020304" pitchFamily="18" charset="0"/>
                  </a:rPr>
                  <a:t> term weight. The </a:t>
                </a:r>
                <a:r>
                  <a:rPr lang="en-US" sz="2400" dirty="0" err="1">
                    <a:latin typeface="Times New Roman" panose="02020603050405020304" pitchFamily="18" charset="0"/>
                    <a:cs typeface="Times New Roman" panose="02020603050405020304" pitchFamily="18" charset="0"/>
                  </a:rPr>
                  <a:t>idf</a:t>
                </a:r>
                <a:r>
                  <a:rPr lang="en-US" sz="2400" dirty="0">
                    <a:latin typeface="Times New Roman" panose="02020603050405020304" pitchFamily="18" charset="0"/>
                    <a:cs typeface="Times New Roman" panose="02020603050405020304" pitchFamily="18" charset="0"/>
                  </a:rPr>
                  <a:t> is defined using the fraction: </a:t>
                </a:r>
                <a14:m>
                  <m:oMath xmlns:m="http://schemas.openxmlformats.org/officeDocument/2006/math">
                    <m:box>
                      <m:boxPr>
                        <m:ctrlPr>
                          <a:rPr lang="en-US" sz="2400" i="1" smtClean="0">
                            <a:latin typeface="Cambria Math" panose="02040503050406030204" pitchFamily="18" charset="0"/>
                            <a:cs typeface="Times New Roman" panose="02020603050405020304" pitchFamily="18" charset="0"/>
                          </a:rPr>
                        </m:ctrlPr>
                      </m:boxPr>
                      <m:e>
                        <m:argPr>
                          <m:argSz m:val="-1"/>
                        </m:argPr>
                        <m:f>
                          <m:fPr>
                            <m:ctrlPr>
                              <a:rPr lang="en-US" sz="2400" i="1" smtClean="0">
                                <a:latin typeface="Cambria Math" panose="02040503050406030204" pitchFamily="18" charset="0"/>
                                <a:cs typeface="Times New Roman" panose="02020603050405020304" pitchFamily="18" charset="0"/>
                              </a:rPr>
                            </m:ctrlPr>
                          </m:fPr>
                          <m:num>
                            <m:r>
                              <a:rPr lang="en-US" sz="2400" b="1" i="1" smtClean="0">
                                <a:latin typeface="Cambria Math" panose="02040503050406030204" pitchFamily="18" charset="0"/>
                                <a:cs typeface="Times New Roman" panose="02020603050405020304" pitchFamily="18" charset="0"/>
                              </a:rPr>
                              <m:t>𝑵</m:t>
                            </m:r>
                          </m:num>
                          <m:den>
                            <m:sSub>
                              <m:sSubPr>
                                <m:ctrlPr>
                                  <a:rPr lang="en-US" sz="2400" b="1" i="1">
                                    <a:latin typeface="Cambria Math" panose="02040503050406030204" pitchFamily="18" charset="0"/>
                                    <a:cs typeface="Times New Roman" panose="02020603050405020304" pitchFamily="18" charset="0"/>
                                  </a:rPr>
                                </m:ctrlPr>
                              </m:sSubPr>
                              <m:e>
                                <m:r>
                                  <a:rPr lang="en-US" sz="2400" b="1" i="1">
                                    <a:latin typeface="Cambria Math" panose="02040503050406030204" pitchFamily="18" charset="0"/>
                                    <a:cs typeface="Times New Roman" panose="02020603050405020304" pitchFamily="18" charset="0"/>
                                  </a:rPr>
                                  <m:t>𝒅𝒇</m:t>
                                </m:r>
                              </m:e>
                              <m:sub>
                                <m:r>
                                  <a:rPr lang="en-US" sz="2400" b="1" i="1">
                                    <a:latin typeface="Cambria Math" panose="02040503050406030204" pitchFamily="18" charset="0"/>
                                    <a:cs typeface="Times New Roman" panose="02020603050405020304" pitchFamily="18" charset="0"/>
                                  </a:rPr>
                                  <m:t>𝒕</m:t>
                                </m:r>
                              </m:sub>
                            </m:sSub>
                          </m:den>
                        </m:f>
                      </m:e>
                    </m:box>
                  </m:oMath>
                </a14:m>
                <a:r>
                  <a:rPr lang="en-US" sz="2400" dirty="0">
                    <a:latin typeface="Times New Roman" panose="02020603050405020304" pitchFamily="18" charset="0"/>
                    <a:cs typeface="Times New Roman" panose="02020603050405020304" pitchFamily="18" charset="0"/>
                  </a:rPr>
                  <a:t> where </a:t>
                </a:r>
                <a:r>
                  <a:rPr lang="en-US" sz="2400" b="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is the total number of documents in the collection.</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4590103"/>
              </a:xfrm>
              <a:prstGeom prst="rect">
                <a:avLst/>
              </a:prstGeom>
              <a:blipFill>
                <a:blip r:embed="rId2"/>
                <a:stretch>
                  <a:fillRect l="-980" r="-919" b="-212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18</a:t>
            </a:fld>
            <a:endParaRPr lang="en-GB" dirty="0"/>
          </a:p>
        </p:txBody>
      </p:sp>
      <p:pic>
        <p:nvPicPr>
          <p:cNvPr id="6" name="Picture 5">
            <a:extLst>
              <a:ext uri="{FF2B5EF4-FFF2-40B4-BE49-F238E27FC236}">
                <a16:creationId xmlns:a16="http://schemas.microsoft.com/office/drawing/2014/main" id="{D8D8E99C-7C71-DDA6-8A0D-2215BE70288D}"/>
              </a:ext>
            </a:extLst>
          </p:cNvPr>
          <p:cNvPicPr>
            <a:picLocks noChangeAspect="1"/>
          </p:cNvPicPr>
          <p:nvPr/>
        </p:nvPicPr>
        <p:blipFill>
          <a:blip r:embed="rId3"/>
          <a:stretch>
            <a:fillRect/>
          </a:stretch>
        </p:blipFill>
        <p:spPr>
          <a:xfrm>
            <a:off x="5324336" y="5815006"/>
            <a:ext cx="2434747" cy="737802"/>
          </a:xfrm>
          <a:prstGeom prst="rect">
            <a:avLst/>
          </a:prstGeom>
        </p:spPr>
      </p:pic>
    </p:spTree>
    <p:extLst>
      <p:ext uri="{BB962C8B-B14F-4D97-AF65-F5344CB8AC3E}">
        <p14:creationId xmlns:p14="http://schemas.microsoft.com/office/powerpoint/2010/main" val="167746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TF-IDF: Weighing terms in the vector</a:t>
            </a:r>
            <a:endParaRPr lang="en-GB" sz="3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119641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tf-idf</a:t>
                </a:r>
                <a:r>
                  <a:rPr lang="en-US" sz="2400" dirty="0">
                    <a:latin typeface="Times New Roman" panose="02020603050405020304" pitchFamily="18" charset="0"/>
                    <a:cs typeface="Times New Roman" panose="02020603050405020304" pitchFamily="18" charset="0"/>
                  </a:rPr>
                  <a:t> weighted value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𝒘</m:t>
                        </m:r>
                      </m:e>
                      <m:sub>
                        <m:r>
                          <a:rPr lang="en-US" sz="2400" b="1" i="1" smtClean="0">
                            <a:latin typeface="Cambria Math" panose="02040503050406030204" pitchFamily="18" charset="0"/>
                            <a:cs typeface="Times New Roman" panose="02020603050405020304" pitchFamily="18" charset="0"/>
                          </a:rPr>
                          <m:t>𝒕</m:t>
                        </m:r>
                        <m:r>
                          <a:rPr lang="en-US" sz="2400" b="1" i="1"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cs typeface="Times New Roman" panose="02020603050405020304" pitchFamily="18" charset="0"/>
                          </a:rPr>
                          <m:t>𝒅</m:t>
                        </m:r>
                      </m:sub>
                    </m:sSub>
                  </m:oMath>
                </a14:m>
                <a:r>
                  <a:rPr lang="en-US" sz="2400" dirty="0">
                    <a:latin typeface="Times New Roman" panose="02020603050405020304" pitchFamily="18" charset="0"/>
                    <a:cs typeface="Times New Roman" panose="02020603050405020304" pitchFamily="18" charset="0"/>
                  </a:rPr>
                  <a:t> for word </a:t>
                </a:r>
                <a:r>
                  <a:rPr lang="en-US" sz="2400" b="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in document </a:t>
                </a:r>
                <a:r>
                  <a:rPr lang="en-US" sz="2400" b="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thus combines term frequency </a:t>
                </a:r>
                <a14:m>
                  <m:oMath xmlns:m="http://schemas.openxmlformats.org/officeDocument/2006/math">
                    <m:sSub>
                      <m:sSubPr>
                        <m:ctrlPr>
                          <a:rPr lang="en-US" sz="2400" b="1" i="1">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𝒕𝒇</m:t>
                        </m:r>
                      </m:e>
                      <m:sub>
                        <m:r>
                          <a:rPr lang="en-US" sz="2400" b="1" i="1">
                            <a:latin typeface="Cambria Math" panose="02040503050406030204" pitchFamily="18" charset="0"/>
                            <a:cs typeface="Times New Roman" panose="02020603050405020304" pitchFamily="18" charset="0"/>
                          </a:rPr>
                          <m:t>𝒕</m:t>
                        </m:r>
                        <m:r>
                          <a:rPr lang="en-US" sz="2400" b="1" i="1">
                            <a:latin typeface="Cambria Math" panose="02040503050406030204" pitchFamily="18" charset="0"/>
                            <a:cs typeface="Times New Roman" panose="02020603050405020304" pitchFamily="18" charset="0"/>
                          </a:rPr>
                          <m:t>,</m:t>
                        </m:r>
                        <m:r>
                          <a:rPr lang="en-US" sz="2400" b="1" i="1">
                            <a:latin typeface="Cambria Math" panose="02040503050406030204" pitchFamily="18" charset="0"/>
                            <a:cs typeface="Times New Roman" panose="02020603050405020304" pitchFamily="18" charset="0"/>
                          </a:rPr>
                          <m:t>𝒅</m:t>
                        </m:r>
                      </m:sub>
                    </m:sSub>
                  </m:oMath>
                </a14:m>
                <a:r>
                  <a:rPr lang="en-US" sz="2400" dirty="0">
                    <a:latin typeface="Times New Roman" panose="02020603050405020304" pitchFamily="18" charset="0"/>
                    <a:cs typeface="Times New Roman" panose="02020603050405020304" pitchFamily="18" charset="0"/>
                  </a:rPr>
                  <a:t> with idf</a:t>
                </a:r>
              </a:p>
            </p:txBody>
          </p:sp>
        </mc:Choice>
        <mc:Fallback xmlns="">
          <p:sp>
            <p:nvSpPr>
              <p:cNvPr id="5" name="TextBox 4">
                <a:extLst>
                  <a:ext uri="{FF2B5EF4-FFF2-40B4-BE49-F238E27FC236}">
                    <a16:creationId xmlns:a16="http://schemas.microsoft.com/office/drawing/2014/main" id="{C70E7BF7-9240-E61C-7520-97ED4F1594B0}"/>
                  </a:ext>
                </a:extLst>
              </p:cNvPr>
              <p:cNvSpPr txBox="1">
                <a:spLocks noRot="1" noChangeAspect="1" noMove="1" noResize="1" noEditPoints="1" noAdjustHandles="1" noChangeArrowheads="1" noChangeShapeType="1" noTextEdit="1"/>
              </p:cNvSpPr>
              <p:nvPr/>
            </p:nvSpPr>
            <p:spPr>
              <a:xfrm>
                <a:off x="1121228" y="1095708"/>
                <a:ext cx="9949543" cy="1196418"/>
              </a:xfrm>
              <a:prstGeom prst="rect">
                <a:avLst/>
              </a:prstGeom>
              <a:blipFill>
                <a:blip r:embed="rId2"/>
                <a:stretch>
                  <a:fillRect l="-980" r="-919" b="-918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19</a:t>
            </a:fld>
            <a:endParaRPr lang="en-GB" dirty="0"/>
          </a:p>
        </p:txBody>
      </p:sp>
      <p:pic>
        <p:nvPicPr>
          <p:cNvPr id="8" name="Picture 7">
            <a:extLst>
              <a:ext uri="{FF2B5EF4-FFF2-40B4-BE49-F238E27FC236}">
                <a16:creationId xmlns:a16="http://schemas.microsoft.com/office/drawing/2014/main" id="{D54FB369-40CB-351C-FF08-53405E10F31D}"/>
              </a:ext>
            </a:extLst>
          </p:cNvPr>
          <p:cNvPicPr>
            <a:picLocks noChangeAspect="1"/>
          </p:cNvPicPr>
          <p:nvPr/>
        </p:nvPicPr>
        <p:blipFill>
          <a:blip r:embed="rId3"/>
          <a:stretch>
            <a:fillRect/>
          </a:stretch>
        </p:blipFill>
        <p:spPr>
          <a:xfrm>
            <a:off x="4286249" y="2292126"/>
            <a:ext cx="2453090" cy="47770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B450660-87F4-B984-9F05-ADDCC1C695A9}"/>
                  </a:ext>
                </a:extLst>
              </p:cNvPr>
              <p:cNvSpPr txBox="1"/>
              <p:nvPr/>
            </p:nvSpPr>
            <p:spPr>
              <a:xfrm>
                <a:off x="1121228" y="2769833"/>
                <a:ext cx="9949543" cy="119641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tf-idf</a:t>
                </a:r>
                <a:r>
                  <a:rPr lang="en-US" sz="2400" dirty="0">
                    <a:latin typeface="Times New Roman" panose="02020603050405020304" pitchFamily="18" charset="0"/>
                    <a:cs typeface="Times New Roman" panose="02020603050405020304" pitchFamily="18" charset="0"/>
                  </a:rPr>
                  <a:t> weighted value </a:t>
                </a:r>
                <a14:m>
                  <m:oMath xmlns:m="http://schemas.openxmlformats.org/officeDocument/2006/math">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𝒘</m:t>
                        </m:r>
                      </m:e>
                      <m:sub>
                        <m:r>
                          <a:rPr lang="en-US" sz="2400" b="1" i="1" smtClean="0">
                            <a:latin typeface="Cambria Math" panose="02040503050406030204" pitchFamily="18" charset="0"/>
                            <a:cs typeface="Times New Roman" panose="02020603050405020304" pitchFamily="18" charset="0"/>
                          </a:rPr>
                          <m:t>𝒕</m:t>
                        </m:r>
                        <m:r>
                          <a:rPr lang="en-US" sz="2400" b="1" i="1"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cs typeface="Times New Roman" panose="02020603050405020304" pitchFamily="18" charset="0"/>
                          </a:rPr>
                          <m:t>𝒅</m:t>
                        </m:r>
                      </m:sub>
                    </m:sSub>
                  </m:oMath>
                </a14:m>
                <a:r>
                  <a:rPr lang="en-US" sz="2400" dirty="0">
                    <a:latin typeface="Times New Roman" panose="02020603050405020304" pitchFamily="18" charset="0"/>
                    <a:cs typeface="Times New Roman" panose="02020603050405020304" pitchFamily="18" charset="0"/>
                  </a:rPr>
                  <a:t> for word </a:t>
                </a:r>
                <a:r>
                  <a:rPr lang="en-US" sz="2400" b="1"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in document </a:t>
                </a:r>
                <a:r>
                  <a:rPr lang="en-US" sz="2400" b="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thus combines term frequency </a:t>
                </a:r>
                <a14:m>
                  <m:oMath xmlns:m="http://schemas.openxmlformats.org/officeDocument/2006/math">
                    <m:sSub>
                      <m:sSubPr>
                        <m:ctrlPr>
                          <a:rPr lang="en-US" sz="2400" b="1" i="1">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𝒕𝒇</m:t>
                        </m:r>
                      </m:e>
                      <m:sub>
                        <m:r>
                          <a:rPr lang="en-US" sz="2400" b="1" i="1">
                            <a:latin typeface="Cambria Math" panose="02040503050406030204" pitchFamily="18" charset="0"/>
                            <a:cs typeface="Times New Roman" panose="02020603050405020304" pitchFamily="18" charset="0"/>
                          </a:rPr>
                          <m:t>𝒕</m:t>
                        </m:r>
                        <m:r>
                          <a:rPr lang="en-US" sz="2400" b="1" i="1">
                            <a:latin typeface="Cambria Math" panose="02040503050406030204" pitchFamily="18" charset="0"/>
                            <a:cs typeface="Times New Roman" panose="02020603050405020304" pitchFamily="18" charset="0"/>
                          </a:rPr>
                          <m:t>,</m:t>
                        </m:r>
                        <m:r>
                          <a:rPr lang="en-US" sz="2400" b="1" i="1">
                            <a:latin typeface="Cambria Math" panose="02040503050406030204" pitchFamily="18" charset="0"/>
                            <a:cs typeface="Times New Roman" panose="02020603050405020304" pitchFamily="18" charset="0"/>
                          </a:rPr>
                          <m:t>𝒅</m:t>
                        </m:r>
                      </m:sub>
                    </m:sSub>
                  </m:oMath>
                </a14:m>
                <a:r>
                  <a:rPr lang="en-US" sz="2400" dirty="0">
                    <a:latin typeface="Times New Roman" panose="02020603050405020304" pitchFamily="18" charset="0"/>
                    <a:cs typeface="Times New Roman" panose="02020603050405020304" pitchFamily="18" charset="0"/>
                  </a:rPr>
                  <a:t> with idf</a:t>
                </a:r>
              </a:p>
            </p:txBody>
          </p:sp>
        </mc:Choice>
        <mc:Fallback xmlns="">
          <p:sp>
            <p:nvSpPr>
              <p:cNvPr id="9" name="TextBox 8">
                <a:extLst>
                  <a:ext uri="{FF2B5EF4-FFF2-40B4-BE49-F238E27FC236}">
                    <a16:creationId xmlns:a16="http://schemas.microsoft.com/office/drawing/2014/main" id="{4B450660-87F4-B984-9F05-ADDCC1C695A9}"/>
                  </a:ext>
                </a:extLst>
              </p:cNvPr>
              <p:cNvSpPr txBox="1">
                <a:spLocks noRot="1" noChangeAspect="1" noMove="1" noResize="1" noEditPoints="1" noAdjustHandles="1" noChangeArrowheads="1" noChangeShapeType="1" noTextEdit="1"/>
              </p:cNvSpPr>
              <p:nvPr/>
            </p:nvSpPr>
            <p:spPr>
              <a:xfrm>
                <a:off x="1121228" y="2769833"/>
                <a:ext cx="9949543" cy="1196418"/>
              </a:xfrm>
              <a:prstGeom prst="rect">
                <a:avLst/>
              </a:prstGeom>
              <a:blipFill>
                <a:blip r:embed="rId4"/>
                <a:stretch>
                  <a:fillRect l="-980" r="-919" b="-8629"/>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66D93FAF-7643-37BA-B081-AA0209D0C417}"/>
              </a:ext>
            </a:extLst>
          </p:cNvPr>
          <p:cNvPicPr>
            <a:picLocks noChangeAspect="1"/>
          </p:cNvPicPr>
          <p:nvPr/>
        </p:nvPicPr>
        <p:blipFill>
          <a:blip r:embed="rId5"/>
          <a:stretch>
            <a:fillRect/>
          </a:stretch>
        </p:blipFill>
        <p:spPr>
          <a:xfrm>
            <a:off x="1804986" y="3966251"/>
            <a:ext cx="8582025" cy="150495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7FA4A6B-3122-C068-432B-6A491F4E5A08}"/>
                  </a:ext>
                </a:extLst>
              </p:cNvPr>
              <p:cNvSpPr txBox="1"/>
              <p:nvPr/>
            </p:nvSpPr>
            <p:spPr>
              <a:xfrm>
                <a:off x="758723" y="5525057"/>
                <a:ext cx="9949543" cy="113396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0.049</a:t>
                </a:r>
                <a:r>
                  <a:rPr lang="en-US" sz="2400" dirty="0">
                    <a:latin typeface="Times New Roman" panose="02020603050405020304" pitchFamily="18" charset="0"/>
                    <a:cs typeface="Times New Roman" panose="02020603050405020304" pitchFamily="18" charset="0"/>
                  </a:rPr>
                  <a:t> value for wit in </a:t>
                </a:r>
                <a:r>
                  <a:rPr lang="en-US" sz="2400" b="1" dirty="0">
                    <a:latin typeface="Times New Roman" panose="02020603050405020304" pitchFamily="18" charset="0"/>
                    <a:cs typeface="Times New Roman" panose="02020603050405020304" pitchFamily="18" charset="0"/>
                  </a:rPr>
                  <a:t>As You Like It </a:t>
                </a:r>
                <a:r>
                  <a:rPr lang="en-US" sz="2400" dirty="0">
                    <a:latin typeface="Times New Roman" panose="02020603050405020304" pitchFamily="18" charset="0"/>
                    <a:cs typeface="Times New Roman" panose="02020603050405020304" pitchFamily="18" charset="0"/>
                  </a:rPr>
                  <a:t>is the product of </a:t>
                </a:r>
                <a:r>
                  <a:rPr lang="en-US" sz="2400" dirty="0" err="1">
                    <a:latin typeface="Times New Roman" panose="02020603050405020304" pitchFamily="18" charset="0"/>
                    <a:cs typeface="Times New Roman" panose="02020603050405020304" pitchFamily="18" charset="0"/>
                  </a:rPr>
                  <a:t>tf</a:t>
                </a:r>
                <a:r>
                  <a:rPr lang="en-US" sz="24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𝑙𝑜𝑔</m:t>
                        </m:r>
                      </m:e>
                      <m:sub>
                        <m:r>
                          <a:rPr lang="en-US" sz="2400" b="0" i="1" smtClean="0">
                            <a:latin typeface="Cambria Math" panose="02040503050406030204" pitchFamily="18" charset="0"/>
                            <a:cs typeface="Times New Roman" panose="02020603050405020304" pitchFamily="18" charset="0"/>
                          </a:rPr>
                          <m:t>10</m:t>
                        </m:r>
                      </m:sub>
                    </m:sSub>
                  </m:oMath>
                </a14:m>
                <a:r>
                  <a:rPr lang="en-US" sz="2400" dirty="0">
                    <a:latin typeface="Times New Roman" panose="02020603050405020304" pitchFamily="18" charset="0"/>
                    <a:cs typeface="Times New Roman" panose="02020603050405020304" pitchFamily="18" charset="0"/>
                  </a:rPr>
                  <a:t>(20 + 1) = 1.322 and </a:t>
                </a:r>
                <a:r>
                  <a:rPr lang="en-US" sz="2400" dirty="0" err="1">
                    <a:latin typeface="Times New Roman" panose="02020603050405020304" pitchFamily="18" charset="0"/>
                    <a:cs typeface="Times New Roman" panose="02020603050405020304" pitchFamily="18" charset="0"/>
                  </a:rPr>
                  <a:t>idf</a:t>
                </a:r>
                <a:r>
                  <a:rPr lang="en-US" sz="2400" dirty="0">
                    <a:latin typeface="Times New Roman" panose="02020603050405020304" pitchFamily="18" charset="0"/>
                    <a:cs typeface="Times New Roman" panose="02020603050405020304" pitchFamily="18" charset="0"/>
                  </a:rPr>
                  <a:t> = 0.037.</a:t>
                </a:r>
              </a:p>
            </p:txBody>
          </p:sp>
        </mc:Choice>
        <mc:Fallback xmlns="">
          <p:sp>
            <p:nvSpPr>
              <p:cNvPr id="12" name="TextBox 11">
                <a:extLst>
                  <a:ext uri="{FF2B5EF4-FFF2-40B4-BE49-F238E27FC236}">
                    <a16:creationId xmlns:a16="http://schemas.microsoft.com/office/drawing/2014/main" id="{C7FA4A6B-3122-C068-432B-6A491F4E5A08}"/>
                  </a:ext>
                </a:extLst>
              </p:cNvPr>
              <p:cNvSpPr txBox="1">
                <a:spLocks noRot="1" noChangeAspect="1" noMove="1" noResize="1" noEditPoints="1" noAdjustHandles="1" noChangeArrowheads="1" noChangeShapeType="1" noTextEdit="1"/>
              </p:cNvSpPr>
              <p:nvPr/>
            </p:nvSpPr>
            <p:spPr>
              <a:xfrm>
                <a:off x="758723" y="5525057"/>
                <a:ext cx="9949543" cy="1133965"/>
              </a:xfrm>
              <a:prstGeom prst="rect">
                <a:avLst/>
              </a:prstGeom>
              <a:blipFill>
                <a:blip r:embed="rId6"/>
                <a:stretch>
                  <a:fillRect l="-919" r="-919" b="-11828"/>
                </a:stretch>
              </a:blipFill>
            </p:spPr>
            <p:txBody>
              <a:bodyPr/>
              <a:lstStyle/>
              <a:p>
                <a:r>
                  <a:rPr lang="en-US">
                    <a:noFill/>
                  </a:rPr>
                  <a:t> </a:t>
                </a:r>
              </a:p>
            </p:txBody>
          </p:sp>
        </mc:Fallback>
      </mc:AlternateContent>
    </p:spTree>
    <p:extLst>
      <p:ext uri="{BB962C8B-B14F-4D97-AF65-F5344CB8AC3E}">
        <p14:creationId xmlns:p14="http://schemas.microsoft.com/office/powerpoint/2010/main" val="1285549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Document vector</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tf-idf</a:t>
            </a:r>
            <a:r>
              <a:rPr lang="en-US" sz="2400" dirty="0">
                <a:latin typeface="Times New Roman" panose="02020603050405020304" pitchFamily="18" charset="0"/>
                <a:cs typeface="Times New Roman" panose="02020603050405020304" pitchFamily="18" charset="0"/>
              </a:rPr>
              <a:t> model of meaning is often used for document functions like deciding</a:t>
            </a:r>
          </a:p>
          <a:p>
            <a:pPr algn="just">
              <a:lnSpc>
                <a:spcPct val="150000"/>
              </a:lnSpc>
            </a:pPr>
            <a:r>
              <a:rPr lang="en-US" sz="2400" dirty="0">
                <a:latin typeface="Times New Roman" panose="02020603050405020304" pitchFamily="18" charset="0"/>
                <a:cs typeface="Times New Roman" panose="02020603050405020304" pitchFamily="18" charset="0"/>
              </a:rPr>
              <a:t>if two documents are similar. We represent a document by taking the vectors of</a:t>
            </a:r>
          </a:p>
          <a:p>
            <a:pPr algn="just">
              <a:lnSpc>
                <a:spcPct val="150000"/>
              </a:lnSpc>
            </a:pPr>
            <a:r>
              <a:rPr lang="en-US" sz="2400" dirty="0">
                <a:latin typeface="Times New Roman" panose="02020603050405020304" pitchFamily="18" charset="0"/>
                <a:cs typeface="Times New Roman" panose="02020603050405020304" pitchFamily="18" charset="0"/>
              </a:rPr>
              <a:t>all the words in the document, and computing the </a:t>
            </a:r>
            <a:r>
              <a:rPr lang="en-US" sz="2400" b="1" dirty="0">
                <a:latin typeface="Times New Roman" panose="02020603050405020304" pitchFamily="18" charset="0"/>
                <a:cs typeface="Times New Roman" panose="02020603050405020304" pitchFamily="18" charset="0"/>
              </a:rPr>
              <a:t>centroid</a:t>
            </a:r>
            <a:r>
              <a:rPr lang="en-US" sz="2400" dirty="0">
                <a:latin typeface="Times New Roman" panose="02020603050405020304" pitchFamily="18" charset="0"/>
                <a:cs typeface="Times New Roman" panose="02020603050405020304" pitchFamily="18" charset="0"/>
              </a:rPr>
              <a:t> of all those vectors.</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 centroid is the multidimensional version of the mean; the centroid of a set of vectors is a single vector that has the minimum sum of squared distances to each of the vectors in the set. Given k word vectors w1;w2;:::;</a:t>
            </a:r>
            <a:r>
              <a:rPr lang="en-US" sz="2400" dirty="0" err="1">
                <a:latin typeface="Times New Roman" panose="02020603050405020304" pitchFamily="18" charset="0"/>
                <a:cs typeface="Times New Roman" panose="02020603050405020304" pitchFamily="18" charset="0"/>
              </a:rPr>
              <a:t>wk</a:t>
            </a:r>
            <a:r>
              <a:rPr lang="en-US" sz="2400" dirty="0">
                <a:latin typeface="Times New Roman" panose="02020603050405020304" pitchFamily="18" charset="0"/>
                <a:cs typeface="Times New Roman" panose="02020603050405020304" pitchFamily="18" charset="0"/>
              </a:rPr>
              <a:t>, the centroid document vector d is: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20</a:t>
            </a:fld>
            <a:endParaRPr lang="en-GB" dirty="0"/>
          </a:p>
        </p:txBody>
      </p:sp>
      <p:pic>
        <p:nvPicPr>
          <p:cNvPr id="7" name="Picture 6">
            <a:extLst>
              <a:ext uri="{FF2B5EF4-FFF2-40B4-BE49-F238E27FC236}">
                <a16:creationId xmlns:a16="http://schemas.microsoft.com/office/drawing/2014/main" id="{A7ED8CB4-E65A-07FC-5425-0E29A5D24C7C}"/>
              </a:ext>
            </a:extLst>
          </p:cNvPr>
          <p:cNvPicPr>
            <a:picLocks noChangeAspect="1"/>
          </p:cNvPicPr>
          <p:nvPr/>
        </p:nvPicPr>
        <p:blipFill>
          <a:blip r:embed="rId2"/>
          <a:stretch>
            <a:fillRect/>
          </a:stretch>
        </p:blipFill>
        <p:spPr>
          <a:xfrm>
            <a:off x="4526894" y="5553660"/>
            <a:ext cx="3138210" cy="828961"/>
          </a:xfrm>
          <a:prstGeom prst="rect">
            <a:avLst/>
          </a:prstGeom>
        </p:spPr>
      </p:pic>
    </p:spTree>
    <p:extLst>
      <p:ext uri="{BB962C8B-B14F-4D97-AF65-F5344CB8AC3E}">
        <p14:creationId xmlns:p14="http://schemas.microsoft.com/office/powerpoint/2010/main" val="1923115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Word2vec</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We saw how to represent a word as a </a:t>
            </a:r>
            <a:r>
              <a:rPr lang="en-US" sz="2400" b="1" dirty="0">
                <a:latin typeface="Times New Roman" panose="02020603050405020304" pitchFamily="18" charset="0"/>
                <a:cs typeface="Times New Roman" panose="02020603050405020304" pitchFamily="18" charset="0"/>
              </a:rPr>
              <a:t>sparse</a:t>
            </a:r>
            <a:r>
              <a:rPr lang="en-US" sz="2400" dirty="0">
                <a:latin typeface="Times New Roman" panose="02020603050405020304" pitchFamily="18" charset="0"/>
                <a:cs typeface="Times New Roman" panose="02020603050405020304" pitchFamily="18" charset="0"/>
              </a:rPr>
              <a:t>, long vector with dimensions corresponding to words in the vocabulary or documents in a collection.</a:t>
            </a:r>
          </a:p>
          <a:p>
            <a:pPr algn="just">
              <a:lnSpc>
                <a:spcPct val="150000"/>
              </a:lnSpc>
            </a:pPr>
            <a:r>
              <a:rPr lang="en-US" sz="2400" dirty="0">
                <a:latin typeface="Times New Roman" panose="02020603050405020304" pitchFamily="18" charset="0"/>
                <a:cs typeface="Times New Roman" panose="02020603050405020304" pitchFamily="18" charset="0"/>
              </a:rPr>
              <a:t>We now introduce a more powerful word representation: </a:t>
            </a:r>
            <a:r>
              <a:rPr lang="en-US" sz="2400" b="1" dirty="0">
                <a:latin typeface="Times New Roman" panose="02020603050405020304" pitchFamily="18" charset="0"/>
                <a:cs typeface="Times New Roman" panose="02020603050405020304" pitchFamily="18" charset="0"/>
              </a:rPr>
              <a:t>embeddings</a:t>
            </a:r>
            <a:r>
              <a:rPr lang="en-US" sz="2400" dirty="0">
                <a:latin typeface="Times New Roman" panose="02020603050405020304" pitchFamily="18" charset="0"/>
                <a:cs typeface="Times New Roman" panose="02020603050405020304" pitchFamily="18" charset="0"/>
              </a:rPr>
              <a:t>, short </a:t>
            </a:r>
            <a:r>
              <a:rPr lang="en-US" sz="2400" b="1" dirty="0">
                <a:latin typeface="Times New Roman" panose="02020603050405020304" pitchFamily="18" charset="0"/>
                <a:cs typeface="Times New Roman" panose="02020603050405020304" pitchFamily="18" charset="0"/>
              </a:rPr>
              <a:t>dense vectors</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It turns out that dense vectors work better in every NLP task than sparse vectors.</a:t>
            </a:r>
          </a:p>
          <a:p>
            <a:pPr algn="just">
              <a:lnSpc>
                <a:spcPct val="150000"/>
              </a:lnSpc>
            </a:pPr>
            <a:r>
              <a:rPr lang="en-US" sz="2400" dirty="0">
                <a:latin typeface="Times New Roman" panose="02020603050405020304" pitchFamily="18" charset="0"/>
                <a:cs typeface="Times New Roman" panose="02020603050405020304" pitchFamily="18" charset="0"/>
              </a:rPr>
              <a:t>Representing words as 300-dimensional dense vectors requires our classifiers to learn far fewer weights than if we represented words as 50,000-dimensional vectors, and the smaller parameter space possibly helps with generalization and avoiding overfitting.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21</a:t>
            </a:fld>
            <a:endParaRPr lang="en-GB" dirty="0"/>
          </a:p>
        </p:txBody>
      </p:sp>
    </p:spTree>
    <p:extLst>
      <p:ext uri="{BB962C8B-B14F-4D97-AF65-F5344CB8AC3E}">
        <p14:creationId xmlns:p14="http://schemas.microsoft.com/office/powerpoint/2010/main" val="1568256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Word2vec</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011949"/>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Dense vectors </a:t>
            </a:r>
            <a:r>
              <a:rPr lang="en-US" sz="2400" dirty="0">
                <a:latin typeface="Times New Roman" panose="02020603050405020304" pitchFamily="18" charset="0"/>
                <a:cs typeface="Times New Roman" panose="02020603050405020304" pitchFamily="18" charset="0"/>
              </a:rPr>
              <a:t>may also do a better job of capturing </a:t>
            </a:r>
            <a:r>
              <a:rPr lang="en-US" sz="2400" b="1" dirty="0">
                <a:latin typeface="Times New Roman" panose="02020603050405020304" pitchFamily="18" charset="0"/>
                <a:cs typeface="Times New Roman" panose="02020603050405020304" pitchFamily="18" charset="0"/>
              </a:rPr>
              <a:t>synonymy</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For example, in a sparse vector representation, dimensions for synonyms like </a:t>
            </a:r>
            <a:r>
              <a:rPr lang="en-US" sz="2400" b="1" dirty="0">
                <a:latin typeface="Times New Roman" panose="02020603050405020304" pitchFamily="18" charset="0"/>
                <a:cs typeface="Times New Roman" panose="02020603050405020304" pitchFamily="18" charset="0"/>
              </a:rPr>
              <a:t>car</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automobile</a:t>
            </a:r>
            <a:r>
              <a:rPr lang="en-US" sz="2400" dirty="0">
                <a:latin typeface="Times New Roman" panose="02020603050405020304" pitchFamily="18" charset="0"/>
                <a:cs typeface="Times New Roman" panose="02020603050405020304" pitchFamily="18" charset="0"/>
              </a:rPr>
              <a:t> dimension are distinct and unrelated; </a:t>
            </a:r>
            <a:r>
              <a:rPr lang="en-US" sz="2400" b="1" dirty="0">
                <a:latin typeface="Times New Roman" panose="02020603050405020304" pitchFamily="18" charset="0"/>
                <a:cs typeface="Times New Roman" panose="02020603050405020304" pitchFamily="18" charset="0"/>
              </a:rPr>
              <a:t>sparse vectors </a:t>
            </a:r>
            <a:r>
              <a:rPr lang="en-US" sz="2400" dirty="0">
                <a:latin typeface="Times New Roman" panose="02020603050405020304" pitchFamily="18" charset="0"/>
                <a:cs typeface="Times New Roman" panose="02020603050405020304" pitchFamily="18" charset="0"/>
              </a:rPr>
              <a:t>may thus fail to capture the similarity between a word with </a:t>
            </a:r>
            <a:r>
              <a:rPr lang="en-US" sz="2400" b="1" dirty="0">
                <a:latin typeface="Times New Roman" panose="02020603050405020304" pitchFamily="18" charset="0"/>
                <a:cs typeface="Times New Roman" panose="02020603050405020304" pitchFamily="18" charset="0"/>
              </a:rPr>
              <a:t>car</a:t>
            </a:r>
            <a:r>
              <a:rPr lang="en-US" sz="2400" dirty="0">
                <a:latin typeface="Times New Roman" panose="02020603050405020304" pitchFamily="18" charset="0"/>
                <a:cs typeface="Times New Roman" panose="02020603050405020304" pitchFamily="18" charset="0"/>
              </a:rPr>
              <a:t> as a neighbor and a word with </a:t>
            </a:r>
            <a:r>
              <a:rPr lang="en-US" sz="2400" b="1" dirty="0">
                <a:latin typeface="Times New Roman" panose="02020603050405020304" pitchFamily="18" charset="0"/>
                <a:cs typeface="Times New Roman" panose="02020603050405020304" pitchFamily="18" charset="0"/>
              </a:rPr>
              <a:t>automobile</a:t>
            </a:r>
            <a:r>
              <a:rPr lang="en-US" sz="2400" dirty="0">
                <a:latin typeface="Times New Roman" panose="02020603050405020304" pitchFamily="18" charset="0"/>
                <a:cs typeface="Times New Roman" panose="02020603050405020304" pitchFamily="18" charset="0"/>
              </a:rPr>
              <a:t> as a neighbor.</a:t>
            </a:r>
          </a:p>
          <a:p>
            <a:pPr algn="just">
              <a:lnSpc>
                <a:spcPct val="150000"/>
              </a:lnSpc>
            </a:pPr>
            <a:r>
              <a:rPr lang="en-US" sz="2400" dirty="0">
                <a:latin typeface="Times New Roman" panose="02020603050405020304" pitchFamily="18" charset="0"/>
                <a:cs typeface="Times New Roman" panose="02020603050405020304" pitchFamily="18" charset="0"/>
              </a:rPr>
              <a:t>We introduce one method for computing embeddings: skip-gram with negative sampling, sometimes called </a:t>
            </a:r>
            <a:r>
              <a:rPr lang="en-US" sz="2400" b="1" dirty="0">
                <a:latin typeface="Times New Roman" panose="02020603050405020304" pitchFamily="18" charset="0"/>
                <a:cs typeface="Times New Roman" panose="02020603050405020304" pitchFamily="18" charset="0"/>
              </a:rPr>
              <a:t>SGNS</a:t>
            </a:r>
            <a:r>
              <a:rPr lang="en-US" sz="2400" dirty="0">
                <a:latin typeface="Times New Roman" panose="02020603050405020304" pitchFamily="18" charset="0"/>
                <a:cs typeface="Times New Roman" panose="02020603050405020304" pitchFamily="18" charset="0"/>
              </a:rPr>
              <a:t>. The skip-gram algorithm is one of two algorithms in a software package called word2vec, and so sometimes the algorithm is loosely referred to as </a:t>
            </a:r>
            <a:r>
              <a:rPr lang="en-US" sz="2400" b="1" dirty="0">
                <a:latin typeface="Times New Roman" panose="02020603050405020304" pitchFamily="18" charset="0"/>
                <a:cs typeface="Times New Roman" panose="02020603050405020304" pitchFamily="18" charset="0"/>
              </a:rPr>
              <a:t>word2vec</a:t>
            </a:r>
            <a:r>
              <a:rPr lang="en-US" sz="2400" dirty="0">
                <a:latin typeface="Times New Roman" panose="02020603050405020304" pitchFamily="18" charset="0"/>
                <a:cs typeface="Times New Roman" panose="02020603050405020304" pitchFamily="18" charset="0"/>
              </a:rPr>
              <a:t>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22</a:t>
            </a:fld>
            <a:endParaRPr lang="en-GB" dirty="0"/>
          </a:p>
        </p:txBody>
      </p:sp>
    </p:spTree>
    <p:extLst>
      <p:ext uri="{BB962C8B-B14F-4D97-AF65-F5344CB8AC3E}">
        <p14:creationId xmlns:p14="http://schemas.microsoft.com/office/powerpoint/2010/main" val="3546139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Word2vec</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word2vec methods are fast, efficient to train, and easily available online with code and pretrained embeddings. </a:t>
            </a:r>
          </a:p>
          <a:p>
            <a:pPr algn="just">
              <a:lnSpc>
                <a:spcPct val="150000"/>
              </a:lnSpc>
            </a:pPr>
            <a:r>
              <a:rPr lang="en-US" sz="2400" dirty="0">
                <a:latin typeface="Times New Roman" panose="02020603050405020304" pitchFamily="18" charset="0"/>
                <a:cs typeface="Times New Roman" panose="02020603050405020304" pitchFamily="18" charset="0"/>
              </a:rPr>
              <a:t>Word2vec embeddings are static beddings, meaning that the method learns one fixed embedding for each word in the vocabulary. </a:t>
            </a:r>
          </a:p>
          <a:p>
            <a:pPr algn="just">
              <a:lnSpc>
                <a:spcPct val="150000"/>
              </a:lnSpc>
            </a:pPr>
            <a:r>
              <a:rPr lang="en-US" sz="2400" dirty="0">
                <a:latin typeface="Times New Roman" panose="02020603050405020304" pitchFamily="18" charset="0"/>
                <a:cs typeface="Times New Roman" panose="02020603050405020304" pitchFamily="18" charset="0"/>
              </a:rPr>
              <a:t>We’ll introduce methods for learning dynamic contextual embeddings like the popular family of </a:t>
            </a:r>
            <a:r>
              <a:rPr lang="en-US" sz="2400" b="1" dirty="0">
                <a:latin typeface="Times New Roman" panose="02020603050405020304" pitchFamily="18" charset="0"/>
                <a:cs typeface="Times New Roman" panose="02020603050405020304" pitchFamily="18" charset="0"/>
              </a:rPr>
              <a:t>BERT</a:t>
            </a:r>
            <a:r>
              <a:rPr lang="en-US" sz="2400" dirty="0">
                <a:latin typeface="Times New Roman" panose="02020603050405020304" pitchFamily="18" charset="0"/>
                <a:cs typeface="Times New Roman" panose="02020603050405020304" pitchFamily="18" charset="0"/>
              </a:rPr>
              <a:t> representations, in which the vector for each word is different in different contexts.</a:t>
            </a:r>
          </a:p>
          <a:p>
            <a:pPr algn="just">
              <a:lnSpc>
                <a:spcPct val="150000"/>
              </a:lnSpc>
            </a:pPr>
            <a:r>
              <a:rPr lang="en-US" sz="2400" dirty="0">
                <a:latin typeface="Times New Roman" panose="02020603050405020304" pitchFamily="18" charset="0"/>
                <a:cs typeface="Times New Roman" panose="02020603050405020304" pitchFamily="18" charset="0"/>
              </a:rPr>
              <a:t>The intuition of word2vec is that instead of counting how often each word </a:t>
            </a:r>
            <a:r>
              <a:rPr lang="en-US" sz="2400" b="1" dirty="0">
                <a:latin typeface="Times New Roman" panose="02020603050405020304" pitchFamily="18" charset="0"/>
                <a:cs typeface="Times New Roman" panose="02020603050405020304" pitchFamily="18" charset="0"/>
              </a:rPr>
              <a:t>w</a:t>
            </a:r>
            <a:r>
              <a:rPr lang="en-US" sz="2400" dirty="0">
                <a:latin typeface="Times New Roman" panose="02020603050405020304" pitchFamily="18" charset="0"/>
                <a:cs typeface="Times New Roman" panose="02020603050405020304" pitchFamily="18" charset="0"/>
              </a:rPr>
              <a:t> occurs near, say, </a:t>
            </a:r>
            <a:r>
              <a:rPr lang="en-US" sz="2400" b="1" dirty="0">
                <a:latin typeface="Times New Roman" panose="02020603050405020304" pitchFamily="18" charset="0"/>
                <a:cs typeface="Times New Roman" panose="02020603050405020304" pitchFamily="18" charset="0"/>
              </a:rPr>
              <a:t>apricot</a:t>
            </a:r>
            <a:r>
              <a:rPr lang="en-US" sz="2400" dirty="0">
                <a:latin typeface="Times New Roman" panose="02020603050405020304" pitchFamily="18" charset="0"/>
                <a:cs typeface="Times New Roman" panose="02020603050405020304" pitchFamily="18" charset="0"/>
              </a:rPr>
              <a:t>, we’ll instead train a classifier on a binary prediction task: “Is word </a:t>
            </a:r>
            <a:r>
              <a:rPr lang="en-US" sz="2400" b="1" dirty="0">
                <a:latin typeface="Times New Roman" panose="02020603050405020304" pitchFamily="18" charset="0"/>
                <a:cs typeface="Times New Roman" panose="02020603050405020304" pitchFamily="18" charset="0"/>
              </a:rPr>
              <a:t>w</a:t>
            </a:r>
            <a:r>
              <a:rPr lang="en-US" sz="2400" dirty="0">
                <a:latin typeface="Times New Roman" panose="02020603050405020304" pitchFamily="18" charset="0"/>
                <a:cs typeface="Times New Roman" panose="02020603050405020304" pitchFamily="18" charset="0"/>
              </a:rPr>
              <a:t> likely to show up near </a:t>
            </a:r>
            <a:r>
              <a:rPr lang="en-US" sz="2400" b="1" dirty="0">
                <a:latin typeface="Times New Roman" panose="02020603050405020304" pitchFamily="18" charset="0"/>
                <a:cs typeface="Times New Roman" panose="02020603050405020304" pitchFamily="18" charset="0"/>
              </a:rPr>
              <a:t>apricot</a:t>
            </a:r>
            <a:r>
              <a:rPr lang="en-US" sz="2400" dirty="0">
                <a:latin typeface="Times New Roman" panose="02020603050405020304" pitchFamily="18" charset="0"/>
                <a:cs typeface="Times New Roman" panose="02020603050405020304" pitchFamily="18" charset="0"/>
              </a:rPr>
              <a:t>?” </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23</a:t>
            </a:fld>
            <a:endParaRPr lang="en-GB" dirty="0"/>
          </a:p>
        </p:txBody>
      </p:sp>
    </p:spTree>
    <p:extLst>
      <p:ext uri="{BB962C8B-B14F-4D97-AF65-F5344CB8AC3E}">
        <p14:creationId xmlns:p14="http://schemas.microsoft.com/office/powerpoint/2010/main" val="1663854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Word2vec</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5565947"/>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word2vec is a much simpler model than the </a:t>
            </a:r>
            <a:r>
              <a:rPr lang="en-US" sz="2400" b="1" dirty="0">
                <a:latin typeface="Times New Roman" panose="02020603050405020304" pitchFamily="18" charset="0"/>
                <a:cs typeface="Times New Roman" panose="02020603050405020304" pitchFamily="18" charset="0"/>
              </a:rPr>
              <a:t>neural network </a:t>
            </a:r>
            <a:r>
              <a:rPr lang="en-US" sz="2400" dirty="0">
                <a:latin typeface="Times New Roman" panose="02020603050405020304" pitchFamily="18" charset="0"/>
                <a:cs typeface="Times New Roman" panose="02020603050405020304" pitchFamily="18" charset="0"/>
              </a:rPr>
              <a:t>language model, in two ways. </a:t>
            </a:r>
          </a:p>
          <a:p>
            <a:pPr algn="just">
              <a:lnSpc>
                <a:spcPct val="150000"/>
              </a:lnSpc>
            </a:pPr>
            <a:r>
              <a:rPr lang="en-US" sz="2400" dirty="0">
                <a:latin typeface="Times New Roman" panose="02020603050405020304" pitchFamily="18" charset="0"/>
                <a:cs typeface="Times New Roman" panose="02020603050405020304" pitchFamily="18" charset="0"/>
              </a:rPr>
              <a:t>First, word2vec simplifies the task (making it binary classification instead of word prediction). Second, word2vec simplifies the architecture (training a logistic regression classifier instead of a multi-layer neural network with hidden layers). The intuition of skip-gram is:</a:t>
            </a:r>
          </a:p>
          <a:p>
            <a:pPr algn="just">
              <a:lnSpc>
                <a:spcPct val="150000"/>
              </a:lnSpc>
            </a:pPr>
            <a:r>
              <a:rPr lang="en-US" sz="2400" dirty="0">
                <a:latin typeface="Times New Roman" panose="02020603050405020304" pitchFamily="18" charset="0"/>
                <a:cs typeface="Times New Roman" panose="02020603050405020304" pitchFamily="18" charset="0"/>
              </a:rPr>
              <a:t>1. Treat the target word and a neighboring context word as positive examples.</a:t>
            </a:r>
          </a:p>
          <a:p>
            <a:pPr algn="just">
              <a:lnSpc>
                <a:spcPct val="150000"/>
              </a:lnSpc>
            </a:pPr>
            <a:r>
              <a:rPr lang="en-US" sz="2400" dirty="0">
                <a:latin typeface="Times New Roman" panose="02020603050405020304" pitchFamily="18" charset="0"/>
                <a:cs typeface="Times New Roman" panose="02020603050405020304" pitchFamily="18" charset="0"/>
              </a:rPr>
              <a:t>2. Randomly sample other words in the lexicon to get negative samples.</a:t>
            </a:r>
          </a:p>
          <a:p>
            <a:pPr algn="just">
              <a:lnSpc>
                <a:spcPct val="150000"/>
              </a:lnSpc>
            </a:pPr>
            <a:r>
              <a:rPr lang="en-US" sz="2400" dirty="0">
                <a:latin typeface="Times New Roman" panose="02020603050405020304" pitchFamily="18" charset="0"/>
                <a:cs typeface="Times New Roman" panose="02020603050405020304" pitchFamily="18" charset="0"/>
              </a:rPr>
              <a:t>3. Use logistic regression to train a classifier to distinguish those two cases.</a:t>
            </a:r>
          </a:p>
          <a:p>
            <a:pPr algn="just">
              <a:lnSpc>
                <a:spcPct val="150000"/>
              </a:lnSpc>
            </a:pPr>
            <a:r>
              <a:rPr lang="en-US" sz="2400" dirty="0">
                <a:latin typeface="Times New Roman" panose="02020603050405020304" pitchFamily="18" charset="0"/>
                <a:cs typeface="Times New Roman" panose="02020603050405020304" pitchFamily="18" charset="0"/>
              </a:rPr>
              <a:t>4. Use the learned weights as the embeddings.</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24</a:t>
            </a:fld>
            <a:endParaRPr lang="en-GB" dirty="0"/>
          </a:p>
        </p:txBody>
      </p:sp>
    </p:spTree>
    <p:extLst>
      <p:ext uri="{BB962C8B-B14F-4D97-AF65-F5344CB8AC3E}">
        <p14:creationId xmlns:p14="http://schemas.microsoft.com/office/powerpoint/2010/main" val="3962062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Learning skip-gram embeddings</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121228" y="1095708"/>
            <a:ext cx="9949543" cy="3349956"/>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learning algorithm for skip-gram embeddings takes as input a corpus of text, and a chosen vocabulary size </a:t>
            </a:r>
            <a:r>
              <a:rPr lang="en-US" sz="2400" b="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It begins by assigning a random embedding vector for each of the </a:t>
            </a:r>
            <a:r>
              <a:rPr lang="en-US" sz="2400" b="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vocabulary words, and then proceeds to iteratively shift the embedding of each word </a:t>
            </a:r>
            <a:r>
              <a:rPr lang="en-US" sz="2400" b="1" dirty="0">
                <a:latin typeface="Times New Roman" panose="02020603050405020304" pitchFamily="18" charset="0"/>
                <a:cs typeface="Times New Roman" panose="02020603050405020304" pitchFamily="18" charset="0"/>
              </a:rPr>
              <a:t>w</a:t>
            </a:r>
            <a:r>
              <a:rPr lang="en-US" sz="2400" dirty="0">
                <a:latin typeface="Times New Roman" panose="02020603050405020304" pitchFamily="18" charset="0"/>
                <a:cs typeface="Times New Roman" panose="02020603050405020304" pitchFamily="18" charset="0"/>
              </a:rPr>
              <a:t> to be more like the embeddings of words that occur nearby in texts, and less like the embeddings of words that don’t occur nearby. Let’s start by considering a single piece of training data:</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25</a:t>
            </a:fld>
            <a:endParaRPr lang="en-GB" dirty="0"/>
          </a:p>
        </p:txBody>
      </p:sp>
      <p:pic>
        <p:nvPicPr>
          <p:cNvPr id="6" name="Picture 5">
            <a:extLst>
              <a:ext uri="{FF2B5EF4-FFF2-40B4-BE49-F238E27FC236}">
                <a16:creationId xmlns:a16="http://schemas.microsoft.com/office/drawing/2014/main" id="{8AEC9EE1-9723-BC3D-8DF2-A35FF6024F6F}"/>
              </a:ext>
            </a:extLst>
          </p:cNvPr>
          <p:cNvPicPr>
            <a:picLocks noChangeAspect="1"/>
          </p:cNvPicPr>
          <p:nvPr/>
        </p:nvPicPr>
        <p:blipFill>
          <a:blip r:embed="rId2"/>
          <a:stretch>
            <a:fillRect/>
          </a:stretch>
        </p:blipFill>
        <p:spPr>
          <a:xfrm>
            <a:off x="2309119" y="5067632"/>
            <a:ext cx="7200900" cy="666750"/>
          </a:xfrm>
          <a:prstGeom prst="rect">
            <a:avLst/>
          </a:prstGeom>
        </p:spPr>
      </p:pic>
    </p:spTree>
    <p:extLst>
      <p:ext uri="{BB962C8B-B14F-4D97-AF65-F5344CB8AC3E}">
        <p14:creationId xmlns:p14="http://schemas.microsoft.com/office/powerpoint/2010/main" val="2250241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Learning skip-gram embeddings</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316536" y="1998439"/>
            <a:ext cx="9949543" cy="113396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This example has a target word </a:t>
            </a:r>
            <a:r>
              <a:rPr lang="en-US" sz="2400" b="1" dirty="0">
                <a:latin typeface="Times New Roman" panose="02020603050405020304" pitchFamily="18" charset="0"/>
                <a:cs typeface="Times New Roman" panose="02020603050405020304" pitchFamily="18" charset="0"/>
              </a:rPr>
              <a:t>w</a:t>
            </a:r>
            <a:r>
              <a:rPr lang="en-US" sz="2400" dirty="0">
                <a:latin typeface="Times New Roman" panose="02020603050405020304" pitchFamily="18" charset="0"/>
                <a:cs typeface="Times New Roman" panose="02020603050405020304" pitchFamily="18" charset="0"/>
              </a:rPr>
              <a:t> (apricot), and 4 context words in the </a:t>
            </a:r>
            <a:r>
              <a:rPr lang="en-US" sz="2400" b="1" dirty="0">
                <a:latin typeface="Times New Roman" panose="02020603050405020304" pitchFamily="18" charset="0"/>
                <a:cs typeface="Times New Roman" panose="02020603050405020304" pitchFamily="18" charset="0"/>
              </a:rPr>
              <a:t>L</a:t>
            </a:r>
            <a:r>
              <a:rPr lang="en-US" sz="2400" dirty="0">
                <a:latin typeface="Times New Roman" panose="02020603050405020304" pitchFamily="18" charset="0"/>
                <a:cs typeface="Times New Roman" panose="02020603050405020304" pitchFamily="18" charset="0"/>
              </a:rPr>
              <a:t> = ±2</a:t>
            </a:r>
          </a:p>
          <a:p>
            <a:pPr algn="just">
              <a:lnSpc>
                <a:spcPct val="150000"/>
              </a:lnSpc>
            </a:pPr>
            <a:r>
              <a:rPr lang="en-US" sz="2400" dirty="0">
                <a:latin typeface="Times New Roman" panose="02020603050405020304" pitchFamily="18" charset="0"/>
                <a:cs typeface="Times New Roman" panose="02020603050405020304" pitchFamily="18" charset="0"/>
              </a:rPr>
              <a:t>window, resulting in 4 positive training instances (on the left below):</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26</a:t>
            </a:fld>
            <a:endParaRPr lang="en-GB" dirty="0"/>
          </a:p>
        </p:txBody>
      </p:sp>
      <p:pic>
        <p:nvPicPr>
          <p:cNvPr id="6" name="Picture 5">
            <a:extLst>
              <a:ext uri="{FF2B5EF4-FFF2-40B4-BE49-F238E27FC236}">
                <a16:creationId xmlns:a16="http://schemas.microsoft.com/office/drawing/2014/main" id="{8AEC9EE1-9723-BC3D-8DF2-A35FF6024F6F}"/>
              </a:ext>
            </a:extLst>
          </p:cNvPr>
          <p:cNvPicPr>
            <a:picLocks noChangeAspect="1"/>
          </p:cNvPicPr>
          <p:nvPr/>
        </p:nvPicPr>
        <p:blipFill>
          <a:blip r:embed="rId2"/>
          <a:stretch>
            <a:fillRect/>
          </a:stretch>
        </p:blipFill>
        <p:spPr>
          <a:xfrm>
            <a:off x="2051667" y="1292728"/>
            <a:ext cx="7200900" cy="666750"/>
          </a:xfrm>
          <a:prstGeom prst="rect">
            <a:avLst/>
          </a:prstGeom>
        </p:spPr>
      </p:pic>
      <p:pic>
        <p:nvPicPr>
          <p:cNvPr id="7" name="Picture 6">
            <a:extLst>
              <a:ext uri="{FF2B5EF4-FFF2-40B4-BE49-F238E27FC236}">
                <a16:creationId xmlns:a16="http://schemas.microsoft.com/office/drawing/2014/main" id="{93DA06B9-B95E-6E97-31FC-6462513F0731}"/>
              </a:ext>
            </a:extLst>
          </p:cNvPr>
          <p:cNvPicPr>
            <a:picLocks noChangeAspect="1"/>
          </p:cNvPicPr>
          <p:nvPr/>
        </p:nvPicPr>
        <p:blipFill>
          <a:blip r:embed="rId3"/>
          <a:stretch>
            <a:fillRect/>
          </a:stretch>
        </p:blipFill>
        <p:spPr>
          <a:xfrm>
            <a:off x="2687807" y="3777589"/>
            <a:ext cx="7029450" cy="1933575"/>
          </a:xfrm>
          <a:prstGeom prst="rect">
            <a:avLst/>
          </a:prstGeom>
        </p:spPr>
      </p:pic>
    </p:spTree>
    <p:extLst>
      <p:ext uri="{BB962C8B-B14F-4D97-AF65-F5344CB8AC3E}">
        <p14:creationId xmlns:p14="http://schemas.microsoft.com/office/powerpoint/2010/main" val="3369641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Other kinds of static embeddings</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218882" y="1084039"/>
            <a:ext cx="9949543" cy="5011949"/>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There are many kinds of </a:t>
            </a:r>
            <a:r>
              <a:rPr lang="en-US" sz="2400" b="1" dirty="0">
                <a:latin typeface="Times New Roman" panose="02020603050405020304" pitchFamily="18" charset="0"/>
                <a:cs typeface="Times New Roman" panose="02020603050405020304" pitchFamily="18" charset="0"/>
              </a:rPr>
              <a:t>static embeddings</a:t>
            </a:r>
            <a:r>
              <a:rPr lang="en-US" sz="2400" dirty="0">
                <a:latin typeface="Times New Roman" panose="02020603050405020304" pitchFamily="18" charset="0"/>
                <a:cs typeface="Times New Roman" panose="02020603050405020304" pitchFamily="18" charset="0"/>
              </a:rPr>
              <a:t>. An extension of </a:t>
            </a:r>
            <a:r>
              <a:rPr lang="en-US" sz="2400" b="1" dirty="0">
                <a:latin typeface="Times New Roman" panose="02020603050405020304" pitchFamily="18" charset="0"/>
                <a:cs typeface="Times New Roman" panose="02020603050405020304" pitchFamily="18" charset="0"/>
              </a:rPr>
              <a:t>word2vec</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fasttext</a:t>
            </a:r>
            <a:r>
              <a:rPr lang="en-US" sz="2400" dirty="0">
                <a:latin typeface="Times New Roman" panose="02020603050405020304" pitchFamily="18" charset="0"/>
                <a:cs typeface="Times New Roman" panose="02020603050405020304" pitchFamily="18" charset="0"/>
              </a:rPr>
              <a:t>, addresses a problem with word2vec as we have presented it so far: it has no good way to deal with </a:t>
            </a:r>
            <a:r>
              <a:rPr lang="en-US" sz="2400" b="1" dirty="0">
                <a:latin typeface="Times New Roman" panose="02020603050405020304" pitchFamily="18" charset="0"/>
                <a:cs typeface="Times New Roman" panose="02020603050405020304" pitchFamily="18" charset="0"/>
              </a:rPr>
              <a:t>unknown words</a:t>
            </a:r>
            <a:r>
              <a:rPr lang="en-US" sz="2400" dirty="0">
                <a:latin typeface="Times New Roman" panose="02020603050405020304" pitchFamily="18" charset="0"/>
                <a:cs typeface="Times New Roman" panose="02020603050405020304" pitchFamily="18" charset="0"/>
              </a:rPr>
              <a:t>—words that appear in a test corpus but were unseen in the training corpus. </a:t>
            </a:r>
          </a:p>
          <a:p>
            <a:pPr algn="just">
              <a:lnSpc>
                <a:spcPct val="150000"/>
              </a:lnSpc>
            </a:pPr>
            <a:r>
              <a:rPr lang="en-US" sz="2400" dirty="0">
                <a:latin typeface="Times New Roman" panose="02020603050405020304" pitchFamily="18" charset="0"/>
                <a:cs typeface="Times New Roman" panose="02020603050405020304" pitchFamily="18" charset="0"/>
              </a:rPr>
              <a:t>Another very widely used static embedding model is </a:t>
            </a:r>
            <a:r>
              <a:rPr lang="en-US" sz="2400" b="1" dirty="0" err="1">
                <a:latin typeface="Times New Roman" panose="02020603050405020304" pitchFamily="18" charset="0"/>
                <a:cs typeface="Times New Roman" panose="02020603050405020304" pitchFamily="18" charset="0"/>
              </a:rPr>
              <a:t>GloVe</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short for Global Vectors, because the model is based on capturing global corpus statistics. </a:t>
            </a:r>
            <a:r>
              <a:rPr lang="en-US" sz="2400" dirty="0" err="1">
                <a:latin typeface="Times New Roman" panose="02020603050405020304" pitchFamily="18" charset="0"/>
                <a:cs typeface="Times New Roman" panose="02020603050405020304" pitchFamily="18" charset="0"/>
              </a:rPr>
              <a:t>GloVe</a:t>
            </a:r>
            <a:r>
              <a:rPr lang="en-US" sz="2400" dirty="0">
                <a:latin typeface="Times New Roman" panose="02020603050405020304" pitchFamily="18" charset="0"/>
                <a:cs typeface="Times New Roman" panose="02020603050405020304" pitchFamily="18" charset="0"/>
              </a:rPr>
              <a:t> is based on ratios of probabilities from the word-word cooccurrence matrix, combining the intuitions of count-based models while also capturing the linear structures used by methods like word2vec.</a:t>
            </a: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27</a:t>
            </a:fld>
            <a:endParaRPr lang="en-GB" dirty="0"/>
          </a:p>
        </p:txBody>
      </p:sp>
    </p:spTree>
    <p:extLst>
      <p:ext uri="{BB962C8B-B14F-4D97-AF65-F5344CB8AC3E}">
        <p14:creationId xmlns:p14="http://schemas.microsoft.com/office/powerpoint/2010/main" val="2857636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F7D5-A710-ED11-AF54-F07D28AA98A9}"/>
              </a:ext>
            </a:extLst>
          </p:cNvPr>
          <p:cNvSpPr txBox="1">
            <a:spLocks noGrp="1" noRot="1" noMove="1" noResize="1" noEditPoints="1" noAdjustHandles="1" noChangeArrowheads="1" noChangeShapeType="1"/>
          </p:cNvSpPr>
          <p:nvPr/>
        </p:nvSpPr>
        <p:spPr>
          <a:xfrm>
            <a:off x="1899557" y="305192"/>
            <a:ext cx="8392885"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Semantic properties of embeddings</a:t>
            </a:r>
            <a:endParaRPr lang="en-GB"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0E7BF7-9240-E61C-7520-97ED4F1594B0}"/>
              </a:ext>
            </a:extLst>
          </p:cNvPr>
          <p:cNvSpPr txBox="1"/>
          <p:nvPr/>
        </p:nvSpPr>
        <p:spPr>
          <a:xfrm>
            <a:off x="1218882" y="1084039"/>
            <a:ext cx="9949543" cy="1687963"/>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Different types of similarity or association</a:t>
            </a:r>
          </a:p>
          <a:p>
            <a:pPr algn="just">
              <a:lnSpc>
                <a:spcPct val="150000"/>
              </a:lnSpc>
            </a:pPr>
            <a:r>
              <a:rPr lang="en-US" sz="2400" dirty="0">
                <a:latin typeface="Times New Roman" panose="02020603050405020304" pitchFamily="18" charset="0"/>
                <a:cs typeface="Times New Roman" panose="02020603050405020304" pitchFamily="18" charset="0"/>
              </a:rPr>
              <a:t>Analogy/Relational Similarity</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85F742D-33AB-5437-1217-F3315E86B9D8}"/>
              </a:ext>
            </a:extLst>
          </p:cNvPr>
          <p:cNvSpPr>
            <a:spLocks noGrp="1"/>
          </p:cNvSpPr>
          <p:nvPr>
            <p:ph type="sldNum" sz="quarter" idx="12"/>
          </p:nvPr>
        </p:nvSpPr>
        <p:spPr/>
        <p:txBody>
          <a:bodyPr/>
          <a:lstStyle/>
          <a:p>
            <a:fld id="{008B654D-6898-4783-8329-E1EB680B937A}" type="slidenum">
              <a:rPr lang="en-GB" smtClean="0"/>
              <a:t>28</a:t>
            </a:fld>
            <a:endParaRPr lang="en-GB" dirty="0"/>
          </a:p>
        </p:txBody>
      </p:sp>
      <p:pic>
        <p:nvPicPr>
          <p:cNvPr id="6" name="Picture 5">
            <a:extLst>
              <a:ext uri="{FF2B5EF4-FFF2-40B4-BE49-F238E27FC236}">
                <a16:creationId xmlns:a16="http://schemas.microsoft.com/office/drawing/2014/main" id="{8DA2115F-CA77-03B3-A6AB-6A52F42AF435}"/>
              </a:ext>
            </a:extLst>
          </p:cNvPr>
          <p:cNvPicPr>
            <a:picLocks noChangeAspect="1"/>
          </p:cNvPicPr>
          <p:nvPr/>
        </p:nvPicPr>
        <p:blipFill>
          <a:blip r:embed="rId2"/>
          <a:stretch>
            <a:fillRect/>
          </a:stretch>
        </p:blipFill>
        <p:spPr>
          <a:xfrm>
            <a:off x="907186" y="2190524"/>
            <a:ext cx="9791700" cy="3790950"/>
          </a:xfrm>
          <a:prstGeom prst="rect">
            <a:avLst/>
          </a:prstGeom>
        </p:spPr>
      </p:pic>
      <p:pic>
        <p:nvPicPr>
          <p:cNvPr id="8" name="Picture 7">
            <a:extLst>
              <a:ext uri="{FF2B5EF4-FFF2-40B4-BE49-F238E27FC236}">
                <a16:creationId xmlns:a16="http://schemas.microsoft.com/office/drawing/2014/main" id="{D85F9144-D031-B63E-2625-5B201FC60AB8}"/>
              </a:ext>
            </a:extLst>
          </p:cNvPr>
          <p:cNvPicPr>
            <a:picLocks noChangeAspect="1"/>
          </p:cNvPicPr>
          <p:nvPr/>
        </p:nvPicPr>
        <p:blipFill>
          <a:blip r:embed="rId3"/>
          <a:stretch>
            <a:fillRect/>
          </a:stretch>
        </p:blipFill>
        <p:spPr>
          <a:xfrm>
            <a:off x="3931373" y="6061352"/>
            <a:ext cx="3743325" cy="323850"/>
          </a:xfrm>
          <a:prstGeom prst="rect">
            <a:avLst/>
          </a:prstGeom>
        </p:spPr>
      </p:pic>
    </p:spTree>
    <p:extLst>
      <p:ext uri="{BB962C8B-B14F-4D97-AF65-F5344CB8AC3E}">
        <p14:creationId xmlns:p14="http://schemas.microsoft.com/office/powerpoint/2010/main" val="2013984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06FA-9858-FA5B-72C1-3ED938A93C74}"/>
              </a:ext>
            </a:extLst>
          </p:cNvPr>
          <p:cNvSpPr>
            <a:spLocks noGrp="1"/>
          </p:cNvSpPr>
          <p:nvPr>
            <p:ph type="title"/>
          </p:nvPr>
        </p:nvSpPr>
        <p:spPr/>
        <p:txBody>
          <a:bodyPr/>
          <a:lstStyle/>
          <a:p>
            <a:r>
              <a:rPr lang="en-AU" dirty="0"/>
              <a:t>References</a:t>
            </a:r>
          </a:p>
        </p:txBody>
      </p:sp>
      <p:sp>
        <p:nvSpPr>
          <p:cNvPr id="3" name="Content Placeholder 2">
            <a:extLst>
              <a:ext uri="{FF2B5EF4-FFF2-40B4-BE49-F238E27FC236}">
                <a16:creationId xmlns:a16="http://schemas.microsoft.com/office/drawing/2014/main" id="{EEAE2593-C63B-FA3D-5FA5-98776E82159C}"/>
              </a:ext>
            </a:extLst>
          </p:cNvPr>
          <p:cNvSpPr>
            <a:spLocks noGrp="1"/>
          </p:cNvSpPr>
          <p:nvPr>
            <p:ph idx="1"/>
          </p:nvPr>
        </p:nvSpPr>
        <p:spPr/>
        <p:txBody>
          <a:bodyPr>
            <a:normAutofit lnSpcReduction="10000"/>
          </a:bodyPr>
          <a:lstStyle/>
          <a:p>
            <a:pPr algn="just"/>
            <a:r>
              <a:rPr lang="en-US" dirty="0"/>
              <a:t>Daniel </a:t>
            </a:r>
            <a:r>
              <a:rPr lang="en-US" dirty="0" err="1"/>
              <a:t>Jurafsky</a:t>
            </a:r>
            <a:r>
              <a:rPr lang="en-US" dirty="0"/>
              <a:t> and James H. Martin. Speech and Language Processing, 3rd edition</a:t>
            </a:r>
            <a:r>
              <a:rPr lang="en-US"/>
              <a:t>, 2025.</a:t>
            </a:r>
            <a:endParaRPr lang="en-US" dirty="0"/>
          </a:p>
          <a:p>
            <a:pPr algn="just"/>
            <a:r>
              <a:rPr lang="en-AU" dirty="0"/>
              <a:t>https://medium.com/@shandeep92/countvectorizer-vs-tfidfvectorizer-cf62d0a54fa4</a:t>
            </a:r>
            <a:endParaRPr lang="en-US" dirty="0"/>
          </a:p>
          <a:p>
            <a:pPr algn="just"/>
            <a:r>
              <a:rPr lang="en-AU" dirty="0"/>
              <a:t>https://medium.com/@abhishekjainindore24/tf-idf-in-nlp-term-frequency-inverse-document-frequency-e05b65932f1d</a:t>
            </a:r>
            <a:endParaRPr lang="en-US" dirty="0"/>
          </a:p>
          <a:p>
            <a:pPr algn="just"/>
            <a:r>
              <a:rPr lang="en-AU" dirty="0"/>
              <a:t>https://www.analyticsvidhya.com/blog/2024/07/tf-idf-matrix/</a:t>
            </a:r>
            <a:endParaRPr lang="en-US" dirty="0"/>
          </a:p>
          <a:p>
            <a:pPr algn="just"/>
            <a:r>
              <a:rPr lang="en-AU" dirty="0"/>
              <a:t>https://scikit-learn.org/stable/modules/generated/sklearn.feature_extraction.text.TfidfTransformer.html#sklearn.feature_extraction.text.TfidfTransformer</a:t>
            </a:r>
          </a:p>
          <a:p>
            <a:pPr algn="just"/>
            <a:endParaRPr lang="en-AU" dirty="0"/>
          </a:p>
        </p:txBody>
      </p:sp>
      <p:sp>
        <p:nvSpPr>
          <p:cNvPr id="4" name="Slide Number Placeholder 3">
            <a:extLst>
              <a:ext uri="{FF2B5EF4-FFF2-40B4-BE49-F238E27FC236}">
                <a16:creationId xmlns:a16="http://schemas.microsoft.com/office/drawing/2014/main" id="{07B4EB6A-E861-09A1-3DD2-49B13903B295}"/>
              </a:ext>
            </a:extLst>
          </p:cNvPr>
          <p:cNvSpPr>
            <a:spLocks noGrp="1"/>
          </p:cNvSpPr>
          <p:nvPr>
            <p:ph type="sldNum" sz="quarter" idx="12"/>
          </p:nvPr>
        </p:nvSpPr>
        <p:spPr/>
        <p:txBody>
          <a:bodyPr/>
          <a:lstStyle/>
          <a:p>
            <a:fld id="{008B654D-6898-4783-8329-E1EB680B937A}" type="slidenum">
              <a:rPr lang="en-GB" smtClean="0"/>
              <a:t>29</a:t>
            </a:fld>
            <a:endParaRPr lang="en-GB"/>
          </a:p>
        </p:txBody>
      </p:sp>
    </p:spTree>
    <p:extLst>
      <p:ext uri="{BB962C8B-B14F-4D97-AF65-F5344CB8AC3E}">
        <p14:creationId xmlns:p14="http://schemas.microsoft.com/office/powerpoint/2010/main" val="2417703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1227</TotalTime>
  <Words>2308</Words>
  <Application>Microsoft Office PowerPoint</Application>
  <PresentationFormat>Widescreen</PresentationFormat>
  <Paragraphs>135</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Ashraf Uddin</dc:creator>
  <cp:lastModifiedBy>Abdus Salam</cp:lastModifiedBy>
  <cp:revision>413</cp:revision>
  <dcterms:created xsi:type="dcterms:W3CDTF">2023-09-18T11:08:30Z</dcterms:created>
  <dcterms:modified xsi:type="dcterms:W3CDTF">2025-04-13T15:10:06Z</dcterms:modified>
</cp:coreProperties>
</file>