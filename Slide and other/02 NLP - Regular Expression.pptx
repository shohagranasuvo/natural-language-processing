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12" r:id="rId1"/>
  </p:sldMasterIdLst>
  <p:notesMasterIdLst>
    <p:notesMasterId r:id="rId23"/>
  </p:notesMasterIdLst>
  <p:handoutMasterIdLst>
    <p:handoutMasterId r:id="rId24"/>
  </p:handoutMasterIdLst>
  <p:sldIdLst>
    <p:sldId id="452" r:id="rId2"/>
    <p:sldId id="512" r:id="rId3"/>
    <p:sldId id="405" r:id="rId4"/>
    <p:sldId id="406" r:id="rId5"/>
    <p:sldId id="442" r:id="rId6"/>
    <p:sldId id="511" r:id="rId7"/>
    <p:sldId id="444" r:id="rId8"/>
    <p:sldId id="408" r:id="rId9"/>
    <p:sldId id="409" r:id="rId10"/>
    <p:sldId id="514" r:id="rId11"/>
    <p:sldId id="513" r:id="rId12"/>
    <p:sldId id="412" r:id="rId13"/>
    <p:sldId id="413" r:id="rId14"/>
    <p:sldId id="415" r:id="rId15"/>
    <p:sldId id="516" r:id="rId16"/>
    <p:sldId id="519" r:id="rId17"/>
    <p:sldId id="517" r:id="rId18"/>
    <p:sldId id="520" r:id="rId19"/>
    <p:sldId id="518" r:id="rId20"/>
    <p:sldId id="521" r:id="rId21"/>
    <p:sldId id="515" r:id="rId22"/>
  </p:sldIdLst>
  <p:sldSz cx="9144000" cy="5143500" type="screen16x9"/>
  <p:notesSz cx="6845300" cy="9396413"/>
  <p:defaultTextStyle>
    <a:defPPr>
      <a:defRPr lang="en-US"/>
    </a:defPPr>
    <a:lvl1pPr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1pPr>
    <a:lvl2pPr marL="4572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2pPr>
    <a:lvl3pPr marL="9144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3pPr>
    <a:lvl4pPr marL="13716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4pPr>
    <a:lvl5pPr marL="18288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5pPr>
    <a:lvl6pPr marL="2286000" algn="l" defTabSz="457200" rtl="0" eaLnBrk="1" latinLnBrk="0" hangingPunct="1">
      <a:defRPr sz="2400" kern="1200">
        <a:solidFill>
          <a:schemeClr val="tx1"/>
        </a:solidFill>
        <a:latin typeface="Lucida Sans" charset="0"/>
        <a:ea typeface="ＭＳ Ｐゴシック" charset="0"/>
        <a:cs typeface="ＭＳ Ｐゴシック" charset="0"/>
      </a:defRPr>
    </a:lvl6pPr>
    <a:lvl7pPr marL="2743200" algn="l" defTabSz="457200" rtl="0" eaLnBrk="1" latinLnBrk="0" hangingPunct="1">
      <a:defRPr sz="2400" kern="1200">
        <a:solidFill>
          <a:schemeClr val="tx1"/>
        </a:solidFill>
        <a:latin typeface="Lucida Sans" charset="0"/>
        <a:ea typeface="ＭＳ Ｐゴシック" charset="0"/>
        <a:cs typeface="ＭＳ Ｐゴシック" charset="0"/>
      </a:defRPr>
    </a:lvl7pPr>
    <a:lvl8pPr marL="3200400" algn="l" defTabSz="457200" rtl="0" eaLnBrk="1" latinLnBrk="0" hangingPunct="1">
      <a:defRPr sz="2400" kern="1200">
        <a:solidFill>
          <a:schemeClr val="tx1"/>
        </a:solidFill>
        <a:latin typeface="Lucida Sans" charset="0"/>
        <a:ea typeface="ＭＳ Ｐゴシック" charset="0"/>
        <a:cs typeface="ＭＳ Ｐゴシック" charset="0"/>
      </a:defRPr>
    </a:lvl8pPr>
    <a:lvl9pPr marL="3657600" algn="l" defTabSz="457200" rtl="0" eaLnBrk="1" latinLnBrk="0" hangingPunct="1">
      <a:defRPr sz="2400" kern="1200">
        <a:solidFill>
          <a:schemeClr val="tx1"/>
        </a:solidFill>
        <a:latin typeface="Lucida Sans"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2959">
          <p15:clr>
            <a:srgbClr val="A4A3A4"/>
          </p15:clr>
        </p15:guide>
        <p15:guide id="2" pos="215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6" frameSlides="1"/>
  <p:clrMru>
    <a:srgbClr val="0200FF"/>
    <a:srgbClr val="3365FF"/>
    <a:srgbClr val="0166FF"/>
    <a:srgbClr val="A4001D"/>
    <a:srgbClr val="A40508"/>
    <a:srgbClr val="A50021"/>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C119F9-5FAB-4DCA-B523-1C95219B8966}" v="26" dt="2025-10-29T11:18:22.49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2654" autoAdjust="0"/>
    <p:restoredTop sz="82353" autoAdjust="0"/>
  </p:normalViewPr>
  <p:slideViewPr>
    <p:cSldViewPr>
      <p:cViewPr varScale="1">
        <p:scale>
          <a:sx n="90" d="100"/>
          <a:sy n="90" d="100"/>
        </p:scale>
        <p:origin x="653" y="53"/>
      </p:cViewPr>
      <p:guideLst>
        <p:guide orient="horz" pos="162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Lst>
  </p:outlineViewPr>
  <p:notesTextViewPr>
    <p:cViewPr>
      <p:scale>
        <a:sx n="100" d="100"/>
        <a:sy n="100" d="100"/>
      </p:scale>
      <p:origin x="0" y="0"/>
    </p:cViewPr>
  </p:notesTextViewPr>
  <p:sorterViewPr>
    <p:cViewPr>
      <p:scale>
        <a:sx n="100" d="100"/>
        <a:sy n="100" d="100"/>
      </p:scale>
      <p:origin x="0" y="10240"/>
    </p:cViewPr>
  </p:sorterViewPr>
  <p:notesViewPr>
    <p:cSldViewPr snapToGrid="0" snapToObjects="1">
      <p:cViewPr varScale="1">
        <p:scale>
          <a:sx n="62" d="100"/>
          <a:sy n="62" d="100"/>
        </p:scale>
        <p:origin x="-2224" y="-112"/>
      </p:cViewPr>
      <p:guideLst>
        <p:guide orient="horz" pos="2959"/>
        <p:guide pos="2156"/>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_rels/viewProps.xml.rels><?xml version="1.0" encoding="UTF-8" standalone="yes"?>
<Relationships xmlns="http://schemas.openxmlformats.org/package/2006/relationships"><Relationship Id="rId3" Type="http://schemas.openxmlformats.org/officeDocument/2006/relationships/slide" Target="slides/slide6.xml"/><Relationship Id="rId2" Type="http://schemas.openxmlformats.org/officeDocument/2006/relationships/slide" Target="slides/slide5.xml"/><Relationship Id="rId1" Type="http://schemas.openxmlformats.org/officeDocument/2006/relationships/slide" Target="slides/slide4.xml"/><Relationship Id="rId6" Type="http://schemas.openxmlformats.org/officeDocument/2006/relationships/slide" Target="slides/slide9.xml"/><Relationship Id="rId5" Type="http://schemas.openxmlformats.org/officeDocument/2006/relationships/slide" Target="slides/slide8.xml"/><Relationship Id="rId4"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dus Salam" userId="0e2b1981-3d04-4857-a4cb-b2b53ead0854" providerId="ADAL" clId="{2FD18229-7601-4166-AE6D-EDAE7A66C71F}"/>
    <pc:docChg chg="undo redo custSel addSld delSld modSld">
      <pc:chgData name="Abdus Salam" userId="0e2b1981-3d04-4857-a4cb-b2b53ead0854" providerId="ADAL" clId="{2FD18229-7601-4166-AE6D-EDAE7A66C71F}" dt="2025-10-29T11:22:04.621" v="260" actId="14100"/>
      <pc:docMkLst>
        <pc:docMk/>
      </pc:docMkLst>
      <pc:sldChg chg="addSp modSp new mod">
        <pc:chgData name="Abdus Salam" userId="0e2b1981-3d04-4857-a4cb-b2b53ead0854" providerId="ADAL" clId="{2FD18229-7601-4166-AE6D-EDAE7A66C71F}" dt="2025-10-29T11:17:58.084" v="217" actId="113"/>
        <pc:sldMkLst>
          <pc:docMk/>
          <pc:sldMk cId="4103556744" sldId="516"/>
        </pc:sldMkLst>
        <pc:spChg chg="add mod">
          <ac:chgData name="Abdus Salam" userId="0e2b1981-3d04-4857-a4cb-b2b53ead0854" providerId="ADAL" clId="{2FD18229-7601-4166-AE6D-EDAE7A66C71F}" dt="2025-10-29T11:17:58.084" v="217" actId="113"/>
          <ac:spMkLst>
            <pc:docMk/>
            <pc:sldMk cId="4103556744" sldId="516"/>
            <ac:spMk id="4" creationId="{3FD66773-FF67-F24B-BF49-9CF242E3BE5B}"/>
          </ac:spMkLst>
        </pc:spChg>
      </pc:sldChg>
      <pc:sldChg chg="addSp delSp modSp add mod">
        <pc:chgData name="Abdus Salam" userId="0e2b1981-3d04-4857-a4cb-b2b53ead0854" providerId="ADAL" clId="{2FD18229-7601-4166-AE6D-EDAE7A66C71F}" dt="2025-10-29T11:21:29.804" v="257" actId="478"/>
        <pc:sldMkLst>
          <pc:docMk/>
          <pc:sldMk cId="790788541" sldId="517"/>
        </pc:sldMkLst>
        <pc:spChg chg="mod">
          <ac:chgData name="Abdus Salam" userId="0e2b1981-3d04-4857-a4cb-b2b53ead0854" providerId="ADAL" clId="{2FD18229-7601-4166-AE6D-EDAE7A66C71F}" dt="2025-10-29T11:17:46.541" v="213" actId="113"/>
          <ac:spMkLst>
            <pc:docMk/>
            <pc:sldMk cId="790788541" sldId="517"/>
            <ac:spMk id="4" creationId="{C662DF13-607E-BBF8-7954-22AC3219B111}"/>
          </ac:spMkLst>
        </pc:spChg>
        <pc:spChg chg="add del mod">
          <ac:chgData name="Abdus Salam" userId="0e2b1981-3d04-4857-a4cb-b2b53ead0854" providerId="ADAL" clId="{2FD18229-7601-4166-AE6D-EDAE7A66C71F}" dt="2025-10-29T11:21:29.804" v="257" actId="478"/>
          <ac:spMkLst>
            <pc:docMk/>
            <pc:sldMk cId="790788541" sldId="517"/>
            <ac:spMk id="5" creationId="{6634DE21-67BB-1868-3EA9-6D79E5B5F8B9}"/>
          </ac:spMkLst>
        </pc:spChg>
        <pc:spChg chg="add">
          <ac:chgData name="Abdus Salam" userId="0e2b1981-3d04-4857-a4cb-b2b53ead0854" providerId="ADAL" clId="{2FD18229-7601-4166-AE6D-EDAE7A66C71F}" dt="2025-10-29T11:16:08.546" v="179"/>
          <ac:spMkLst>
            <pc:docMk/>
            <pc:sldMk cId="790788541" sldId="517"/>
            <ac:spMk id="6" creationId="{884AA25E-92ED-7468-C101-5762FCD2A671}"/>
          </ac:spMkLst>
        </pc:spChg>
      </pc:sldChg>
      <pc:sldChg chg="addSp delSp modSp add mod">
        <pc:chgData name="Abdus Salam" userId="0e2b1981-3d04-4857-a4cb-b2b53ead0854" providerId="ADAL" clId="{2FD18229-7601-4166-AE6D-EDAE7A66C71F}" dt="2025-10-29T11:21:45.222" v="259" actId="478"/>
        <pc:sldMkLst>
          <pc:docMk/>
          <pc:sldMk cId="1720614651" sldId="518"/>
        </pc:sldMkLst>
        <pc:spChg chg="mod">
          <ac:chgData name="Abdus Salam" userId="0e2b1981-3d04-4857-a4cb-b2b53ead0854" providerId="ADAL" clId="{2FD18229-7601-4166-AE6D-EDAE7A66C71F}" dt="2025-10-29T11:19:48.921" v="245" actId="1036"/>
          <ac:spMkLst>
            <pc:docMk/>
            <pc:sldMk cId="1720614651" sldId="518"/>
            <ac:spMk id="4" creationId="{88D7E00D-42F7-1FE0-270A-61571B426906}"/>
          </ac:spMkLst>
        </pc:spChg>
        <pc:spChg chg="add mod">
          <ac:chgData name="Abdus Salam" userId="0e2b1981-3d04-4857-a4cb-b2b53ead0854" providerId="ADAL" clId="{2FD18229-7601-4166-AE6D-EDAE7A66C71F}" dt="2025-10-29T11:19:48.921" v="245" actId="1036"/>
          <ac:spMkLst>
            <pc:docMk/>
            <pc:sldMk cId="1720614651" sldId="518"/>
            <ac:spMk id="5" creationId="{391213D5-EFE8-6FBB-09A7-2EDBF154BE6F}"/>
          </ac:spMkLst>
        </pc:spChg>
        <pc:spChg chg="add del mod">
          <ac:chgData name="Abdus Salam" userId="0e2b1981-3d04-4857-a4cb-b2b53ead0854" providerId="ADAL" clId="{2FD18229-7601-4166-AE6D-EDAE7A66C71F}" dt="2025-10-29T11:21:45.222" v="259" actId="478"/>
          <ac:spMkLst>
            <pc:docMk/>
            <pc:sldMk cId="1720614651" sldId="518"/>
            <ac:spMk id="6" creationId="{3702CD98-09A5-E408-1CDE-7DB021B3C4E9}"/>
          </ac:spMkLst>
        </pc:spChg>
      </pc:sldChg>
      <pc:sldChg chg="addSp modSp add mod">
        <pc:chgData name="Abdus Salam" userId="0e2b1981-3d04-4857-a4cb-b2b53ead0854" providerId="ADAL" clId="{2FD18229-7601-4166-AE6D-EDAE7A66C71F}" dt="2025-10-29T11:22:04.621" v="260" actId="14100"/>
        <pc:sldMkLst>
          <pc:docMk/>
          <pc:sldMk cId="1446614095" sldId="519"/>
        </pc:sldMkLst>
        <pc:spChg chg="mod">
          <ac:chgData name="Abdus Salam" userId="0e2b1981-3d04-4857-a4cb-b2b53ead0854" providerId="ADAL" clId="{2FD18229-7601-4166-AE6D-EDAE7A66C71F}" dt="2025-10-29T11:17:42.099" v="212" actId="113"/>
          <ac:spMkLst>
            <pc:docMk/>
            <pc:sldMk cId="1446614095" sldId="519"/>
            <ac:spMk id="4" creationId="{1518D8C3-143D-9F20-B5EF-9E08DB91C375}"/>
          </ac:spMkLst>
        </pc:spChg>
        <pc:spChg chg="add mod">
          <ac:chgData name="Abdus Salam" userId="0e2b1981-3d04-4857-a4cb-b2b53ead0854" providerId="ADAL" clId="{2FD18229-7601-4166-AE6D-EDAE7A66C71F}" dt="2025-10-29T11:22:04.621" v="260" actId="14100"/>
          <ac:spMkLst>
            <pc:docMk/>
            <pc:sldMk cId="1446614095" sldId="519"/>
            <ac:spMk id="5" creationId="{5B5B52FC-4246-93CA-B4C3-60B300A672DD}"/>
          </ac:spMkLst>
        </pc:spChg>
        <pc:spChg chg="add">
          <ac:chgData name="Abdus Salam" userId="0e2b1981-3d04-4857-a4cb-b2b53ead0854" providerId="ADAL" clId="{2FD18229-7601-4166-AE6D-EDAE7A66C71F}" dt="2025-10-29T11:17:37.965" v="210"/>
          <ac:spMkLst>
            <pc:docMk/>
            <pc:sldMk cId="1446614095" sldId="519"/>
            <ac:spMk id="6" creationId="{A61F1684-A3BC-5576-F455-A6986B2A29E9}"/>
          </ac:spMkLst>
        </pc:spChg>
      </pc:sldChg>
      <pc:sldChg chg="add">
        <pc:chgData name="Abdus Salam" userId="0e2b1981-3d04-4857-a4cb-b2b53ead0854" providerId="ADAL" clId="{2FD18229-7601-4166-AE6D-EDAE7A66C71F}" dt="2025-10-29T11:21:26.372" v="256" actId="2890"/>
        <pc:sldMkLst>
          <pc:docMk/>
          <pc:sldMk cId="2081130920" sldId="520"/>
        </pc:sldMkLst>
      </pc:sldChg>
      <pc:sldChg chg="add del">
        <pc:chgData name="Abdus Salam" userId="0e2b1981-3d04-4857-a4cb-b2b53ead0854" providerId="ADAL" clId="{2FD18229-7601-4166-AE6D-EDAE7A66C71F}" dt="2025-10-29T11:21:08.042" v="255" actId="47"/>
        <pc:sldMkLst>
          <pc:docMk/>
          <pc:sldMk cId="2323306523" sldId="520"/>
        </pc:sldMkLst>
      </pc:sldChg>
      <pc:sldChg chg="add">
        <pc:chgData name="Abdus Salam" userId="0e2b1981-3d04-4857-a4cb-b2b53ead0854" providerId="ADAL" clId="{2FD18229-7601-4166-AE6D-EDAE7A66C71F}" dt="2025-10-29T11:21:40.013" v="258" actId="2890"/>
        <pc:sldMkLst>
          <pc:docMk/>
          <pc:sldMk cId="4174415795" sldId="521"/>
        </pc:sldMkLst>
      </pc:sldChg>
    </pc:docChg>
  </pc:docChgLst>
  <pc:docChgLst>
    <pc:chgData name="Abdus Salam" userId="0e2b1981-3d04-4857-a4cb-b2b53ead0854" providerId="ADAL" clId="{9C77D44F-04B3-4B13-B2FA-9C5F5849F6D9}"/>
    <pc:docChg chg="undo redo custSel addSld delSld modSld">
      <pc:chgData name="Abdus Salam" userId="0e2b1981-3d04-4857-a4cb-b2b53ead0854" providerId="ADAL" clId="{9C77D44F-04B3-4B13-B2FA-9C5F5849F6D9}" dt="2025-03-08T08:26:33.437" v="18" actId="123"/>
      <pc:docMkLst>
        <pc:docMk/>
      </pc:docMkLst>
      <pc:sldChg chg="del">
        <pc:chgData name="Abdus Salam" userId="0e2b1981-3d04-4857-a4cb-b2b53ead0854" providerId="ADAL" clId="{9C77D44F-04B3-4B13-B2FA-9C5F5849F6D9}" dt="2025-03-08T08:24:57.887" v="0" actId="47"/>
        <pc:sldMkLst>
          <pc:docMk/>
          <pc:sldMk cId="3543184743" sldId="429"/>
        </pc:sldMkLst>
      </pc:sldChg>
      <pc:sldChg chg="del">
        <pc:chgData name="Abdus Salam" userId="0e2b1981-3d04-4857-a4cb-b2b53ead0854" providerId="ADAL" clId="{9C77D44F-04B3-4B13-B2FA-9C5F5849F6D9}" dt="2025-03-08T08:24:57.887" v="0" actId="47"/>
        <pc:sldMkLst>
          <pc:docMk/>
          <pc:sldMk cId="3891634220" sldId="430"/>
        </pc:sldMkLst>
      </pc:sldChg>
      <pc:sldChg chg="del">
        <pc:chgData name="Abdus Salam" userId="0e2b1981-3d04-4857-a4cb-b2b53ead0854" providerId="ADAL" clId="{9C77D44F-04B3-4B13-B2FA-9C5F5849F6D9}" dt="2025-03-08T08:24:57.887" v="0" actId="47"/>
        <pc:sldMkLst>
          <pc:docMk/>
          <pc:sldMk cId="2399706617" sldId="431"/>
        </pc:sldMkLst>
      </pc:sldChg>
      <pc:sldChg chg="del">
        <pc:chgData name="Abdus Salam" userId="0e2b1981-3d04-4857-a4cb-b2b53ead0854" providerId="ADAL" clId="{9C77D44F-04B3-4B13-B2FA-9C5F5849F6D9}" dt="2025-03-08T08:24:57.887" v="0" actId="47"/>
        <pc:sldMkLst>
          <pc:docMk/>
          <pc:sldMk cId="1226545487" sldId="432"/>
        </pc:sldMkLst>
      </pc:sldChg>
      <pc:sldChg chg="del">
        <pc:chgData name="Abdus Salam" userId="0e2b1981-3d04-4857-a4cb-b2b53ead0854" providerId="ADAL" clId="{9C77D44F-04B3-4B13-B2FA-9C5F5849F6D9}" dt="2025-03-08T08:24:57.887" v="0" actId="47"/>
        <pc:sldMkLst>
          <pc:docMk/>
          <pc:sldMk cId="1356258205" sldId="433"/>
        </pc:sldMkLst>
      </pc:sldChg>
      <pc:sldChg chg="del">
        <pc:chgData name="Abdus Salam" userId="0e2b1981-3d04-4857-a4cb-b2b53ead0854" providerId="ADAL" clId="{9C77D44F-04B3-4B13-B2FA-9C5F5849F6D9}" dt="2025-03-08T08:24:57.887" v="0" actId="47"/>
        <pc:sldMkLst>
          <pc:docMk/>
          <pc:sldMk cId="3103257408" sldId="435"/>
        </pc:sldMkLst>
      </pc:sldChg>
      <pc:sldChg chg="del">
        <pc:chgData name="Abdus Salam" userId="0e2b1981-3d04-4857-a4cb-b2b53ead0854" providerId="ADAL" clId="{9C77D44F-04B3-4B13-B2FA-9C5F5849F6D9}" dt="2025-03-08T08:24:57.887" v="0" actId="47"/>
        <pc:sldMkLst>
          <pc:docMk/>
          <pc:sldMk cId="4155669057" sldId="458"/>
        </pc:sldMkLst>
      </pc:sldChg>
      <pc:sldChg chg="del">
        <pc:chgData name="Abdus Salam" userId="0e2b1981-3d04-4857-a4cb-b2b53ead0854" providerId="ADAL" clId="{9C77D44F-04B3-4B13-B2FA-9C5F5849F6D9}" dt="2025-03-08T08:24:57.887" v="0" actId="47"/>
        <pc:sldMkLst>
          <pc:docMk/>
          <pc:sldMk cId="3088748653" sldId="459"/>
        </pc:sldMkLst>
      </pc:sldChg>
      <pc:sldChg chg="del">
        <pc:chgData name="Abdus Salam" userId="0e2b1981-3d04-4857-a4cb-b2b53ead0854" providerId="ADAL" clId="{9C77D44F-04B3-4B13-B2FA-9C5F5849F6D9}" dt="2025-03-08T08:24:57.887" v="0" actId="47"/>
        <pc:sldMkLst>
          <pc:docMk/>
          <pc:sldMk cId="4175960145" sldId="460"/>
        </pc:sldMkLst>
      </pc:sldChg>
      <pc:sldChg chg="del">
        <pc:chgData name="Abdus Salam" userId="0e2b1981-3d04-4857-a4cb-b2b53ead0854" providerId="ADAL" clId="{9C77D44F-04B3-4B13-B2FA-9C5F5849F6D9}" dt="2025-03-08T08:24:57.887" v="0" actId="47"/>
        <pc:sldMkLst>
          <pc:docMk/>
          <pc:sldMk cId="112308329" sldId="461"/>
        </pc:sldMkLst>
      </pc:sldChg>
      <pc:sldChg chg="del">
        <pc:chgData name="Abdus Salam" userId="0e2b1981-3d04-4857-a4cb-b2b53ead0854" providerId="ADAL" clId="{9C77D44F-04B3-4B13-B2FA-9C5F5849F6D9}" dt="2025-03-08T08:24:57.887" v="0" actId="47"/>
        <pc:sldMkLst>
          <pc:docMk/>
          <pc:sldMk cId="421728284" sldId="471"/>
        </pc:sldMkLst>
      </pc:sldChg>
      <pc:sldChg chg="del">
        <pc:chgData name="Abdus Salam" userId="0e2b1981-3d04-4857-a4cb-b2b53ead0854" providerId="ADAL" clId="{9C77D44F-04B3-4B13-B2FA-9C5F5849F6D9}" dt="2025-03-08T08:24:57.887" v="0" actId="47"/>
        <pc:sldMkLst>
          <pc:docMk/>
          <pc:sldMk cId="615452101" sldId="472"/>
        </pc:sldMkLst>
      </pc:sldChg>
      <pc:sldChg chg="del">
        <pc:chgData name="Abdus Salam" userId="0e2b1981-3d04-4857-a4cb-b2b53ead0854" providerId="ADAL" clId="{9C77D44F-04B3-4B13-B2FA-9C5F5849F6D9}" dt="2025-03-08T08:24:57.887" v="0" actId="47"/>
        <pc:sldMkLst>
          <pc:docMk/>
          <pc:sldMk cId="3336225563" sldId="477"/>
        </pc:sldMkLst>
      </pc:sldChg>
      <pc:sldChg chg="del">
        <pc:chgData name="Abdus Salam" userId="0e2b1981-3d04-4857-a4cb-b2b53ead0854" providerId="ADAL" clId="{9C77D44F-04B3-4B13-B2FA-9C5F5849F6D9}" dt="2025-03-08T08:24:57.887" v="0" actId="47"/>
        <pc:sldMkLst>
          <pc:docMk/>
          <pc:sldMk cId="3973247491" sldId="483"/>
        </pc:sldMkLst>
      </pc:sldChg>
      <pc:sldChg chg="del">
        <pc:chgData name="Abdus Salam" userId="0e2b1981-3d04-4857-a4cb-b2b53ead0854" providerId="ADAL" clId="{9C77D44F-04B3-4B13-B2FA-9C5F5849F6D9}" dt="2025-03-08T08:24:57.887" v="0" actId="47"/>
        <pc:sldMkLst>
          <pc:docMk/>
          <pc:sldMk cId="2812918966" sldId="488"/>
        </pc:sldMkLst>
      </pc:sldChg>
      <pc:sldChg chg="del">
        <pc:chgData name="Abdus Salam" userId="0e2b1981-3d04-4857-a4cb-b2b53ead0854" providerId="ADAL" clId="{9C77D44F-04B3-4B13-B2FA-9C5F5849F6D9}" dt="2025-03-08T08:24:57.887" v="0" actId="47"/>
        <pc:sldMkLst>
          <pc:docMk/>
          <pc:sldMk cId="1297033771" sldId="489"/>
        </pc:sldMkLst>
      </pc:sldChg>
      <pc:sldChg chg="del">
        <pc:chgData name="Abdus Salam" userId="0e2b1981-3d04-4857-a4cb-b2b53ead0854" providerId="ADAL" clId="{9C77D44F-04B3-4B13-B2FA-9C5F5849F6D9}" dt="2025-03-08T08:24:57.887" v="0" actId="47"/>
        <pc:sldMkLst>
          <pc:docMk/>
          <pc:sldMk cId="4277527587" sldId="490"/>
        </pc:sldMkLst>
      </pc:sldChg>
      <pc:sldChg chg="del">
        <pc:chgData name="Abdus Salam" userId="0e2b1981-3d04-4857-a4cb-b2b53ead0854" providerId="ADAL" clId="{9C77D44F-04B3-4B13-B2FA-9C5F5849F6D9}" dt="2025-03-08T08:24:57.887" v="0" actId="47"/>
        <pc:sldMkLst>
          <pc:docMk/>
          <pc:sldMk cId="1713822321" sldId="491"/>
        </pc:sldMkLst>
      </pc:sldChg>
      <pc:sldChg chg="del">
        <pc:chgData name="Abdus Salam" userId="0e2b1981-3d04-4857-a4cb-b2b53ead0854" providerId="ADAL" clId="{9C77D44F-04B3-4B13-B2FA-9C5F5849F6D9}" dt="2025-03-08T08:24:57.887" v="0" actId="47"/>
        <pc:sldMkLst>
          <pc:docMk/>
          <pc:sldMk cId="3929681540" sldId="492"/>
        </pc:sldMkLst>
      </pc:sldChg>
      <pc:sldChg chg="del">
        <pc:chgData name="Abdus Salam" userId="0e2b1981-3d04-4857-a4cb-b2b53ead0854" providerId="ADAL" clId="{9C77D44F-04B3-4B13-B2FA-9C5F5849F6D9}" dt="2025-03-08T08:24:57.887" v="0" actId="47"/>
        <pc:sldMkLst>
          <pc:docMk/>
          <pc:sldMk cId="601807718" sldId="493"/>
        </pc:sldMkLst>
      </pc:sldChg>
      <pc:sldChg chg="del">
        <pc:chgData name="Abdus Salam" userId="0e2b1981-3d04-4857-a4cb-b2b53ead0854" providerId="ADAL" clId="{9C77D44F-04B3-4B13-B2FA-9C5F5849F6D9}" dt="2025-03-08T08:24:57.887" v="0" actId="47"/>
        <pc:sldMkLst>
          <pc:docMk/>
          <pc:sldMk cId="1688325298" sldId="494"/>
        </pc:sldMkLst>
      </pc:sldChg>
      <pc:sldChg chg="del">
        <pc:chgData name="Abdus Salam" userId="0e2b1981-3d04-4857-a4cb-b2b53ead0854" providerId="ADAL" clId="{9C77D44F-04B3-4B13-B2FA-9C5F5849F6D9}" dt="2025-03-08T08:24:57.887" v="0" actId="47"/>
        <pc:sldMkLst>
          <pc:docMk/>
          <pc:sldMk cId="1023924393" sldId="497"/>
        </pc:sldMkLst>
      </pc:sldChg>
      <pc:sldChg chg="del">
        <pc:chgData name="Abdus Salam" userId="0e2b1981-3d04-4857-a4cb-b2b53ead0854" providerId="ADAL" clId="{9C77D44F-04B3-4B13-B2FA-9C5F5849F6D9}" dt="2025-03-08T08:24:57.887" v="0" actId="47"/>
        <pc:sldMkLst>
          <pc:docMk/>
          <pc:sldMk cId="706997687" sldId="499"/>
        </pc:sldMkLst>
      </pc:sldChg>
      <pc:sldChg chg="del">
        <pc:chgData name="Abdus Salam" userId="0e2b1981-3d04-4857-a4cb-b2b53ead0854" providerId="ADAL" clId="{9C77D44F-04B3-4B13-B2FA-9C5F5849F6D9}" dt="2025-03-08T08:24:57.887" v="0" actId="47"/>
        <pc:sldMkLst>
          <pc:docMk/>
          <pc:sldMk cId="2322195228" sldId="500"/>
        </pc:sldMkLst>
      </pc:sldChg>
      <pc:sldChg chg="del">
        <pc:chgData name="Abdus Salam" userId="0e2b1981-3d04-4857-a4cb-b2b53ead0854" providerId="ADAL" clId="{9C77D44F-04B3-4B13-B2FA-9C5F5849F6D9}" dt="2025-03-08T08:24:57.887" v="0" actId="47"/>
        <pc:sldMkLst>
          <pc:docMk/>
          <pc:sldMk cId="120382932" sldId="503"/>
        </pc:sldMkLst>
      </pc:sldChg>
      <pc:sldChg chg="del">
        <pc:chgData name="Abdus Salam" userId="0e2b1981-3d04-4857-a4cb-b2b53ead0854" providerId="ADAL" clId="{9C77D44F-04B3-4B13-B2FA-9C5F5849F6D9}" dt="2025-03-08T08:24:57.887" v="0" actId="47"/>
        <pc:sldMkLst>
          <pc:docMk/>
          <pc:sldMk cId="3520647072" sldId="504"/>
        </pc:sldMkLst>
      </pc:sldChg>
      <pc:sldChg chg="del">
        <pc:chgData name="Abdus Salam" userId="0e2b1981-3d04-4857-a4cb-b2b53ead0854" providerId="ADAL" clId="{9C77D44F-04B3-4B13-B2FA-9C5F5849F6D9}" dt="2025-03-08T08:24:57.887" v="0" actId="47"/>
        <pc:sldMkLst>
          <pc:docMk/>
          <pc:sldMk cId="13266232" sldId="505"/>
        </pc:sldMkLst>
      </pc:sldChg>
      <pc:sldChg chg="del">
        <pc:chgData name="Abdus Salam" userId="0e2b1981-3d04-4857-a4cb-b2b53ead0854" providerId="ADAL" clId="{9C77D44F-04B3-4B13-B2FA-9C5F5849F6D9}" dt="2025-03-08T08:24:57.887" v="0" actId="47"/>
        <pc:sldMkLst>
          <pc:docMk/>
          <pc:sldMk cId="2810625594" sldId="506"/>
        </pc:sldMkLst>
      </pc:sldChg>
      <pc:sldChg chg="del">
        <pc:chgData name="Abdus Salam" userId="0e2b1981-3d04-4857-a4cb-b2b53ead0854" providerId="ADAL" clId="{9C77D44F-04B3-4B13-B2FA-9C5F5849F6D9}" dt="2025-03-08T08:24:57.887" v="0" actId="47"/>
        <pc:sldMkLst>
          <pc:docMk/>
          <pc:sldMk cId="2276553293" sldId="507"/>
        </pc:sldMkLst>
      </pc:sldChg>
      <pc:sldChg chg="del">
        <pc:chgData name="Abdus Salam" userId="0e2b1981-3d04-4857-a4cb-b2b53ead0854" providerId="ADAL" clId="{9C77D44F-04B3-4B13-B2FA-9C5F5849F6D9}" dt="2025-03-08T08:24:57.887" v="0" actId="47"/>
        <pc:sldMkLst>
          <pc:docMk/>
          <pc:sldMk cId="1009766205" sldId="508"/>
        </pc:sldMkLst>
      </pc:sldChg>
      <pc:sldChg chg="del">
        <pc:chgData name="Abdus Salam" userId="0e2b1981-3d04-4857-a4cb-b2b53ead0854" providerId="ADAL" clId="{9C77D44F-04B3-4B13-B2FA-9C5F5849F6D9}" dt="2025-03-08T08:24:57.887" v="0" actId="47"/>
        <pc:sldMkLst>
          <pc:docMk/>
          <pc:sldMk cId="3893638232" sldId="509"/>
        </pc:sldMkLst>
      </pc:sldChg>
      <pc:sldChg chg="modSp new mod">
        <pc:chgData name="Abdus Salam" userId="0e2b1981-3d04-4857-a4cb-b2b53ead0854" providerId="ADAL" clId="{9C77D44F-04B3-4B13-B2FA-9C5F5849F6D9}" dt="2025-03-08T08:26:33.437" v="18" actId="123"/>
        <pc:sldMkLst>
          <pc:docMk/>
          <pc:sldMk cId="955525312" sldId="515"/>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7282" name="Rectangle 2"/>
          <p:cNvSpPr>
            <a:spLocks noGrp="1" noChangeArrowheads="1"/>
          </p:cNvSpPr>
          <p:nvPr>
            <p:ph type="hdr" sz="quarter"/>
          </p:nvPr>
        </p:nvSpPr>
        <p:spPr bwMode="auto">
          <a:xfrm>
            <a:off x="0" y="0"/>
            <a:ext cx="2967038" cy="469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ahoma" charset="0"/>
                <a:ea typeface="+mn-ea"/>
                <a:cs typeface="+mn-cs"/>
              </a:defRPr>
            </a:lvl1pPr>
          </a:lstStyle>
          <a:p>
            <a:pPr>
              <a:defRPr/>
            </a:pPr>
            <a:endParaRPr lang="en-US"/>
          </a:p>
        </p:txBody>
      </p:sp>
      <p:sp>
        <p:nvSpPr>
          <p:cNvPr id="97283" name="Rectangle 3"/>
          <p:cNvSpPr>
            <a:spLocks noGrp="1" noChangeArrowheads="1"/>
          </p:cNvSpPr>
          <p:nvPr>
            <p:ph type="dt" sz="quarter" idx="1"/>
          </p:nvPr>
        </p:nvSpPr>
        <p:spPr bwMode="auto">
          <a:xfrm>
            <a:off x="3878263" y="0"/>
            <a:ext cx="2967037" cy="469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ahoma" charset="0"/>
                <a:ea typeface="+mn-ea"/>
                <a:cs typeface="+mn-cs"/>
              </a:defRPr>
            </a:lvl1pPr>
          </a:lstStyle>
          <a:p>
            <a:pPr>
              <a:defRPr/>
            </a:pPr>
            <a:endParaRPr lang="en-US"/>
          </a:p>
        </p:txBody>
      </p:sp>
      <p:sp>
        <p:nvSpPr>
          <p:cNvPr id="97284" name="Rectangle 4"/>
          <p:cNvSpPr>
            <a:spLocks noGrp="1" noChangeArrowheads="1"/>
          </p:cNvSpPr>
          <p:nvPr>
            <p:ph type="ftr" sz="quarter" idx="2"/>
          </p:nvPr>
        </p:nvSpPr>
        <p:spPr bwMode="auto">
          <a:xfrm>
            <a:off x="0" y="8926513"/>
            <a:ext cx="2967038" cy="469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ahoma" charset="0"/>
                <a:ea typeface="+mn-ea"/>
                <a:cs typeface="+mn-cs"/>
              </a:defRPr>
            </a:lvl1pPr>
          </a:lstStyle>
          <a:p>
            <a:pPr>
              <a:defRPr/>
            </a:pPr>
            <a:endParaRPr lang="en-US"/>
          </a:p>
        </p:txBody>
      </p:sp>
      <p:sp>
        <p:nvSpPr>
          <p:cNvPr id="97285" name="Rectangle 5"/>
          <p:cNvSpPr>
            <a:spLocks noGrp="1" noChangeArrowheads="1"/>
          </p:cNvSpPr>
          <p:nvPr>
            <p:ph type="sldNum" sz="quarter" idx="3"/>
          </p:nvPr>
        </p:nvSpPr>
        <p:spPr bwMode="auto">
          <a:xfrm>
            <a:off x="3878263" y="8926513"/>
            <a:ext cx="2967037" cy="469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ahoma" charset="0"/>
              </a:defRPr>
            </a:lvl1pPr>
          </a:lstStyle>
          <a:p>
            <a:fld id="{8A029216-D615-3945-A1F3-D96FC886DA62}" type="slidenum">
              <a:rPr lang="en-US"/>
              <a:pPr/>
              <a:t>‹#›</a:t>
            </a:fld>
            <a:endParaRPr lang="en-US"/>
          </a:p>
        </p:txBody>
      </p:sp>
    </p:spTree>
    <p:extLst>
      <p:ext uri="{BB962C8B-B14F-4D97-AF65-F5344CB8AC3E}">
        <p14:creationId xmlns:p14="http://schemas.microsoft.com/office/powerpoint/2010/main" val="325172630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0834" name="Rectangle 2"/>
          <p:cNvSpPr>
            <a:spLocks noGrp="1" noChangeArrowheads="1"/>
          </p:cNvSpPr>
          <p:nvPr>
            <p:ph type="hdr" sz="quarter"/>
          </p:nvPr>
        </p:nvSpPr>
        <p:spPr bwMode="auto">
          <a:xfrm>
            <a:off x="0" y="0"/>
            <a:ext cx="2967038" cy="469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ea typeface="+mn-ea"/>
                <a:cs typeface="+mn-cs"/>
              </a:defRPr>
            </a:lvl1pPr>
          </a:lstStyle>
          <a:p>
            <a:pPr>
              <a:defRPr/>
            </a:pPr>
            <a:endParaRPr lang="en-US"/>
          </a:p>
        </p:txBody>
      </p:sp>
      <p:sp>
        <p:nvSpPr>
          <p:cNvPr id="120835" name="Rectangle 3"/>
          <p:cNvSpPr>
            <a:spLocks noGrp="1" noChangeArrowheads="1"/>
          </p:cNvSpPr>
          <p:nvPr>
            <p:ph type="dt" idx="1"/>
          </p:nvPr>
        </p:nvSpPr>
        <p:spPr bwMode="auto">
          <a:xfrm>
            <a:off x="3878263" y="0"/>
            <a:ext cx="2967037" cy="469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mn-ea"/>
                <a:cs typeface="+mn-cs"/>
              </a:defRPr>
            </a:lvl1pPr>
          </a:lstStyle>
          <a:p>
            <a:pPr>
              <a:defRPr/>
            </a:pPr>
            <a:endParaRPr lang="en-US"/>
          </a:p>
        </p:txBody>
      </p:sp>
      <p:sp>
        <p:nvSpPr>
          <p:cNvPr id="15364" name="Rectangle 4"/>
          <p:cNvSpPr>
            <a:spLocks noGrp="1" noRot="1" noChangeAspect="1" noChangeArrowheads="1" noTextEdit="1"/>
          </p:cNvSpPr>
          <p:nvPr>
            <p:ph type="sldImg" idx="2"/>
          </p:nvPr>
        </p:nvSpPr>
        <p:spPr bwMode="auto">
          <a:xfrm>
            <a:off x="290513" y="704850"/>
            <a:ext cx="6264275" cy="3524250"/>
          </a:xfrm>
          <a:prstGeom prst="rect">
            <a:avLst/>
          </a:prstGeom>
          <a:noFill/>
          <a:ln w="9525">
            <a:solidFill>
              <a:srgbClr val="000000"/>
            </a:solidFill>
            <a:miter lim="800000"/>
            <a:headEnd/>
            <a:tailEnd/>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Lst>
        </p:spPr>
      </p:sp>
      <p:sp>
        <p:nvSpPr>
          <p:cNvPr id="120837" name="Rectangle 5"/>
          <p:cNvSpPr>
            <a:spLocks noGrp="1" noChangeArrowheads="1"/>
          </p:cNvSpPr>
          <p:nvPr>
            <p:ph type="body" sz="quarter" idx="3"/>
          </p:nvPr>
        </p:nvSpPr>
        <p:spPr bwMode="auto">
          <a:xfrm>
            <a:off x="912813" y="4464050"/>
            <a:ext cx="5019675" cy="42275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0838" name="Rectangle 6"/>
          <p:cNvSpPr>
            <a:spLocks noGrp="1" noChangeArrowheads="1"/>
          </p:cNvSpPr>
          <p:nvPr>
            <p:ph type="ftr" sz="quarter" idx="4"/>
          </p:nvPr>
        </p:nvSpPr>
        <p:spPr bwMode="auto">
          <a:xfrm>
            <a:off x="0" y="8926513"/>
            <a:ext cx="2967038" cy="469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ea typeface="+mn-ea"/>
                <a:cs typeface="+mn-cs"/>
              </a:defRPr>
            </a:lvl1pPr>
          </a:lstStyle>
          <a:p>
            <a:pPr>
              <a:defRPr/>
            </a:pPr>
            <a:endParaRPr lang="en-US"/>
          </a:p>
        </p:txBody>
      </p:sp>
      <p:sp>
        <p:nvSpPr>
          <p:cNvPr id="120839" name="Rectangle 7"/>
          <p:cNvSpPr>
            <a:spLocks noGrp="1" noChangeArrowheads="1"/>
          </p:cNvSpPr>
          <p:nvPr>
            <p:ph type="sldNum" sz="quarter" idx="5"/>
          </p:nvPr>
        </p:nvSpPr>
        <p:spPr bwMode="auto">
          <a:xfrm>
            <a:off x="3878263" y="8926513"/>
            <a:ext cx="2967037" cy="469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3EB9031F-EB71-7642-8F3C-6FDC1408CB92}" type="slidenum">
              <a:rPr lang="en-US"/>
              <a:pPr/>
              <a:t>‹#›</a:t>
            </a:fld>
            <a:endParaRPr lang="en-US"/>
          </a:p>
        </p:txBody>
      </p:sp>
    </p:spTree>
    <p:extLst>
      <p:ext uri="{BB962C8B-B14F-4D97-AF65-F5344CB8AC3E}">
        <p14:creationId xmlns:p14="http://schemas.microsoft.com/office/powerpoint/2010/main" val="378627321"/>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kumimoji="1" sz="1200" kern="1200">
        <a:solidFill>
          <a:schemeClr val="tx1"/>
        </a:solidFill>
        <a:latin typeface="Arial" pitchFamily="-65" charset="0"/>
        <a:ea typeface="ＭＳ Ｐゴシック" pitchFamily="-65" charset="-128"/>
        <a:cs typeface="ＭＳ Ｐゴシック" pitchFamily="-65" charset="-128"/>
      </a:defRPr>
    </a:lvl1pPr>
    <a:lvl2pPr marL="457200" algn="l" rtl="0" eaLnBrk="0" fontAlgn="base" hangingPunct="0">
      <a:spcBef>
        <a:spcPct val="30000"/>
      </a:spcBef>
      <a:spcAft>
        <a:spcPct val="0"/>
      </a:spcAft>
      <a:defRPr kumimoji="1" sz="1200" kern="1200">
        <a:solidFill>
          <a:schemeClr val="tx1"/>
        </a:solidFill>
        <a:latin typeface="Arial" pitchFamily="-65" charset="0"/>
        <a:ea typeface="ＭＳ Ｐゴシック" pitchFamily="-65" charset="-128"/>
        <a:cs typeface="+mn-cs"/>
      </a:defRPr>
    </a:lvl2pPr>
    <a:lvl3pPr marL="914400" algn="l" rtl="0" eaLnBrk="0" fontAlgn="base" hangingPunct="0">
      <a:spcBef>
        <a:spcPct val="30000"/>
      </a:spcBef>
      <a:spcAft>
        <a:spcPct val="0"/>
      </a:spcAft>
      <a:defRPr kumimoji="1" sz="1200" kern="1200">
        <a:solidFill>
          <a:schemeClr val="tx1"/>
        </a:solidFill>
        <a:latin typeface="Arial" pitchFamily="-65" charset="0"/>
        <a:ea typeface="ＭＳ Ｐゴシック" pitchFamily="-65" charset="-128"/>
        <a:cs typeface="+mn-cs"/>
      </a:defRPr>
    </a:lvl3pPr>
    <a:lvl4pPr marL="1371600" algn="l" rtl="0" eaLnBrk="0" fontAlgn="base" hangingPunct="0">
      <a:spcBef>
        <a:spcPct val="30000"/>
      </a:spcBef>
      <a:spcAft>
        <a:spcPct val="0"/>
      </a:spcAft>
      <a:defRPr kumimoji="1" sz="1200" kern="1200">
        <a:solidFill>
          <a:schemeClr val="tx1"/>
        </a:solidFill>
        <a:latin typeface="Arial" pitchFamily="-65" charset="0"/>
        <a:ea typeface="ＭＳ Ｐゴシック" pitchFamily="-65" charset="-128"/>
        <a:cs typeface="+mn-cs"/>
      </a:defRPr>
    </a:lvl4pPr>
    <a:lvl5pPr marL="1828800" algn="l" rtl="0" eaLnBrk="0" fontAlgn="base" hangingPunct="0">
      <a:spcBef>
        <a:spcPct val="30000"/>
      </a:spcBef>
      <a:spcAft>
        <a:spcPct val="0"/>
      </a:spcAft>
      <a:defRPr kumimoji="1" sz="1200" kern="1200">
        <a:solidFill>
          <a:schemeClr val="tx1"/>
        </a:solidFill>
        <a:latin typeface="Arial" pitchFamily="-65" charset="0"/>
        <a:ea typeface="ＭＳ Ｐゴシック" pitchFamily="-65"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Lucida Sans" charset="0"/>
                <a:ea typeface="ＭＳ Ｐゴシック" charset="0"/>
                <a:cs typeface="ＭＳ Ｐゴシック" charset="0"/>
              </a:defRPr>
            </a:lvl1pPr>
            <a:lvl2pPr marL="37931725" indent="-37474525" eaLnBrk="0" hangingPunct="0">
              <a:defRPr sz="2400">
                <a:solidFill>
                  <a:schemeClr val="tx1"/>
                </a:solidFill>
                <a:latin typeface="Lucida Sans" charset="0"/>
                <a:ea typeface="ＭＳ Ｐゴシック" charset="0"/>
              </a:defRPr>
            </a:lvl2pPr>
            <a:lvl3pPr eaLnBrk="0" hangingPunct="0">
              <a:defRPr sz="2400">
                <a:solidFill>
                  <a:schemeClr val="tx1"/>
                </a:solidFill>
                <a:latin typeface="Lucida Sans" charset="0"/>
                <a:ea typeface="ＭＳ Ｐゴシック" charset="0"/>
              </a:defRPr>
            </a:lvl3pPr>
            <a:lvl4pPr eaLnBrk="0" hangingPunct="0">
              <a:defRPr sz="2400">
                <a:solidFill>
                  <a:schemeClr val="tx1"/>
                </a:solidFill>
                <a:latin typeface="Lucida Sans" charset="0"/>
                <a:ea typeface="ＭＳ Ｐゴシック" charset="0"/>
              </a:defRPr>
            </a:lvl4pPr>
            <a:lvl5pPr eaLnBrk="0" hangingPunct="0">
              <a:defRPr sz="2400">
                <a:solidFill>
                  <a:schemeClr val="tx1"/>
                </a:solidFill>
                <a:latin typeface="Lucida Sans" charset="0"/>
                <a:ea typeface="ＭＳ Ｐゴシック" charset="0"/>
              </a:defRPr>
            </a:lvl5pPr>
            <a:lvl6pPr marL="457200" eaLnBrk="0" fontAlgn="base" hangingPunct="0">
              <a:spcBef>
                <a:spcPct val="0"/>
              </a:spcBef>
              <a:spcAft>
                <a:spcPct val="0"/>
              </a:spcAft>
              <a:defRPr sz="2400">
                <a:solidFill>
                  <a:schemeClr val="tx1"/>
                </a:solidFill>
                <a:latin typeface="Lucida Sans" charset="0"/>
                <a:ea typeface="ＭＳ Ｐゴシック" charset="0"/>
              </a:defRPr>
            </a:lvl6pPr>
            <a:lvl7pPr marL="914400" eaLnBrk="0" fontAlgn="base" hangingPunct="0">
              <a:spcBef>
                <a:spcPct val="0"/>
              </a:spcBef>
              <a:spcAft>
                <a:spcPct val="0"/>
              </a:spcAft>
              <a:defRPr sz="2400">
                <a:solidFill>
                  <a:schemeClr val="tx1"/>
                </a:solidFill>
                <a:latin typeface="Lucida Sans" charset="0"/>
                <a:ea typeface="ＭＳ Ｐゴシック" charset="0"/>
              </a:defRPr>
            </a:lvl7pPr>
            <a:lvl8pPr marL="1371600" eaLnBrk="0" fontAlgn="base" hangingPunct="0">
              <a:spcBef>
                <a:spcPct val="0"/>
              </a:spcBef>
              <a:spcAft>
                <a:spcPct val="0"/>
              </a:spcAft>
              <a:defRPr sz="2400">
                <a:solidFill>
                  <a:schemeClr val="tx1"/>
                </a:solidFill>
                <a:latin typeface="Lucida Sans" charset="0"/>
                <a:ea typeface="ＭＳ Ｐゴシック" charset="0"/>
              </a:defRPr>
            </a:lvl8pPr>
            <a:lvl9pPr marL="18288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fld id="{E69DF897-5E92-F241-9A21-E64EA536231D}" type="slidenum">
              <a:rPr lang="en-US" sz="1200"/>
              <a:pPr eaLnBrk="1" hangingPunct="1"/>
              <a:t>1</a:t>
            </a:fld>
            <a:endParaRPr lang="en-US" sz="1200"/>
          </a:p>
        </p:txBody>
      </p:sp>
      <p:sp>
        <p:nvSpPr>
          <p:cNvPr id="17411" name="Rectangle 2"/>
          <p:cNvSpPr>
            <a:spLocks noGrp="1" noRot="1" noChangeAspect="1" noChangeArrowheads="1" noTextEdit="1"/>
          </p:cNvSpPr>
          <p:nvPr>
            <p:ph type="sldImg"/>
          </p:nvPr>
        </p:nvSpPr>
        <p:spPr>
          <a:xfrm>
            <a:off x="290513" y="704850"/>
            <a:ext cx="6264275" cy="3524250"/>
          </a:xfrm>
          <a:ln/>
        </p:spPr>
      </p:sp>
      <p:sp>
        <p:nvSpPr>
          <p:cNvPr id="17412"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solidFill>
                  <a:srgbClr val="000000"/>
                </a:solidFill>
                <a:effectLst/>
                <a:latin typeface="Monaco" pitchFamily="2" charset="77"/>
              </a:rPr>
              <a:t>We begin our discussion of basic text processing with one of the unsung successes in standardization in computer science, the regular expression or regex, a formal language for specifying text strings.</a:t>
            </a:r>
          </a:p>
          <a:p>
            <a:endParaRPr lang="en-US" dirty="0">
              <a:latin typeface="Arial" charset="0"/>
              <a:ea typeface="ＭＳ Ｐゴシック" charset="0"/>
              <a:cs typeface="ＭＳ Ｐゴシック" charset="0"/>
            </a:endParaRPr>
          </a:p>
        </p:txBody>
      </p:sp>
    </p:spTree>
    <p:extLst>
      <p:ext uri="{BB962C8B-B14F-4D97-AF65-F5344CB8AC3E}">
        <p14:creationId xmlns:p14="http://schemas.microsoft.com/office/powerpoint/2010/main" val="653396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solidFill>
                  <a:srgbClr val="000000"/>
                </a:solidFill>
                <a:effectLst/>
                <a:latin typeface="Monaco" pitchFamily="2" charset="77"/>
              </a:rPr>
              <a:t>Regular expressions are used everywhere in text processing, in every standard NLP toolkit and library, every programming language, and every industrial application of NLP.  They are particularly useful for searching in text, and play a huge role in analyzing text data, in web scraping, in pattern-matching, in data formatting, and as a  preprocessing step before applying some more sophisticated algorithms.</a:t>
            </a:r>
          </a:p>
          <a:p>
            <a:endParaRPr lang="en-US" dirty="0"/>
          </a:p>
        </p:txBody>
      </p:sp>
      <p:sp>
        <p:nvSpPr>
          <p:cNvPr id="4" name="Slide Number Placeholder 3"/>
          <p:cNvSpPr>
            <a:spLocks noGrp="1"/>
          </p:cNvSpPr>
          <p:nvPr>
            <p:ph type="sldNum" sz="quarter" idx="5"/>
          </p:nvPr>
        </p:nvSpPr>
        <p:spPr/>
        <p:txBody>
          <a:bodyPr/>
          <a:lstStyle/>
          <a:p>
            <a:fld id="{3EB9031F-EB71-7642-8F3C-6FDC1408CB92}" type="slidenum">
              <a:rPr lang="en-US" smtClean="0"/>
              <a:pPr/>
              <a:t>2</a:t>
            </a:fld>
            <a:endParaRPr lang="en-US"/>
          </a:p>
        </p:txBody>
      </p:sp>
    </p:spTree>
    <p:extLst>
      <p:ext uri="{BB962C8B-B14F-4D97-AF65-F5344CB8AC3E}">
        <p14:creationId xmlns:p14="http://schemas.microsoft.com/office/powerpoint/2010/main" val="42138172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fld id="{2E64B176-3CE7-6A41-BE1E-57EEC52B0665}" type="slidenum">
              <a:rPr lang="en-US"/>
              <a:pPr/>
              <a:t>3</a:t>
            </a:fld>
            <a:endParaRPr lang="en-US"/>
          </a:p>
        </p:txBody>
      </p:sp>
      <p:sp>
        <p:nvSpPr>
          <p:cNvPr id="70659" name="Rectangle 2"/>
          <p:cNvSpPr>
            <a:spLocks noGrp="1" noRot="1" noChangeAspect="1" noChangeArrowheads="1"/>
          </p:cNvSpPr>
          <p:nvPr>
            <p:ph type="sldImg"/>
          </p:nvPr>
        </p:nvSpPr>
        <p:spPr>
          <a:solidFill>
            <a:srgbClr val="FFFFFF"/>
          </a:solidFill>
          <a:ln/>
        </p:spPr>
      </p:sp>
      <p:sp>
        <p:nvSpPr>
          <p:cNvPr id="70660" name="Rectangle 3"/>
          <p:cNvSpPr>
            <a:spLocks noGrp="1" noChangeArrowheads="1"/>
          </p:cNvSpPr>
          <p:nvPr>
            <p:ph type="body" idx="1"/>
          </p:nvPr>
        </p:nvSpPr>
        <p:spPr>
          <a:solidFill>
            <a:srgbClr val="FFFFFF"/>
          </a:solidFill>
          <a:ln>
            <a:solidFill>
              <a:srgbClr val="000000"/>
            </a:solidFill>
          </a:ln>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solidFill>
                  <a:srgbClr val="000000"/>
                </a:solidFill>
                <a:effectLst/>
                <a:latin typeface="Monaco" pitchFamily="2" charset="77"/>
              </a:rPr>
              <a:t>Suppose we're searching for mentions of woodchucks, the delightful small mammal also known as the groundhog. But they could appear with lower-case or upper-case w, with a final s or not, and as the synonym groundhog! Can we write a formal specification that accounts for all of these?</a:t>
            </a:r>
          </a:p>
          <a:p>
            <a:pPr eaLnBrk="1" hangingPunct="1"/>
            <a:endParaRPr lang="en-US" dirty="0"/>
          </a:p>
        </p:txBody>
      </p:sp>
    </p:spTree>
    <p:extLst>
      <p:ext uri="{BB962C8B-B14F-4D97-AF65-F5344CB8AC3E}">
        <p14:creationId xmlns:p14="http://schemas.microsoft.com/office/powerpoint/2010/main" val="3165545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p>
            <a:fld id="{AD123507-3658-094F-A348-B086D6EDE221}" type="slidenum">
              <a:rPr lang="en-US"/>
              <a:pPr/>
              <a:t>4</a:t>
            </a:fld>
            <a:endParaRPr lang="en-US"/>
          </a:p>
        </p:txBody>
      </p:sp>
      <p:sp>
        <p:nvSpPr>
          <p:cNvPr id="72707" name="Rectangle 2"/>
          <p:cNvSpPr>
            <a:spLocks noGrp="1" noRot="1" noChangeAspect="1" noChangeArrowheads="1" noTextEdit="1"/>
          </p:cNvSpPr>
          <p:nvPr>
            <p:ph type="sldImg"/>
          </p:nvPr>
        </p:nvSpPr>
        <p:spPr>
          <a:solidFill>
            <a:srgbClr val="FFFFFF"/>
          </a:solidFill>
          <a:ln/>
        </p:spPr>
      </p:sp>
      <p:sp>
        <p:nvSpPr>
          <p:cNvPr id="72708" name="Rectangle 3"/>
          <p:cNvSpPr>
            <a:spLocks noGrp="1" noChangeArrowheads="1"/>
          </p:cNvSpPr>
          <p:nvPr>
            <p:ph type="body" idx="1"/>
          </p:nvPr>
        </p:nvSpPr>
        <p:spPr>
          <a:xfrm>
            <a:off x="912707" y="4463296"/>
            <a:ext cx="5019887" cy="4228386"/>
          </a:xfrm>
          <a:solidFill>
            <a:srgbClr val="FFFFFF"/>
          </a:solidFill>
          <a:ln>
            <a:solidFill>
              <a:srgbClr val="000000"/>
            </a:solidFill>
          </a:ln>
        </p:spPr>
        <p:txBody>
          <a:bodyPr lIns="91435" tIns="45718" rIns="91435" bIns="45718"/>
          <a:lstStyle/>
          <a:p>
            <a:r>
              <a:rPr lang="en-US" dirty="0">
                <a:solidFill>
                  <a:srgbClr val="000000"/>
                </a:solidFill>
                <a:effectLst/>
                <a:latin typeface="Monaco" pitchFamily="2" charset="77"/>
              </a:rPr>
              <a:t>Let's start with the square brackets which mean "any one character inside these brackets."      So [</a:t>
            </a:r>
            <a:r>
              <a:rPr lang="en-US" dirty="0" err="1">
                <a:solidFill>
                  <a:srgbClr val="000000"/>
                </a:solidFill>
                <a:effectLst/>
                <a:latin typeface="Monaco" pitchFamily="2" charset="77"/>
              </a:rPr>
              <a:t>wW</a:t>
            </a:r>
            <a:r>
              <a:rPr lang="en-US" dirty="0">
                <a:solidFill>
                  <a:srgbClr val="000000"/>
                </a:solidFill>
                <a:effectLst/>
                <a:latin typeface="Monaco" pitchFamily="2" charset="77"/>
              </a:rPr>
              <a:t>] means "either lower w or upper W"  and [1234567890] means "any digit"</a:t>
            </a:r>
            <a:br>
              <a:rPr lang="en-US" dirty="0">
                <a:solidFill>
                  <a:srgbClr val="000000"/>
                </a:solidFill>
                <a:effectLst/>
                <a:latin typeface="Monaco" pitchFamily="2" charset="77"/>
              </a:rPr>
            </a:br>
            <a:endParaRPr lang="en-US" dirty="0">
              <a:solidFill>
                <a:srgbClr val="000000"/>
              </a:solidFill>
              <a:effectLst/>
              <a:latin typeface="Monaco" pitchFamily="2" charset="77"/>
            </a:endParaRPr>
          </a:p>
          <a:p>
            <a:r>
              <a:rPr lang="en-US" dirty="0">
                <a:solidFill>
                  <a:srgbClr val="000000"/>
                </a:solidFill>
                <a:effectLst/>
                <a:latin typeface="Monaco" pitchFamily="2" charset="77"/>
              </a:rPr>
              <a:t>It's a bit inefficient to write all that out, so we can use the dash or hyphen to specify a range.  So [A-Z] means "any one uppercase letter" and [0-9] means "a digit". Note in the examples on the right we're showing in blue underline the first instance of a match; if we were showing all of them, we would also show the B in Blossoms</a:t>
            </a:r>
          </a:p>
          <a:p>
            <a:pPr eaLnBrk="1" hangingPunct="1"/>
            <a:endParaRPr lang="en-US" b="1" dirty="0"/>
          </a:p>
        </p:txBody>
      </p:sp>
    </p:spTree>
    <p:extLst>
      <p:ext uri="{BB962C8B-B14F-4D97-AF65-F5344CB8AC3E}">
        <p14:creationId xmlns:p14="http://schemas.microsoft.com/office/powerpoint/2010/main" val="14184682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p>
            <a:fld id="{71945E12-28F4-EC45-9FE6-6861EFD09E6C}" type="slidenum">
              <a:rPr lang="en-US"/>
              <a:pPr/>
              <a:t>5</a:t>
            </a:fld>
            <a:endParaRPr lang="en-US"/>
          </a:p>
        </p:txBody>
      </p:sp>
      <p:sp>
        <p:nvSpPr>
          <p:cNvPr id="74755" name="Rectangle 2"/>
          <p:cNvSpPr>
            <a:spLocks noGrp="1" noRot="1" noChangeAspect="1" noChangeArrowheads="1" noTextEdit="1"/>
          </p:cNvSpPr>
          <p:nvPr>
            <p:ph type="sldImg"/>
          </p:nvPr>
        </p:nvSpPr>
        <p:spPr>
          <a:solidFill>
            <a:srgbClr val="FFFFFF"/>
          </a:solidFill>
          <a:ln/>
        </p:spPr>
      </p:sp>
      <p:sp>
        <p:nvSpPr>
          <p:cNvPr id="74756" name="Rectangle 3"/>
          <p:cNvSpPr>
            <a:spLocks noGrp="1" noChangeArrowheads="1"/>
          </p:cNvSpPr>
          <p:nvPr>
            <p:ph type="body" idx="1"/>
          </p:nvPr>
        </p:nvSpPr>
        <p:spPr>
          <a:xfrm>
            <a:off x="912707" y="4463296"/>
            <a:ext cx="5019887" cy="4228386"/>
          </a:xfrm>
          <a:solidFill>
            <a:srgbClr val="FFFFFF"/>
          </a:solidFill>
          <a:ln>
            <a:solidFill>
              <a:srgbClr val="000000"/>
            </a:solidFill>
          </a:ln>
        </p:spPr>
        <p:txBody>
          <a:bodyPr lIns="91435" tIns="45718" rIns="91435" bIns="45718"/>
          <a:lstStyle/>
          <a:p>
            <a:pPr eaLnBrk="1" hangingPunct="1"/>
            <a:r>
              <a:rPr lang="en-US" b="0" dirty="0"/>
              <a:t>It's sometimes convenient to talk about characters we *don't* want to match.  Maybe we want to search for any letter that is neither uppercase S or lowercase s.  For that we use the special character carat, immediately after the open-square-bracket. So [^Ss] means "neither S nor s'.  Or [^A-Z] means "not a capital letter". Or [^.] means any 1 character that is not a period.  The carat has this negation meaning only immediately after the open-square bracket. So if use it later like in the pattern [e^] it means literally e or carat.  IN a moment we'll introduce some special characters, like the period, a special wildcard regular expression that means "any character". But inside the square brackets, it just means "period".</a:t>
            </a:r>
          </a:p>
        </p:txBody>
      </p:sp>
    </p:spTree>
    <p:extLst>
      <p:ext uri="{BB962C8B-B14F-4D97-AF65-F5344CB8AC3E}">
        <p14:creationId xmlns:p14="http://schemas.microsoft.com/office/powerpoint/2010/main" val="126923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p>
            <a:fld id="{71945E12-28F4-EC45-9FE6-6861EFD09E6C}" type="slidenum">
              <a:rPr lang="en-US"/>
              <a:pPr/>
              <a:t>6</a:t>
            </a:fld>
            <a:endParaRPr lang="en-US"/>
          </a:p>
        </p:txBody>
      </p:sp>
      <p:sp>
        <p:nvSpPr>
          <p:cNvPr id="74755" name="Rectangle 2"/>
          <p:cNvSpPr>
            <a:spLocks noGrp="1" noRot="1" noChangeAspect="1" noChangeArrowheads="1" noTextEdit="1"/>
          </p:cNvSpPr>
          <p:nvPr>
            <p:ph type="sldImg"/>
          </p:nvPr>
        </p:nvSpPr>
        <p:spPr>
          <a:solidFill>
            <a:srgbClr val="FFFFFF"/>
          </a:solidFill>
          <a:ln/>
        </p:spPr>
      </p:sp>
      <p:sp>
        <p:nvSpPr>
          <p:cNvPr id="74756" name="Rectangle 3"/>
          <p:cNvSpPr>
            <a:spLocks noGrp="1" noChangeArrowheads="1"/>
          </p:cNvSpPr>
          <p:nvPr>
            <p:ph type="body" idx="1"/>
          </p:nvPr>
        </p:nvSpPr>
        <p:spPr>
          <a:xfrm>
            <a:off x="912707" y="4463296"/>
            <a:ext cx="5019887" cy="4228386"/>
          </a:xfrm>
          <a:solidFill>
            <a:srgbClr val="FFFFFF"/>
          </a:solidFill>
          <a:ln>
            <a:solidFill>
              <a:srgbClr val="000000"/>
            </a:solidFill>
          </a:ln>
        </p:spPr>
        <p:txBody>
          <a:bodyPr lIns="91435" tIns="45718" rIns="91435" bIns="45718"/>
          <a:lstStyle/>
          <a:p>
            <a:pPr eaLnBrk="1" hangingPunct="1"/>
            <a:r>
              <a:rPr lang="en-US" b="0" dirty="0"/>
              <a:t>Finally, we can use a special character, the backslash, to make even more aliases.  So \d means "any one digit", \s means whitespace and \w means any alphanumeric (plus the underbar, slightly confusing). Using the capital letter means negated, so \D means any non-digit.</a:t>
            </a:r>
          </a:p>
        </p:txBody>
      </p:sp>
    </p:spTree>
    <p:extLst>
      <p:ext uri="{BB962C8B-B14F-4D97-AF65-F5344CB8AC3E}">
        <p14:creationId xmlns:p14="http://schemas.microsoft.com/office/powerpoint/2010/main" val="3040778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p>
            <a:fld id="{71945E12-28F4-EC45-9FE6-6861EFD09E6C}" type="slidenum">
              <a:rPr lang="en-US"/>
              <a:pPr/>
              <a:t>7</a:t>
            </a:fld>
            <a:endParaRPr lang="en-US"/>
          </a:p>
        </p:txBody>
      </p:sp>
      <p:sp>
        <p:nvSpPr>
          <p:cNvPr id="74755" name="Rectangle 2"/>
          <p:cNvSpPr>
            <a:spLocks noGrp="1" noRot="1" noChangeAspect="1" noChangeArrowheads="1" noTextEdit="1"/>
          </p:cNvSpPr>
          <p:nvPr>
            <p:ph type="sldImg"/>
          </p:nvPr>
        </p:nvSpPr>
        <p:spPr>
          <a:solidFill>
            <a:srgbClr val="FFFFFF"/>
          </a:solidFill>
          <a:ln/>
        </p:spPr>
      </p:sp>
      <p:sp>
        <p:nvSpPr>
          <p:cNvPr id="74756" name="Rectangle 3"/>
          <p:cNvSpPr>
            <a:spLocks noGrp="1" noChangeArrowheads="1"/>
          </p:cNvSpPr>
          <p:nvPr>
            <p:ph type="body" idx="1"/>
          </p:nvPr>
        </p:nvSpPr>
        <p:spPr>
          <a:xfrm>
            <a:off x="912707" y="4463296"/>
            <a:ext cx="5019887" cy="4228386"/>
          </a:xfrm>
          <a:solidFill>
            <a:srgbClr val="FFFFFF"/>
          </a:solidFill>
          <a:ln>
            <a:solidFill>
              <a:srgbClr val="000000"/>
            </a:solidFill>
          </a:ln>
        </p:spPr>
        <p:txBody>
          <a:bodyPr lIns="91435" tIns="45718" rIns="91435" bIns="45718"/>
          <a:lstStyle/>
          <a:p>
            <a:pPr eaLnBrk="1" hangingPunct="1"/>
            <a:r>
              <a:rPr lang="en-US" b="0" dirty="0"/>
              <a:t>Another useful tool is the pipe symbol, the vertical bar, sometimes called just "or".  It's used when we want to choose between two strings.  So the square brackets choose between individual characters, but the pipe chooses between strings of characters.  So this disjunction means "either the string groundhog or the string woodchuck".  If we did want to </a:t>
            </a:r>
            <a:r>
              <a:rPr lang="en-US" b="0" dirty="0" err="1"/>
              <a:t>speciy</a:t>
            </a:r>
            <a:r>
              <a:rPr lang="en-US" b="0" dirty="0"/>
              <a:t> disjunctions of single letters we could use either the square brackets or the pipe.  And we can combine both like in this pattern that finds lower or </a:t>
            </a:r>
            <a:r>
              <a:rPr lang="en-US" b="0" dirty="0" err="1"/>
              <a:t>iupper</a:t>
            </a:r>
            <a:r>
              <a:rPr lang="en-US" b="0" dirty="0"/>
              <a:t> case, groundhog or woodchuck.</a:t>
            </a:r>
          </a:p>
        </p:txBody>
      </p:sp>
    </p:spTree>
    <p:extLst>
      <p:ext uri="{BB962C8B-B14F-4D97-AF65-F5344CB8AC3E}">
        <p14:creationId xmlns:p14="http://schemas.microsoft.com/office/powerpoint/2010/main" val="17003135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p>
            <a:fld id="{48DFDE8B-28E4-4047-85D4-57A6728EBAFF}" type="slidenum">
              <a:rPr lang="en-US"/>
              <a:pPr/>
              <a:t>8</a:t>
            </a:fld>
            <a:endParaRPr lang="en-US"/>
          </a:p>
        </p:txBody>
      </p:sp>
      <p:sp>
        <p:nvSpPr>
          <p:cNvPr id="76803" name="Rectangle 2"/>
          <p:cNvSpPr>
            <a:spLocks noGrp="1" noRot="1" noChangeAspect="1" noChangeArrowheads="1" noTextEdit="1"/>
          </p:cNvSpPr>
          <p:nvPr>
            <p:ph type="sldImg"/>
          </p:nvPr>
        </p:nvSpPr>
        <p:spPr>
          <a:solidFill>
            <a:srgbClr val="FFFFFF"/>
          </a:solidFill>
          <a:ln/>
        </p:spPr>
      </p:sp>
      <p:sp>
        <p:nvSpPr>
          <p:cNvPr id="76804" name="Rectangle 3"/>
          <p:cNvSpPr>
            <a:spLocks noGrp="1" noChangeArrowheads="1"/>
          </p:cNvSpPr>
          <p:nvPr>
            <p:ph type="body" idx="1"/>
          </p:nvPr>
        </p:nvSpPr>
        <p:spPr>
          <a:xfrm>
            <a:off x="912707" y="4463296"/>
            <a:ext cx="5019887" cy="4228386"/>
          </a:xfrm>
          <a:solidFill>
            <a:srgbClr val="FFFFFF"/>
          </a:solidFill>
          <a:ln>
            <a:solidFill>
              <a:srgbClr val="000000"/>
            </a:solidFill>
          </a:ln>
        </p:spPr>
        <p:txBody>
          <a:bodyPr lIns="91435" tIns="45718" rIns="91435" bIns="45718"/>
          <a:lstStyle/>
          <a:p>
            <a:pPr eaLnBrk="1" hangingPunct="1"/>
            <a:r>
              <a:rPr lang="en-US" b="0" dirty="0"/>
              <a:t>The period is a wildcard, it matches any character.  So </a:t>
            </a:r>
            <a:r>
              <a:rPr lang="en-US" b="0" dirty="0" err="1"/>
              <a:t>beg.n</a:t>
            </a:r>
            <a:r>
              <a:rPr lang="en-US" b="0" dirty="0"/>
              <a:t> matches any of these. The question mark is used for an optional prior character. So s? means with or without the s. So this pattern will match both woodchuck and woodchucks. The two Kleene operators, * and +, named after Stephen Kleene.  So o* means 0 or more </a:t>
            </a:r>
            <a:r>
              <a:rPr lang="en-US" b="0" dirty="0" err="1"/>
              <a:t>os</a:t>
            </a:r>
            <a:r>
              <a:rPr lang="en-US" b="0" dirty="0"/>
              <a:t>.  So we have the initial t, followed by zero or o's. So t Is the initial t followed by zero o's, to is the initial t followed by 1 o, and so on.  Kleene + is a slight modification, it just means 1 or more of the prior character. So this pattern matches a 1 followed by one or more o's.  </a:t>
            </a:r>
          </a:p>
        </p:txBody>
      </p:sp>
    </p:spTree>
    <p:extLst>
      <p:ext uri="{BB962C8B-B14F-4D97-AF65-F5344CB8AC3E}">
        <p14:creationId xmlns:p14="http://schemas.microsoft.com/office/powerpoint/2010/main" val="18745458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1B422F39-6D47-7E4A-B2A9-7EB2D50CD805}" type="slidenum">
              <a:rPr lang="en-US"/>
              <a:pPr/>
              <a:t>9</a:t>
            </a:fld>
            <a:endParaRPr lang="en-US"/>
          </a:p>
        </p:txBody>
      </p:sp>
      <p:sp>
        <p:nvSpPr>
          <p:cNvPr id="78851" name="Rectangle 2"/>
          <p:cNvSpPr>
            <a:spLocks noGrp="1" noRot="1" noChangeAspect="1" noChangeArrowheads="1" noTextEdit="1"/>
          </p:cNvSpPr>
          <p:nvPr>
            <p:ph type="sldImg"/>
          </p:nvPr>
        </p:nvSpPr>
        <p:spPr>
          <a:solidFill>
            <a:srgbClr val="FFFFFF"/>
          </a:solidFill>
          <a:ln/>
        </p:spPr>
      </p:sp>
      <p:sp>
        <p:nvSpPr>
          <p:cNvPr id="78852" name="Rectangle 3"/>
          <p:cNvSpPr>
            <a:spLocks noGrp="1" noChangeArrowheads="1"/>
          </p:cNvSpPr>
          <p:nvPr>
            <p:ph type="body" idx="1"/>
          </p:nvPr>
        </p:nvSpPr>
        <p:spPr>
          <a:xfrm>
            <a:off x="912707" y="4463296"/>
            <a:ext cx="5019887" cy="4228386"/>
          </a:xfrm>
          <a:solidFill>
            <a:srgbClr val="FFFFFF"/>
          </a:solidFill>
          <a:ln>
            <a:solidFill>
              <a:srgbClr val="000000"/>
            </a:solidFill>
          </a:ln>
        </p:spPr>
        <p:txBody>
          <a:bodyPr lIns="91435" tIns="45718" rIns="91435" bIns="45718"/>
          <a:lstStyle/>
          <a:p>
            <a:pPr eaLnBrk="1" hangingPunct="1"/>
            <a:r>
              <a:rPr lang="en-US" b="1" dirty="0"/>
              <a:t>And finally, two special characters that are about lines: The carat matches the start of the line, and the $ matches the end of the line.  So carat [A-Z] means "a capital letter at the start of a line" (the carat has different meanings depending on placement;  if we put the carat inside the square brackets, instead of meaning start, it means negation).  Finally, we saw that dot means any character, so how do we refer to a literal period?  By using the backslash command.  Backlash period means a literally period.  So \.$ matches a period at the end of a line.  While just .$ matches anything at the end of </a:t>
            </a:r>
            <a:r>
              <a:rPr lang="en-US" b="1" dirty="0" err="1"/>
              <a:t>ht</a:t>
            </a:r>
            <a:r>
              <a:rPr lang="en-US" b="1" dirty="0"/>
              <a:t> </a:t>
            </a:r>
            <a:r>
              <a:rPr lang="en-US" b="1" dirty="0" err="1"/>
              <a:t>eline</a:t>
            </a:r>
            <a:endParaRPr lang="en-US" b="1" dirty="0"/>
          </a:p>
        </p:txBody>
      </p:sp>
    </p:spTree>
    <p:extLst>
      <p:ext uri="{BB962C8B-B14F-4D97-AF65-F5344CB8AC3E}">
        <p14:creationId xmlns:p14="http://schemas.microsoft.com/office/powerpoint/2010/main" val="12066744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EB9031F-EB71-7642-8F3C-6FDC1408CB92}" type="slidenum">
              <a:rPr lang="en-US" smtClean="0"/>
              <a:pPr/>
              <a:t>10</a:t>
            </a:fld>
            <a:endParaRPr lang="en-US"/>
          </a:p>
        </p:txBody>
      </p:sp>
    </p:spTree>
    <p:extLst>
      <p:ext uri="{BB962C8B-B14F-4D97-AF65-F5344CB8AC3E}">
        <p14:creationId xmlns:p14="http://schemas.microsoft.com/office/powerpoint/2010/main" val="14170887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E0D70C18-464E-3545-9CA1-FC88A632BD18}" type="slidenum">
              <a:rPr lang="en-US"/>
              <a:pPr/>
              <a:t>11</a:t>
            </a:fld>
            <a:endParaRPr lang="en-US"/>
          </a:p>
        </p:txBody>
      </p:sp>
      <p:sp>
        <p:nvSpPr>
          <p:cNvPr id="82947" name="Rectangle 2"/>
          <p:cNvSpPr>
            <a:spLocks noGrp="1" noRot="1" noChangeAspect="1" noChangeArrowheads="1"/>
          </p:cNvSpPr>
          <p:nvPr>
            <p:ph type="sldImg"/>
          </p:nvPr>
        </p:nvSpPr>
        <p:spPr>
          <a:solidFill>
            <a:srgbClr val="FFFFFF"/>
          </a:solidFill>
          <a:ln/>
        </p:spPr>
      </p:sp>
      <p:sp>
        <p:nvSpPr>
          <p:cNvPr id="82948"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p>
        </p:txBody>
      </p:sp>
    </p:spTree>
    <p:extLst>
      <p:ext uri="{BB962C8B-B14F-4D97-AF65-F5344CB8AC3E}">
        <p14:creationId xmlns:p14="http://schemas.microsoft.com/office/powerpoint/2010/main" val="15493939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p>
            <a:fld id="{3F82BD90-5842-9D48-A685-621D2A4C3779}" type="slidenum">
              <a:rPr lang="en-US"/>
              <a:pPr/>
              <a:t>12</a:t>
            </a:fld>
            <a:endParaRPr lang="en-US"/>
          </a:p>
        </p:txBody>
      </p:sp>
      <p:sp>
        <p:nvSpPr>
          <p:cNvPr id="84995" name="Rectangle 2"/>
          <p:cNvSpPr>
            <a:spLocks noGrp="1" noRot="1" noChangeAspect="1" noChangeArrowheads="1"/>
          </p:cNvSpPr>
          <p:nvPr>
            <p:ph type="sldImg"/>
          </p:nvPr>
        </p:nvSpPr>
        <p:spPr>
          <a:solidFill>
            <a:srgbClr val="FFFFFF"/>
          </a:solidFill>
          <a:ln/>
        </p:spPr>
      </p:sp>
      <p:sp>
        <p:nvSpPr>
          <p:cNvPr id="84996"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p>
        </p:txBody>
      </p:sp>
    </p:spTree>
    <p:extLst>
      <p:ext uri="{BB962C8B-B14F-4D97-AF65-F5344CB8AC3E}">
        <p14:creationId xmlns:p14="http://schemas.microsoft.com/office/powerpoint/2010/main" val="3642349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p>
            <a:fld id="{A0149E1A-5C54-D64B-9E9D-5A113A6AF7E6}" type="slidenum">
              <a:rPr lang="en-US"/>
              <a:pPr/>
              <a:t>13</a:t>
            </a:fld>
            <a:endParaRPr lang="en-US"/>
          </a:p>
        </p:txBody>
      </p:sp>
      <p:sp>
        <p:nvSpPr>
          <p:cNvPr id="87043" name="Rectangle 2"/>
          <p:cNvSpPr>
            <a:spLocks noGrp="1" noRot="1" noChangeAspect="1" noChangeArrowheads="1"/>
          </p:cNvSpPr>
          <p:nvPr>
            <p:ph type="sldImg"/>
          </p:nvPr>
        </p:nvSpPr>
        <p:spPr>
          <a:solidFill>
            <a:srgbClr val="FFFFFF"/>
          </a:solidFill>
          <a:ln/>
        </p:spPr>
      </p:sp>
      <p:sp>
        <p:nvSpPr>
          <p:cNvPr id="87044" name="Rectangle 3"/>
          <p:cNvSpPr>
            <a:spLocks noGrp="1" noChangeArrowheads="1"/>
          </p:cNvSpPr>
          <p:nvPr>
            <p:ph type="body" idx="1"/>
          </p:nvPr>
        </p:nvSpPr>
        <p:spPr>
          <a:solidFill>
            <a:srgbClr val="FFFFFF"/>
          </a:solidFill>
          <a:ln>
            <a:solidFill>
              <a:srgbClr val="000000"/>
            </a:solidFill>
          </a:ln>
        </p:spPr>
        <p:txBody>
          <a:bodyPr/>
          <a:lstStyle/>
          <a:p>
            <a:pPr eaLnBrk="1" hangingPunct="1"/>
            <a:r>
              <a:rPr lang="en-US" dirty="0"/>
              <a:t>It turns out in natural language processing we are constantly dealing with these kinds of errors. So reducing</a:t>
            </a:r>
          </a:p>
        </p:txBody>
      </p:sp>
    </p:spTree>
    <p:extLst>
      <p:ext uri="{BB962C8B-B14F-4D97-AF65-F5344CB8AC3E}">
        <p14:creationId xmlns:p14="http://schemas.microsoft.com/office/powerpoint/2010/main" val="16384620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22960" y="569214"/>
            <a:ext cx="7543800" cy="2674620"/>
          </a:xfrm>
        </p:spPr>
        <p:txBody>
          <a:bodyPr anchor="b">
            <a:normAutofit/>
          </a:bodyPr>
          <a:lstStyle>
            <a:lvl1pPr algn="l">
              <a:lnSpc>
                <a:spcPct val="85000"/>
              </a:lnSpc>
              <a:defRPr sz="6000" spc="-38"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3341716"/>
            <a:ext cx="7543800" cy="857250"/>
          </a:xfrm>
        </p:spPr>
        <p:txBody>
          <a:bodyPr lIns="91440" rIns="91440">
            <a:normAutofit/>
          </a:bodyPr>
          <a:lstStyle>
            <a:lvl1pPr marL="0" indent="0" algn="l">
              <a:buNone/>
              <a:defRPr sz="1800" cap="all" spc="150" baseline="0">
                <a:solidFill>
                  <a:schemeClr val="tx2"/>
                </a:solidFill>
                <a:latin typeface="+mj-lt"/>
              </a:defRPr>
            </a:lvl1pPr>
            <a:lvl2pPr marL="342900" indent="0" algn="ctr">
              <a:buNone/>
              <a:defRPr sz="18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40CDC23-E565-C848-9AF6-12BD09C53D91}" type="datetimeFigureOut">
              <a:rPr lang="en-US" smtClean="0"/>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t>‹#›</a:t>
            </a:fld>
            <a:endParaRPr lang="en-US"/>
          </a:p>
        </p:txBody>
      </p:sp>
      <p:sp>
        <p:nvSpPr>
          <p:cNvPr id="11" name="Rectangle 10"/>
          <p:cNvSpPr/>
          <p:nvPr userDrawn="1"/>
        </p:nvSpPr>
        <p:spPr>
          <a:xfrm rot="16200000">
            <a:off x="-2549264" y="2474314"/>
            <a:ext cx="5143502" cy="19487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userDrawn="1"/>
        </p:nvSpPr>
        <p:spPr>
          <a:xfrm rot="16200000" flipV="1">
            <a:off x="-2442604" y="2560132"/>
            <a:ext cx="51435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173126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22960" y="119702"/>
            <a:ext cx="7543800" cy="680397"/>
          </a:xfrm>
        </p:spPr>
        <p:txBody>
          <a:bodyPr/>
          <a:lstStyle/>
          <a:p>
            <a:r>
              <a:rPr lang="en-US" dirty="0"/>
              <a:t>Click to edit Master title style</a:t>
            </a:r>
          </a:p>
        </p:txBody>
      </p:sp>
      <p:sp>
        <p:nvSpPr>
          <p:cNvPr id="3" name="Content Placeholder 2"/>
          <p:cNvSpPr>
            <a:spLocks noGrp="1"/>
          </p:cNvSpPr>
          <p:nvPr>
            <p:ph idx="1"/>
          </p:nvPr>
        </p:nvSpPr>
        <p:spPr>
          <a:xfrm>
            <a:off x="822960" y="1200150"/>
            <a:ext cx="7543801" cy="3429000"/>
          </a:xfrm>
        </p:spPr>
        <p:txBody>
          <a:bodyPr/>
          <a:lstStyle>
            <a:lvl1pPr marL="7938" indent="-7938">
              <a:tabLst/>
              <a:defRPr sz="2800" baseline="0"/>
            </a:lvl1pPr>
            <a:lvl2pPr marL="404813" indent="-254000">
              <a:tabLst/>
              <a:defRPr sz="2400" baseline="0"/>
            </a:lvl2pPr>
            <a:lvl3pPr marL="515938" indent="-228600">
              <a:tabLst/>
              <a:defRPr sz="2000" baseline="0"/>
            </a:lvl3pPr>
            <a:lvl4pPr marL="690563" indent="-265113">
              <a:tabLst/>
              <a:defRPr sz="1600" baseline="0"/>
            </a:lvl4pPr>
            <a:lvl5pPr marL="801688" indent="-239713">
              <a:tabLst/>
              <a:defRPr sz="1400" baseline="0">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40CDC23-E565-C848-9AF6-12BD09C53D91}" type="datetimeFigureOut">
              <a:rPr lang="en-US" smtClean="0"/>
              <a:t>6/10/2026</a:t>
            </a:fld>
            <a:endParaRPr lang="en-US"/>
          </a:p>
        </p:txBody>
      </p:sp>
      <p:sp>
        <p:nvSpPr>
          <p:cNvPr id="5" name="Footer Placeholder 4"/>
          <p:cNvSpPr>
            <a:spLocks noGrp="1"/>
          </p:cNvSpPr>
          <p:nvPr>
            <p:ph type="ftr" sz="quarter" idx="11"/>
          </p:nvPr>
        </p:nvSpPr>
        <p:spPr>
          <a:xfrm>
            <a:off x="2764640" y="5029201"/>
            <a:ext cx="3617103" cy="89483"/>
          </a:xfrm>
        </p:spPr>
        <p:txBody>
          <a:bodyPr/>
          <a:lstStyle>
            <a:lvl1pPr>
              <a:defRPr sz="600">
                <a:solidFill>
                  <a:schemeClr val="tx1"/>
                </a:solidFill>
              </a:defRPr>
            </a:lvl1pPr>
          </a:lstStyle>
          <a:p>
            <a:r>
              <a:rPr lang="en-US" dirty="0"/>
              <a:t>Slides adapted from Jure </a:t>
            </a:r>
            <a:r>
              <a:rPr lang="en-US" dirty="0" err="1"/>
              <a:t>Leskovec</a:t>
            </a:r>
            <a:endParaRPr lang="en-US" sz="525" dirty="0"/>
          </a:p>
          <a:p>
            <a:endParaRPr lang="en-US" dirty="0"/>
          </a:p>
        </p:txBody>
      </p:sp>
      <p:sp>
        <p:nvSpPr>
          <p:cNvPr id="6" name="Slide Number Placeholder 5"/>
          <p:cNvSpPr>
            <a:spLocks noGrp="1"/>
          </p:cNvSpPr>
          <p:nvPr>
            <p:ph type="sldNum" sz="quarter" idx="12"/>
          </p:nvPr>
        </p:nvSpPr>
        <p:spPr/>
        <p:txBody>
          <a:bodyPr/>
          <a:lstStyle/>
          <a:p>
            <a:fld id="{D07771B2-D7F7-364E-B6F3-F7FE93606BCE}" type="slidenum">
              <a:rPr lang="en-US" smtClean="0"/>
              <a:t>‹#›</a:t>
            </a:fld>
            <a:endParaRPr lang="en-US"/>
          </a:p>
        </p:txBody>
      </p:sp>
    </p:spTree>
    <p:extLst>
      <p:ext uri="{BB962C8B-B14F-4D97-AF65-F5344CB8AC3E}">
        <p14:creationId xmlns:p14="http://schemas.microsoft.com/office/powerpoint/2010/main" val="2757257237"/>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22960" y="569214"/>
            <a:ext cx="7543800" cy="2674620"/>
          </a:xfrm>
        </p:spPr>
        <p:txBody>
          <a:bodyPr anchor="b" anchorCtr="0">
            <a:normAutofit/>
          </a:bodyPr>
          <a:lstStyle>
            <a:lvl1pPr>
              <a:lnSpc>
                <a:spcPct val="85000"/>
              </a:lnSpc>
              <a:defRPr sz="6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3339846"/>
            <a:ext cx="7543800" cy="857250"/>
          </a:xfrm>
        </p:spPr>
        <p:txBody>
          <a:bodyPr lIns="91440" rIns="91440" anchor="t" anchorCtr="0">
            <a:normAutofit/>
          </a:bodyPr>
          <a:lstStyle>
            <a:lvl1pPr marL="0" indent="0">
              <a:buNone/>
              <a:defRPr sz="1800" cap="all" spc="150" baseline="0">
                <a:solidFill>
                  <a:schemeClr val="tx2"/>
                </a:solidFill>
                <a:latin typeface="+mj-lt"/>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0CDC23-E565-C848-9AF6-12BD09C53D91}" type="datetimeFigureOut">
              <a:rPr lang="en-US" smtClean="0"/>
              <a:t>6/10/2026</a:t>
            </a:fld>
            <a:endParaRPr lang="en-US"/>
          </a:p>
        </p:txBody>
      </p:sp>
      <p:sp>
        <p:nvSpPr>
          <p:cNvPr id="5" name="Footer Placeholder 4"/>
          <p:cNvSpPr>
            <a:spLocks noGrp="1"/>
          </p:cNvSpPr>
          <p:nvPr>
            <p:ph type="ftr" sz="quarter" idx="11"/>
          </p:nvPr>
        </p:nvSpPr>
        <p:spPr/>
        <p:txBody>
          <a:bodyPr/>
          <a:lstStyle>
            <a:lvl1pPr>
              <a:defRPr>
                <a:solidFill>
                  <a:schemeClr val="tx1"/>
                </a:solidFill>
              </a:defRPr>
            </a:lvl1pPr>
          </a:lstStyle>
          <a:p>
            <a:endParaRPr lang="en-US" dirty="0"/>
          </a:p>
        </p:txBody>
      </p:sp>
      <p:sp>
        <p:nvSpPr>
          <p:cNvPr id="6" name="Slide Number Placeholder 5"/>
          <p:cNvSpPr>
            <a:spLocks noGrp="1"/>
          </p:cNvSpPr>
          <p:nvPr>
            <p:ph type="sldNum" sz="quarter" idx="12"/>
          </p:nvPr>
        </p:nvSpPr>
        <p:spPr/>
        <p:txBody>
          <a:bodyPr/>
          <a:lstStyle/>
          <a:p>
            <a:fld id="{D07771B2-D7F7-364E-B6F3-F7FE93606BCE}" type="slidenum">
              <a:rPr lang="en-US" smtClean="0"/>
              <a:t>‹#›</a:t>
            </a:fld>
            <a:endParaRPr lang="en-US"/>
          </a:p>
        </p:txBody>
      </p:sp>
      <p:cxnSp>
        <p:nvCxnSpPr>
          <p:cNvPr id="9" name="Straight Connector 8"/>
          <p:cNvCxnSpPr/>
          <p:nvPr/>
        </p:nvCxnSpPr>
        <p:spPr>
          <a:xfrm>
            <a:off x="905744" y="325755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Rectangle 9"/>
          <p:cNvSpPr/>
          <p:nvPr userDrawn="1"/>
        </p:nvSpPr>
        <p:spPr>
          <a:xfrm rot="16200000">
            <a:off x="-2556759" y="2481809"/>
            <a:ext cx="5143502" cy="17988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userDrawn="1"/>
        </p:nvSpPr>
        <p:spPr>
          <a:xfrm rot="16200000" flipV="1">
            <a:off x="-2472584" y="2548889"/>
            <a:ext cx="51435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5104571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14953"/>
            <a:ext cx="7543800" cy="1088068"/>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384301"/>
            <a:ext cx="3703320" cy="3017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384303"/>
            <a:ext cx="3703320" cy="30175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40CDC23-E565-C848-9AF6-12BD09C53D91}" type="datetimeFigureOut">
              <a:rPr lang="en-US" smtClean="0"/>
              <a:t>6/10/2026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07771B2-D7F7-364E-B6F3-F7FE93606BCE}" type="slidenum">
              <a:rPr lang="en-US" smtClean="0"/>
              <a:t>‹#›</a:t>
            </a:fld>
            <a:endParaRPr lang="en-US"/>
          </a:p>
        </p:txBody>
      </p:sp>
    </p:spTree>
    <p:extLst>
      <p:ext uri="{BB962C8B-B14F-4D97-AF65-F5344CB8AC3E}">
        <p14:creationId xmlns:p14="http://schemas.microsoft.com/office/powerpoint/2010/main" val="9353204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14953"/>
            <a:ext cx="7543800" cy="1088068"/>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384539"/>
            <a:ext cx="3703320" cy="55221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22960" y="1936751"/>
            <a:ext cx="3703320" cy="24650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384539"/>
            <a:ext cx="3703320" cy="55221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63440" y="1936751"/>
            <a:ext cx="3703320" cy="24650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40CDC23-E565-C848-9AF6-12BD09C53D91}" type="datetimeFigureOut">
              <a:rPr lang="en-US" smtClean="0"/>
              <a:t>6/10/2026</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07771B2-D7F7-364E-B6F3-F7FE93606BCE}" type="slidenum">
              <a:rPr lang="en-US" smtClean="0"/>
              <a:t>‹#›</a:t>
            </a:fld>
            <a:endParaRPr lang="en-US"/>
          </a:p>
        </p:txBody>
      </p:sp>
    </p:spTree>
    <p:extLst>
      <p:ext uri="{BB962C8B-B14F-4D97-AF65-F5344CB8AC3E}">
        <p14:creationId xmlns:p14="http://schemas.microsoft.com/office/powerpoint/2010/main" val="31237059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22960" y="214953"/>
            <a:ext cx="7543800" cy="604197"/>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40CDC23-E565-C848-9AF6-12BD09C53D91}" type="datetimeFigureOut">
              <a:rPr lang="en-US" smtClean="0"/>
              <a:t>6/10/2026</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07771B2-D7F7-364E-B6F3-F7FE93606BCE}" type="slidenum">
              <a:rPr lang="en-US" smtClean="0"/>
              <a:t>‹#›</a:t>
            </a:fld>
            <a:endParaRPr lang="en-US"/>
          </a:p>
        </p:txBody>
      </p:sp>
    </p:spTree>
    <p:extLst>
      <p:ext uri="{BB962C8B-B14F-4D97-AF65-F5344CB8AC3E}">
        <p14:creationId xmlns:p14="http://schemas.microsoft.com/office/powerpoint/2010/main" val="847589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4" y="0"/>
            <a:ext cx="3038093"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3030053" y="0"/>
            <a:ext cx="48006"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342900" y="445769"/>
            <a:ext cx="2400300" cy="1714500"/>
          </a:xfrm>
        </p:spPr>
        <p:txBody>
          <a:bodyPr anchor="b">
            <a:normAutofit/>
          </a:bodyPr>
          <a:lstStyle>
            <a:lvl1pPr>
              <a:defRPr sz="27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460238" y="548640"/>
            <a:ext cx="5009393" cy="39433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194560"/>
            <a:ext cx="2400300" cy="2534343"/>
          </a:xfrm>
        </p:spPr>
        <p:txBody>
          <a:bodyPr lIns="91440" rIns="91440">
            <a:normAutofit/>
          </a:bodyPr>
          <a:lstStyle>
            <a:lvl1pPr marL="0" indent="0">
              <a:buNone/>
              <a:defRPr sz="1125">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a:xfrm>
            <a:off x="349135" y="4844840"/>
            <a:ext cx="1963883" cy="273844"/>
          </a:xfrm>
        </p:spPr>
        <p:txBody>
          <a:bodyPr/>
          <a:lstStyle>
            <a:lvl1pPr algn="l">
              <a:defRPr/>
            </a:lvl1pPr>
          </a:lstStyle>
          <a:p>
            <a:fld id="{240CDC23-E565-C848-9AF6-12BD09C53D91}" type="datetimeFigureOut">
              <a:rPr lang="en-US" smtClean="0"/>
              <a:t>6/10/2026</a:t>
            </a:fld>
            <a:endParaRPr lang="en-US"/>
          </a:p>
        </p:txBody>
      </p:sp>
      <p:sp>
        <p:nvSpPr>
          <p:cNvPr id="6" name="Footer Placeholder 5"/>
          <p:cNvSpPr>
            <a:spLocks noGrp="1"/>
          </p:cNvSpPr>
          <p:nvPr>
            <p:ph type="ftr" sz="quarter" idx="11"/>
          </p:nvPr>
        </p:nvSpPr>
        <p:spPr>
          <a:xfrm>
            <a:off x="3600450" y="4844840"/>
            <a:ext cx="3486150" cy="273844"/>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07771B2-D7F7-364E-B6F3-F7FE93606BCE}" type="slidenum">
              <a:rPr lang="en-US" smtClean="0"/>
              <a:t>‹#›</a:t>
            </a:fld>
            <a:endParaRPr lang="en-US"/>
          </a:p>
        </p:txBody>
      </p:sp>
    </p:spTree>
    <p:extLst>
      <p:ext uri="{BB962C8B-B14F-4D97-AF65-F5344CB8AC3E}">
        <p14:creationId xmlns:p14="http://schemas.microsoft.com/office/powerpoint/2010/main" val="34616494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0CDC23-E565-C848-9AF6-12BD09C53D91}" type="datetimeFigureOut">
              <a:rPr lang="en-US" smtClean="0"/>
              <a:t>6/10/2026</a:t>
            </a:fld>
            <a:r>
              <a:rPr lang="en-US" dirty="0" err="1"/>
              <a:t>sss</a:t>
            </a:r>
            <a:endParaRPr lang="en-US" dirty="0"/>
          </a:p>
        </p:txBody>
      </p:sp>
      <p:sp>
        <p:nvSpPr>
          <p:cNvPr id="5" name="Footer Placeholder 4"/>
          <p:cNvSpPr>
            <a:spLocks noGrp="1"/>
          </p:cNvSpPr>
          <p:nvPr>
            <p:ph type="ftr" sz="quarter" idx="11"/>
          </p:nvPr>
        </p:nvSpPr>
        <p:spPr/>
        <p:txBody>
          <a:bodyPr/>
          <a:lstStyle>
            <a:lvl1pPr>
              <a:defRPr>
                <a:solidFill>
                  <a:schemeClr val="tx1"/>
                </a:solidFill>
              </a:defRPr>
            </a:lvl1pPr>
          </a:lstStyle>
          <a:p>
            <a:r>
              <a:rPr lang="en-US" dirty="0"/>
              <a:t>Slides adapted from Jure </a:t>
            </a:r>
            <a:r>
              <a:rPr lang="en-US" dirty="0" err="1"/>
              <a:t>Leskovec</a:t>
            </a:r>
            <a:endParaRPr lang="en-US" sz="600" dirty="0"/>
          </a:p>
        </p:txBody>
      </p:sp>
      <p:sp>
        <p:nvSpPr>
          <p:cNvPr id="6" name="Slide Number Placeholder 5"/>
          <p:cNvSpPr>
            <a:spLocks noGrp="1"/>
          </p:cNvSpPr>
          <p:nvPr>
            <p:ph type="sldNum" sz="quarter" idx="12"/>
          </p:nvPr>
        </p:nvSpPr>
        <p:spPr/>
        <p:txBody>
          <a:bodyPr/>
          <a:lstStyle/>
          <a:p>
            <a:fld id="{D07771B2-D7F7-364E-B6F3-F7FE93606BCE}" type="slidenum">
              <a:rPr lang="en-US" smtClean="0"/>
              <a:t>‹#›</a:t>
            </a:fld>
            <a:endParaRPr lang="en-US"/>
          </a:p>
        </p:txBody>
      </p:sp>
    </p:spTree>
    <p:extLst>
      <p:ext uri="{BB962C8B-B14F-4D97-AF65-F5344CB8AC3E}">
        <p14:creationId xmlns:p14="http://schemas.microsoft.com/office/powerpoint/2010/main" val="12677285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itle" preserve="1">
  <p:cSld name="1_Title Slide">
    <p:spTree>
      <p:nvGrpSpPr>
        <p:cNvPr id="1" name=""/>
        <p:cNvGrpSpPr/>
        <p:nvPr/>
      </p:nvGrpSpPr>
      <p:grpSpPr>
        <a:xfrm>
          <a:off x="0" y="0"/>
          <a:ext cx="0" cy="0"/>
          <a:chOff x="0" y="0"/>
          <a:chExt cx="0" cy="0"/>
        </a:xfrm>
      </p:grpSpPr>
      <p:sp>
        <p:nvSpPr>
          <p:cNvPr id="205826" name="Rectangle 2"/>
          <p:cNvSpPr>
            <a:spLocks noGrp="1" noChangeArrowheads="1"/>
          </p:cNvSpPr>
          <p:nvPr>
            <p:ph type="ctrTitle"/>
          </p:nvPr>
        </p:nvSpPr>
        <p:spPr>
          <a:xfrm>
            <a:off x="4572000" y="510778"/>
            <a:ext cx="3890964" cy="1298972"/>
          </a:xfrm>
        </p:spPr>
        <p:txBody>
          <a:bodyPr/>
          <a:lstStyle>
            <a:lvl1pPr algn="ctr">
              <a:defRPr sz="2400" b="1"/>
            </a:lvl1pPr>
          </a:lstStyle>
          <a:p>
            <a:r>
              <a:rPr lang="en-US"/>
              <a:t>Click to edit Master title style</a:t>
            </a:r>
            <a:endParaRPr lang="en-US" dirty="0"/>
          </a:p>
        </p:txBody>
      </p:sp>
      <p:sp>
        <p:nvSpPr>
          <p:cNvPr id="205827" name="Rectangle 3"/>
          <p:cNvSpPr>
            <a:spLocks noGrp="1" noChangeArrowheads="1"/>
          </p:cNvSpPr>
          <p:nvPr>
            <p:ph type="subTitle" idx="1"/>
          </p:nvPr>
        </p:nvSpPr>
        <p:spPr>
          <a:xfrm>
            <a:off x="4572000" y="2876550"/>
            <a:ext cx="3886200" cy="1676400"/>
          </a:xfrm>
        </p:spPr>
        <p:txBody>
          <a:bodyPr/>
          <a:lstStyle>
            <a:lvl1pPr marL="0" indent="0" algn="ctr">
              <a:spcBef>
                <a:spcPts val="675"/>
              </a:spcBef>
              <a:buFont typeface="Times" pitchFamily="-65" charset="0"/>
              <a:buNone/>
              <a:defRPr/>
            </a:lvl1pPr>
          </a:lstStyle>
          <a:p>
            <a:r>
              <a:rPr lang="en-US"/>
              <a:t>Click to edit Master subtitle style</a:t>
            </a:r>
            <a:endParaRPr lang="en-US" dirty="0"/>
          </a:p>
        </p:txBody>
      </p:sp>
      <p:sp>
        <p:nvSpPr>
          <p:cNvPr id="5" name="Rectangle 4"/>
          <p:cNvSpPr>
            <a:spLocks noGrp="1" noChangeArrowheads="1"/>
          </p:cNvSpPr>
          <p:nvPr>
            <p:ph type="dt" sz="half" idx="10"/>
          </p:nvPr>
        </p:nvSpPr>
        <p:spPr>
          <a:xfrm>
            <a:off x="7239000" y="4705350"/>
            <a:ext cx="1219200" cy="342900"/>
          </a:xfrm>
        </p:spPr>
        <p:txBody>
          <a:bodyPr anchor="b"/>
          <a:lstStyle>
            <a:lvl1pPr>
              <a:defRPr>
                <a:solidFill>
                  <a:schemeClr val="bg2"/>
                </a:solidFill>
              </a:defRPr>
            </a:lvl1pPr>
          </a:lstStyle>
          <a:p>
            <a:pPr>
              <a:defRPr/>
            </a:pPr>
            <a:endParaRPr lang="en-US" dirty="0"/>
          </a:p>
        </p:txBody>
      </p:sp>
      <p:sp>
        <p:nvSpPr>
          <p:cNvPr id="6" name="Rectangle 5"/>
          <p:cNvSpPr>
            <a:spLocks noGrp="1" noChangeArrowheads="1"/>
          </p:cNvSpPr>
          <p:nvPr>
            <p:ph type="ftr" sz="quarter" idx="11"/>
          </p:nvPr>
        </p:nvSpPr>
        <p:spPr>
          <a:xfrm>
            <a:off x="5334000" y="4705350"/>
            <a:ext cx="1905000" cy="342900"/>
          </a:xfrm>
        </p:spPr>
        <p:txBody>
          <a:bodyPr anchor="b"/>
          <a:lstStyle>
            <a:lvl1pPr>
              <a:defRPr>
                <a:solidFill>
                  <a:schemeClr val="bg2"/>
                </a:solidFill>
              </a:defRPr>
            </a:lvl1pPr>
          </a:lstStyle>
          <a:p>
            <a:pPr>
              <a:defRPr/>
            </a:pPr>
            <a:endParaRPr lang="en-US" dirty="0"/>
          </a:p>
        </p:txBody>
      </p:sp>
      <p:sp>
        <p:nvSpPr>
          <p:cNvPr id="11" name="Rectangle 6"/>
          <p:cNvSpPr>
            <a:spLocks noGrp="1" noChangeArrowheads="1"/>
          </p:cNvSpPr>
          <p:nvPr>
            <p:ph type="sldNum" sz="quarter" idx="12"/>
          </p:nvPr>
        </p:nvSpPr>
        <p:spPr>
          <a:xfrm>
            <a:off x="4572000" y="4705350"/>
            <a:ext cx="765174" cy="342900"/>
          </a:xfrm>
        </p:spPr>
        <p:txBody>
          <a:bodyPr anchor="b"/>
          <a:lstStyle>
            <a:lvl1pPr>
              <a:defRPr>
                <a:solidFill>
                  <a:schemeClr val="bg2"/>
                </a:solidFill>
              </a:defRPr>
            </a:lvl1pPr>
          </a:lstStyle>
          <a:p>
            <a:fld id="{E74C7FEE-6B48-4643-BCFB-F13B0E13E171}" type="slidenum">
              <a:rPr lang="en-US"/>
              <a:pPr/>
              <a:t>‹#›</a:t>
            </a:fld>
            <a:endParaRPr lang="en-US" dirty="0"/>
          </a:p>
        </p:txBody>
      </p:sp>
    </p:spTree>
    <p:extLst>
      <p:ext uri="{BB962C8B-B14F-4D97-AF65-F5344CB8AC3E}">
        <p14:creationId xmlns:p14="http://schemas.microsoft.com/office/powerpoint/2010/main" val="28551815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04800" y="1253728"/>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04800" y="1733550"/>
            <a:ext cx="4040188" cy="2971800"/>
          </a:xfrm>
        </p:spPr>
        <p:txBody>
          <a:bodyPr/>
          <a:lstStyle>
            <a:lvl1pPr>
              <a:defRPr sz="2400"/>
            </a:lvl1pPr>
            <a:lvl2pPr>
              <a:defRPr sz="2000"/>
            </a:lvl2pPr>
            <a:lvl3pPr>
              <a:defRPr sz="20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92626" y="1253728"/>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492626" y="1733550"/>
            <a:ext cx="4041775" cy="2971800"/>
          </a:xfrm>
        </p:spPr>
        <p:txBody>
          <a:bodyPr/>
          <a:lstStyle>
            <a:lvl1pPr>
              <a:defRPr sz="2400"/>
            </a:lvl1pPr>
            <a:lvl2pPr>
              <a:defRPr sz="2000"/>
            </a:lvl2pPr>
            <a:lvl3pPr>
              <a:defRPr sz="20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5"/>
          <p:cNvSpPr>
            <a:spLocks noGrp="1" noChangeArrowheads="1"/>
          </p:cNvSpPr>
          <p:nvPr>
            <p:ph type="dt" sz="half" idx="10"/>
          </p:nvPr>
        </p:nvSpPr>
        <p:spPr>
          <a:xfrm>
            <a:off x="6248400" y="4705350"/>
            <a:ext cx="1981200" cy="342900"/>
          </a:xfrm>
          <a:ln/>
        </p:spPr>
        <p:txBody>
          <a:bodyPr/>
          <a:lstStyle>
            <a:lvl1pPr>
              <a:defRPr/>
            </a:lvl1pPr>
          </a:lstStyle>
          <a:p>
            <a:pPr>
              <a:defRPr/>
            </a:pPr>
            <a:endParaRPr lang="en-US"/>
          </a:p>
        </p:txBody>
      </p:sp>
      <p:sp>
        <p:nvSpPr>
          <p:cNvPr id="8" name="Rectangle 6"/>
          <p:cNvSpPr>
            <a:spLocks noGrp="1" noChangeArrowheads="1"/>
          </p:cNvSpPr>
          <p:nvPr>
            <p:ph type="ftr" sz="quarter" idx="11"/>
          </p:nvPr>
        </p:nvSpPr>
        <p:spPr>
          <a:xfrm>
            <a:off x="2819400" y="4705350"/>
            <a:ext cx="2895600" cy="342900"/>
          </a:xfrm>
          <a:ln/>
        </p:spPr>
        <p:txBody>
          <a:bodyPr/>
          <a:lstStyle>
            <a:lvl1pPr>
              <a:defRPr/>
            </a:lvl1pPr>
          </a:lstStyle>
          <a:p>
            <a:pPr>
              <a:defRPr/>
            </a:pPr>
            <a:endParaRPr lang="en-US"/>
          </a:p>
        </p:txBody>
      </p:sp>
      <p:sp>
        <p:nvSpPr>
          <p:cNvPr id="9" name="Rectangle 7"/>
          <p:cNvSpPr>
            <a:spLocks noGrp="1" noChangeArrowheads="1"/>
          </p:cNvSpPr>
          <p:nvPr>
            <p:ph type="sldNum" sz="quarter" idx="12"/>
          </p:nvPr>
        </p:nvSpPr>
        <p:spPr>
          <a:ln/>
        </p:spPr>
        <p:txBody>
          <a:bodyPr/>
          <a:lstStyle>
            <a:lvl1pPr>
              <a:defRPr/>
            </a:lvl1pPr>
          </a:lstStyle>
          <a:p>
            <a:fld id="{231C68C3-6089-F349-9232-42643877B0CF}" type="slidenum">
              <a:rPr lang="en-US"/>
              <a:pPr/>
              <a:t>‹#›</a:t>
            </a:fld>
            <a:endParaRPr lang="en-US"/>
          </a:p>
        </p:txBody>
      </p:sp>
      <p:sp>
        <p:nvSpPr>
          <p:cNvPr id="10" name="Rectangle 2"/>
          <p:cNvSpPr>
            <a:spLocks noChangeArrowheads="1"/>
          </p:cNvSpPr>
          <p:nvPr userDrawn="1"/>
        </p:nvSpPr>
        <p:spPr bwMode="auto">
          <a:xfrm rot="5400000">
            <a:off x="-2548893" y="2548891"/>
            <a:ext cx="5143501" cy="45719"/>
          </a:xfrm>
          <a:prstGeom prst="rect">
            <a:avLst/>
          </a:prstGeom>
          <a:solidFill>
            <a:srgbClr val="A40508"/>
          </a:solidFill>
          <a:ln w="9525">
            <a:solidFill>
              <a:srgbClr val="A4001D"/>
            </a:solidFill>
            <a:miter lim="800000"/>
            <a:headEnd/>
            <a:tailEnd/>
          </a:ln>
          <a:effectLst/>
        </p:spPr>
        <p:txBody>
          <a:bodyPr wrap="none" anchor="ctr"/>
          <a:lstStyle/>
          <a:p>
            <a:pPr algn="ctr">
              <a:defRPr/>
            </a:pPr>
            <a:endParaRPr lang="en-US">
              <a:solidFill>
                <a:srgbClr val="A50021"/>
              </a:solidFill>
              <a:ea typeface="+mn-ea"/>
              <a:cs typeface="+mn-cs"/>
            </a:endParaRPr>
          </a:p>
        </p:txBody>
      </p:sp>
      <p:sp>
        <p:nvSpPr>
          <p:cNvPr id="11" name="Title 1"/>
          <p:cNvSpPr>
            <a:spLocks noGrp="1"/>
          </p:cNvSpPr>
          <p:nvPr>
            <p:ph type="title"/>
          </p:nvPr>
        </p:nvSpPr>
        <p:spPr>
          <a:xfrm>
            <a:off x="1371600" y="381000"/>
            <a:ext cx="7467600" cy="742950"/>
          </a:xfrm>
        </p:spPr>
        <p:txBody>
          <a:bodyPr/>
          <a:lstStyle/>
          <a:p>
            <a:r>
              <a:rPr lang="en-US"/>
              <a:t>Click to edit Master title style</a:t>
            </a:r>
            <a:endParaRPr lang="en-US" dirty="0"/>
          </a:p>
        </p:txBody>
      </p:sp>
    </p:spTree>
    <p:extLst>
      <p:ext uri="{BB962C8B-B14F-4D97-AF65-F5344CB8AC3E}">
        <p14:creationId xmlns:p14="http://schemas.microsoft.com/office/powerpoint/2010/main" val="4802758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over Tex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04800" y="1314450"/>
            <a:ext cx="7772400" cy="16287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3057525"/>
            <a:ext cx="7772400" cy="16287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dt" sz="half" idx="10"/>
          </p:nvPr>
        </p:nvSpPr>
        <p:spPr>
          <a:ln/>
        </p:spPr>
        <p:txBody>
          <a:bodyPr/>
          <a:lstStyle>
            <a:lvl1pPr>
              <a:defRPr/>
            </a:lvl1pPr>
          </a:lstStyle>
          <a:p>
            <a:pPr>
              <a:defRPr/>
            </a:pPr>
            <a:endParaRPr lang="en-US"/>
          </a:p>
        </p:txBody>
      </p:sp>
      <p:sp>
        <p:nvSpPr>
          <p:cNvPr id="6" name="Rectangle 6"/>
          <p:cNvSpPr>
            <a:spLocks noGrp="1" noChangeArrowheads="1"/>
          </p:cNvSpPr>
          <p:nvPr>
            <p:ph type="ftr" sz="quarter" idx="11"/>
          </p:nvPr>
        </p:nvSpPr>
        <p:spPr>
          <a:ln/>
        </p:spPr>
        <p:txBody>
          <a:bodyPr/>
          <a:lstStyle>
            <a:lvl1pPr>
              <a:defRPr/>
            </a:lvl1pPr>
          </a:lstStyle>
          <a:p>
            <a:pPr>
              <a:defRPr/>
            </a:pPr>
            <a:endParaRPr lang="en-US"/>
          </a:p>
        </p:txBody>
      </p:sp>
      <p:sp>
        <p:nvSpPr>
          <p:cNvPr id="7" name="Rectangle 7"/>
          <p:cNvSpPr>
            <a:spLocks noGrp="1" noChangeArrowheads="1"/>
          </p:cNvSpPr>
          <p:nvPr>
            <p:ph type="sldNum" sz="quarter" idx="12"/>
          </p:nvPr>
        </p:nvSpPr>
        <p:spPr>
          <a:ln/>
        </p:spPr>
        <p:txBody>
          <a:bodyPr/>
          <a:lstStyle>
            <a:lvl1pPr>
              <a:defRPr/>
            </a:lvl1pPr>
          </a:lstStyle>
          <a:p>
            <a:fld id="{E943D734-B240-FB4D-AF6E-6869FD669100}" type="slidenum">
              <a:rPr lang="en-US"/>
              <a:pPr/>
              <a:t>‹#›</a:t>
            </a:fld>
            <a:endParaRPr lang="en-US"/>
          </a:p>
        </p:txBody>
      </p:sp>
      <p:sp>
        <p:nvSpPr>
          <p:cNvPr id="9" name="Rectangle 2"/>
          <p:cNvSpPr>
            <a:spLocks noChangeArrowheads="1"/>
          </p:cNvSpPr>
          <p:nvPr userDrawn="1"/>
        </p:nvSpPr>
        <p:spPr bwMode="auto">
          <a:xfrm rot="5400000">
            <a:off x="-2548893" y="2548891"/>
            <a:ext cx="5143501" cy="45719"/>
          </a:xfrm>
          <a:prstGeom prst="rect">
            <a:avLst/>
          </a:prstGeom>
          <a:solidFill>
            <a:srgbClr val="A40508"/>
          </a:solidFill>
          <a:ln w="9525">
            <a:solidFill>
              <a:srgbClr val="A4001D"/>
            </a:solidFill>
            <a:miter lim="800000"/>
            <a:headEnd/>
            <a:tailEnd/>
          </a:ln>
          <a:effectLst/>
        </p:spPr>
        <p:txBody>
          <a:bodyPr wrap="none" anchor="ctr"/>
          <a:lstStyle/>
          <a:p>
            <a:pPr algn="ctr">
              <a:defRPr/>
            </a:pPr>
            <a:endParaRPr lang="en-US">
              <a:solidFill>
                <a:srgbClr val="A50021"/>
              </a:solidFill>
              <a:ea typeface="+mn-ea"/>
              <a:cs typeface="+mn-cs"/>
            </a:endParaRPr>
          </a:p>
        </p:txBody>
      </p:sp>
      <p:sp>
        <p:nvSpPr>
          <p:cNvPr id="10" name="Title 1"/>
          <p:cNvSpPr>
            <a:spLocks noGrp="1"/>
          </p:cNvSpPr>
          <p:nvPr>
            <p:ph type="title"/>
          </p:nvPr>
        </p:nvSpPr>
        <p:spPr>
          <a:xfrm>
            <a:off x="1371600" y="381000"/>
            <a:ext cx="7467600" cy="742950"/>
          </a:xfrm>
        </p:spPr>
        <p:txBody>
          <a:bodyPr/>
          <a:lstStyle/>
          <a:p>
            <a:r>
              <a:rPr lang="en-US"/>
              <a:t>Click to edit Master title style</a:t>
            </a:r>
            <a:endParaRPr lang="en-US" dirty="0"/>
          </a:p>
        </p:txBody>
      </p:sp>
    </p:spTree>
    <p:extLst>
      <p:ext uri="{BB962C8B-B14F-4D97-AF65-F5344CB8AC3E}">
        <p14:creationId xmlns:p14="http://schemas.microsoft.com/office/powerpoint/2010/main" val="34953000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p:nvSpPr>
        <p:spPr>
          <a:xfrm rot="16200000">
            <a:off x="-2518606" y="2473636"/>
            <a:ext cx="5143502" cy="19622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rot="16200000" flipV="1">
            <a:off x="-2442604" y="2560132"/>
            <a:ext cx="51435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822960" y="214953"/>
            <a:ext cx="7543800" cy="1088068"/>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384301"/>
            <a:ext cx="7543801" cy="301752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2" y="4844840"/>
            <a:ext cx="1854203" cy="273844"/>
          </a:xfrm>
          <a:prstGeom prst="rect">
            <a:avLst/>
          </a:prstGeom>
        </p:spPr>
        <p:txBody>
          <a:bodyPr vert="horz" lIns="91440" tIns="45720" rIns="91440" bIns="45720" rtlCol="0" anchor="ctr"/>
          <a:lstStyle>
            <a:lvl1pPr algn="l">
              <a:defRPr sz="675">
                <a:solidFill>
                  <a:srgbClr val="FFFFFF"/>
                </a:solidFill>
              </a:defRPr>
            </a:lvl1pPr>
          </a:lstStyle>
          <a:p>
            <a:fld id="{240CDC23-E565-C848-9AF6-12BD09C53D91}" type="datetimeFigureOut">
              <a:rPr lang="en-US" smtClean="0"/>
              <a:t>6/10/2026</a:t>
            </a:fld>
            <a:endParaRPr lang="en-US"/>
          </a:p>
        </p:txBody>
      </p:sp>
      <p:sp>
        <p:nvSpPr>
          <p:cNvPr id="5" name="Footer Placeholder 4"/>
          <p:cNvSpPr>
            <a:spLocks noGrp="1"/>
          </p:cNvSpPr>
          <p:nvPr>
            <p:ph type="ftr" sz="quarter" idx="3"/>
          </p:nvPr>
        </p:nvSpPr>
        <p:spPr>
          <a:xfrm>
            <a:off x="2764640" y="4844840"/>
            <a:ext cx="3617103" cy="273844"/>
          </a:xfrm>
          <a:prstGeom prst="rect">
            <a:avLst/>
          </a:prstGeom>
        </p:spPr>
        <p:txBody>
          <a:bodyPr vert="horz" lIns="91440" tIns="45720" rIns="91440" bIns="45720" rtlCol="0" anchor="ctr"/>
          <a:lstStyle>
            <a:lvl1pPr algn="ctr">
              <a:defRPr sz="675"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7425345" y="4844840"/>
            <a:ext cx="984019" cy="273844"/>
          </a:xfrm>
          <a:prstGeom prst="rect">
            <a:avLst/>
          </a:prstGeom>
        </p:spPr>
        <p:txBody>
          <a:bodyPr vert="horz" lIns="91440" tIns="45720" rIns="91440" bIns="45720" rtlCol="0" anchor="ctr"/>
          <a:lstStyle>
            <a:lvl1pPr algn="r">
              <a:defRPr sz="788">
                <a:solidFill>
                  <a:srgbClr val="FFFFFF"/>
                </a:solidFill>
              </a:defRPr>
            </a:lvl1pPr>
          </a:lstStyle>
          <a:p>
            <a:fld id="{D07771B2-D7F7-364E-B6F3-F7FE93606BCE}" type="slidenum">
              <a:rPr lang="en-US" smtClean="0"/>
              <a:t>‹#›</a:t>
            </a:fld>
            <a:endParaRPr lang="en-US"/>
          </a:p>
        </p:txBody>
      </p:sp>
    </p:spTree>
    <p:extLst>
      <p:ext uri="{BB962C8B-B14F-4D97-AF65-F5344CB8AC3E}">
        <p14:creationId xmlns:p14="http://schemas.microsoft.com/office/powerpoint/2010/main" val="397419414"/>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02" r:id="rId10"/>
    <p:sldLayoutId id="2147483709" r:id="rId11"/>
  </p:sldLayoutIdLst>
  <p:txStyles>
    <p:titleStyle>
      <a:lvl1pPr algn="l" defTabSz="685800" rtl="0" eaLnBrk="1" latinLnBrk="0" hangingPunct="1">
        <a:lnSpc>
          <a:spcPct val="85000"/>
        </a:lnSpc>
        <a:spcBef>
          <a:spcPct val="0"/>
        </a:spcBef>
        <a:buNone/>
        <a:defRPr sz="3600" kern="1200" spc="-38" baseline="0">
          <a:solidFill>
            <a:schemeClr val="tx1">
              <a:lumMod val="75000"/>
              <a:lumOff val="25000"/>
            </a:schemeClr>
          </a:solidFill>
          <a:latin typeface="+mj-lt"/>
          <a:ea typeface="+mj-ea"/>
          <a:cs typeface="+mj-cs"/>
        </a:defRPr>
      </a:lvl1pPr>
    </p:titleStyle>
    <p:bodyStyle>
      <a:lvl1pPr marL="68580" indent="-68580" algn="l" defTabSz="685800" rtl="0" eaLnBrk="1" latinLnBrk="0" hangingPunct="1">
        <a:lnSpc>
          <a:spcPct val="90000"/>
        </a:lnSpc>
        <a:spcBef>
          <a:spcPts val="900"/>
        </a:spcBef>
        <a:spcAft>
          <a:spcPts val="150"/>
        </a:spcAft>
        <a:buClr>
          <a:schemeClr val="accent1"/>
        </a:buClr>
        <a:buSzPct val="100000"/>
        <a:buFont typeface="Calibri" panose="020F0502020204030204" pitchFamily="34" charset="0"/>
        <a:buChar char=" "/>
        <a:defRPr sz="1500" kern="1200">
          <a:solidFill>
            <a:schemeClr val="tx1">
              <a:lumMod val="75000"/>
              <a:lumOff val="25000"/>
            </a:schemeClr>
          </a:solidFill>
          <a:latin typeface="+mn-lt"/>
          <a:ea typeface="+mn-ea"/>
          <a:cs typeface="+mn-cs"/>
        </a:defRPr>
      </a:lvl1pPr>
      <a:lvl2pPr marL="288036" indent="-137160" algn="l" defTabSz="685800" rtl="0" eaLnBrk="1" latinLnBrk="0" hangingPunct="1">
        <a:lnSpc>
          <a:spcPct val="90000"/>
        </a:lnSpc>
        <a:spcBef>
          <a:spcPts val="150"/>
        </a:spcBef>
        <a:spcAft>
          <a:spcPts val="300"/>
        </a:spcAft>
        <a:buClr>
          <a:schemeClr val="accent1"/>
        </a:buClr>
        <a:buFont typeface="Calibri" pitchFamily="34" charset="0"/>
        <a:buChar char="◦"/>
        <a:defRPr sz="1350" kern="1200">
          <a:solidFill>
            <a:schemeClr val="tx1">
              <a:lumMod val="75000"/>
              <a:lumOff val="25000"/>
            </a:schemeClr>
          </a:solidFill>
          <a:latin typeface="+mn-lt"/>
          <a:ea typeface="+mn-ea"/>
          <a:cs typeface="+mn-cs"/>
        </a:defRPr>
      </a:lvl2pPr>
      <a:lvl3pPr marL="42519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3pPr>
      <a:lvl4pPr marL="56235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4pPr>
      <a:lvl5pPr marL="69951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5pPr>
      <a:lvl6pPr marL="8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6pPr>
      <a:lvl7pPr marL="9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7pPr>
      <a:lvl8pPr marL="11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8pPr>
      <a:lvl9pPr marL="12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5"/>
          <p:cNvSpPr>
            <a:spLocks noGrp="1" noChangeArrowheads="1"/>
          </p:cNvSpPr>
          <p:nvPr>
            <p:ph type="title"/>
          </p:nvPr>
        </p:nvSpPr>
        <p:spPr/>
        <p:txBody>
          <a:bodyPr/>
          <a:lstStyle/>
          <a:p>
            <a:pPr eaLnBrk="1" hangingPunct="1"/>
            <a:r>
              <a:rPr lang="en-US" sz="4000" dirty="0">
                <a:latin typeface="Calibri (Headings)"/>
                <a:ea typeface="ＭＳ Ｐゴシック" charset="0"/>
                <a:cs typeface="Calibri (Headings)"/>
              </a:rPr>
              <a:t>Basic Text Processing</a:t>
            </a:r>
          </a:p>
        </p:txBody>
      </p:sp>
      <p:sp>
        <p:nvSpPr>
          <p:cNvPr id="16387" name="Rectangle 6"/>
          <p:cNvSpPr>
            <a:spLocks noGrp="1" noChangeArrowheads="1"/>
          </p:cNvSpPr>
          <p:nvPr>
            <p:ph idx="1"/>
          </p:nvPr>
        </p:nvSpPr>
        <p:spPr>
          <a:xfrm>
            <a:off x="3746440" y="57150"/>
            <a:ext cx="5009393" cy="1691640"/>
          </a:xfrm>
        </p:spPr>
        <p:txBody>
          <a:bodyPr/>
          <a:lstStyle/>
          <a:p>
            <a:pPr eaLnBrk="1" hangingPunct="1">
              <a:buFont typeface="Times" charset="0"/>
              <a:buNone/>
            </a:pPr>
            <a:r>
              <a:rPr lang="en-US" sz="3600" dirty="0">
                <a:solidFill>
                  <a:srgbClr val="A4001D"/>
                </a:solidFill>
                <a:latin typeface="Calibri"/>
                <a:ea typeface="ＭＳ Ｐゴシック" charset="0"/>
                <a:cs typeface="Calibri"/>
              </a:rPr>
              <a:t>Regular Expressions</a:t>
            </a:r>
          </a:p>
        </p:txBody>
      </p:sp>
      <p:sp>
        <p:nvSpPr>
          <p:cNvPr id="2" name="Text Placeholder 1">
            <a:extLst>
              <a:ext uri="{FF2B5EF4-FFF2-40B4-BE49-F238E27FC236}">
                <a16:creationId xmlns:a16="http://schemas.microsoft.com/office/drawing/2014/main" id="{9A75E902-FA31-A14D-9EDA-DACF849E978B}"/>
              </a:ext>
            </a:extLst>
          </p:cNvPr>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3828486777"/>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itle 1"/>
          <p:cNvSpPr>
            <a:spLocks noGrp="1"/>
          </p:cNvSpPr>
          <p:nvPr>
            <p:ph type="title"/>
          </p:nvPr>
        </p:nvSpPr>
        <p:spPr>
          <a:xfrm>
            <a:off x="609600" y="119702"/>
            <a:ext cx="8153400" cy="680397"/>
          </a:xfrm>
        </p:spPr>
        <p:txBody>
          <a:bodyPr>
            <a:normAutofit/>
          </a:bodyPr>
          <a:lstStyle/>
          <a:p>
            <a:r>
              <a:rPr lang="en-US" sz="3600" dirty="0"/>
              <a:t>Regular expressions are used everywhere</a:t>
            </a:r>
            <a:endParaRPr lang="en-US" dirty="0"/>
          </a:p>
        </p:txBody>
      </p:sp>
      <p:sp>
        <p:nvSpPr>
          <p:cNvPr id="90115" name="Content Placeholder 2"/>
          <p:cNvSpPr>
            <a:spLocks noGrp="1"/>
          </p:cNvSpPr>
          <p:nvPr>
            <p:ph idx="1"/>
          </p:nvPr>
        </p:nvSpPr>
        <p:spPr/>
        <p:txBody>
          <a:bodyPr>
            <a:normAutofit/>
          </a:bodyPr>
          <a:lstStyle/>
          <a:p>
            <a:pPr lvl="1"/>
            <a:r>
              <a:rPr lang="en-US" sz="2800" dirty="0"/>
              <a:t>Part of every text processing task</a:t>
            </a:r>
          </a:p>
          <a:p>
            <a:pPr lvl="2"/>
            <a:r>
              <a:rPr lang="en-US" sz="2400" dirty="0"/>
              <a:t>Not a general NLP solution (for that we use large NLP systems we will see in later lectures)</a:t>
            </a:r>
          </a:p>
          <a:p>
            <a:pPr lvl="2"/>
            <a:r>
              <a:rPr lang="en-US" sz="2400" dirty="0"/>
              <a:t>But very useful as part of those systems (e.g., for pre-processing or text formatting)</a:t>
            </a:r>
          </a:p>
          <a:p>
            <a:pPr lvl="1"/>
            <a:r>
              <a:rPr lang="en-US" sz="2800" dirty="0"/>
              <a:t>Necessary for data analysis of text data</a:t>
            </a:r>
          </a:p>
          <a:p>
            <a:pPr lvl="1"/>
            <a:r>
              <a:rPr lang="en-US" sz="2800" dirty="0"/>
              <a:t>A widely used tool in industry and academics</a:t>
            </a:r>
          </a:p>
        </p:txBody>
      </p:sp>
      <p:sp>
        <p:nvSpPr>
          <p:cNvPr id="90118" name="Slide Number Placeholder 5"/>
          <p:cNvSpPr>
            <a:spLocks noGrp="1"/>
          </p:cNvSpPr>
          <p:nvPr>
            <p:ph type="sldNum" sz="quarter" idx="12"/>
          </p:nvPr>
        </p:nvSpPr>
        <p:spPr>
          <a:noFill/>
        </p:spPr>
        <p:txBody>
          <a:bodyPr/>
          <a:lstStyle/>
          <a:p>
            <a:fld id="{BB8C8334-E00B-3A45-A77B-332115BBC150}" type="slidenum">
              <a:rPr lang="en-US"/>
              <a:pPr/>
              <a:t>2</a:t>
            </a:fld>
            <a:endParaRPr lang="en-US"/>
          </a:p>
        </p:txBody>
      </p:sp>
    </p:spTree>
    <p:extLst>
      <p:ext uri="{BB962C8B-B14F-4D97-AF65-F5344CB8AC3E}">
        <p14:creationId xmlns:p14="http://schemas.microsoft.com/office/powerpoint/2010/main" val="1657758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822960" y="214953"/>
            <a:ext cx="7543800" cy="680397"/>
          </a:xfrm>
        </p:spPr>
        <p:txBody>
          <a:bodyPr/>
          <a:lstStyle/>
          <a:p>
            <a:pPr eaLnBrk="1" hangingPunct="1"/>
            <a:r>
              <a:rPr lang="en-US" dirty="0"/>
              <a:t>Regular expressions</a:t>
            </a:r>
          </a:p>
        </p:txBody>
      </p:sp>
      <p:sp>
        <p:nvSpPr>
          <p:cNvPr id="69635" name="Rectangle 3"/>
          <p:cNvSpPr>
            <a:spLocks noGrp="1" noChangeArrowheads="1"/>
          </p:cNvSpPr>
          <p:nvPr>
            <p:ph idx="1"/>
          </p:nvPr>
        </p:nvSpPr>
        <p:spPr>
          <a:xfrm>
            <a:off x="381000" y="1123949"/>
            <a:ext cx="8534400" cy="3804597"/>
          </a:xfrm>
        </p:spPr>
        <p:txBody>
          <a:bodyPr>
            <a:normAutofit/>
          </a:bodyPr>
          <a:lstStyle/>
          <a:p>
            <a:pPr eaLnBrk="1" hangingPunct="1"/>
            <a:r>
              <a:rPr lang="en-US" sz="2400" dirty="0"/>
              <a:t>A formal language for specifying text strings</a:t>
            </a:r>
          </a:p>
          <a:p>
            <a:pPr eaLnBrk="1" hangingPunct="1"/>
            <a:r>
              <a:rPr lang="en-US" sz="2400" dirty="0"/>
              <a:t>How can we search for mentions of these cute animals in text?</a:t>
            </a:r>
          </a:p>
          <a:p>
            <a:pPr eaLnBrk="1" hangingPunct="1"/>
            <a:endParaRPr lang="en-US" sz="1200" dirty="0"/>
          </a:p>
          <a:p>
            <a:pPr lvl="1" eaLnBrk="1" hangingPunct="1"/>
            <a:r>
              <a:rPr lang="en-US" sz="2400" dirty="0"/>
              <a:t>woodchuck</a:t>
            </a:r>
          </a:p>
          <a:p>
            <a:pPr lvl="1" eaLnBrk="1" hangingPunct="1"/>
            <a:r>
              <a:rPr lang="en-US" sz="2400" dirty="0"/>
              <a:t>woodchucks</a:t>
            </a:r>
          </a:p>
          <a:p>
            <a:pPr lvl="1" eaLnBrk="1" hangingPunct="1"/>
            <a:r>
              <a:rPr lang="en-US" sz="2400" dirty="0"/>
              <a:t>Woodchuck</a:t>
            </a:r>
          </a:p>
          <a:p>
            <a:pPr lvl="1" eaLnBrk="1" hangingPunct="1"/>
            <a:r>
              <a:rPr lang="en-US" sz="2400" dirty="0"/>
              <a:t>Woodchucks</a:t>
            </a:r>
          </a:p>
          <a:p>
            <a:pPr lvl="1" eaLnBrk="1" hangingPunct="1"/>
            <a:r>
              <a:rPr lang="en-US" dirty="0"/>
              <a:t>Groundhog</a:t>
            </a:r>
          </a:p>
          <a:p>
            <a:pPr lvl="1" eaLnBrk="1" hangingPunct="1"/>
            <a:r>
              <a:rPr lang="en-US" sz="2400" dirty="0"/>
              <a:t>groundhogs</a:t>
            </a:r>
          </a:p>
          <a:p>
            <a:pPr marL="457200" lvl="1" indent="0" eaLnBrk="1" hangingPunct="1">
              <a:buNone/>
            </a:pPr>
            <a:endParaRPr lang="en-US" dirty="0"/>
          </a:p>
          <a:p>
            <a:pPr eaLnBrk="1" hangingPunct="1"/>
            <a:endParaRPr lang="en-US" dirty="0"/>
          </a:p>
        </p:txBody>
      </p:sp>
      <p:pic>
        <p:nvPicPr>
          <p:cNvPr id="2" name="Picture 1" descr="220px-Groundhog3.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43400" y="2190750"/>
            <a:ext cx="3657600" cy="2743200"/>
          </a:xfrm>
          <a:prstGeom prst="rect">
            <a:avLst/>
          </a:prstGeom>
        </p:spPr>
      </p:pic>
    </p:spTree>
    <p:extLst>
      <p:ext uri="{BB962C8B-B14F-4D97-AF65-F5344CB8AC3E}">
        <p14:creationId xmlns:p14="http://schemas.microsoft.com/office/powerpoint/2010/main" val="5557434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822960" y="214953"/>
            <a:ext cx="7543800" cy="604197"/>
          </a:xfrm>
        </p:spPr>
        <p:txBody>
          <a:bodyPr/>
          <a:lstStyle/>
          <a:p>
            <a:pPr eaLnBrk="1" hangingPunct="1"/>
            <a:r>
              <a:rPr lang="en-US" dirty="0"/>
              <a:t>Regular Expressions: Disjunctions</a:t>
            </a:r>
          </a:p>
        </p:txBody>
      </p:sp>
      <p:sp>
        <p:nvSpPr>
          <p:cNvPr id="71683" name="Rectangle 3"/>
          <p:cNvSpPr>
            <a:spLocks noGrp="1" noChangeArrowheads="1"/>
          </p:cNvSpPr>
          <p:nvPr>
            <p:ph idx="1"/>
          </p:nvPr>
        </p:nvSpPr>
        <p:spPr>
          <a:xfrm>
            <a:off x="228600" y="1123951"/>
            <a:ext cx="7786688" cy="3810000"/>
          </a:xfrm>
        </p:spPr>
        <p:txBody>
          <a:bodyPr>
            <a:normAutofit/>
          </a:bodyPr>
          <a:lstStyle/>
          <a:p>
            <a:pPr eaLnBrk="1" hangingPunct="1"/>
            <a:r>
              <a:rPr lang="en-US" sz="2400" dirty="0">
                <a:latin typeface="Calibri"/>
                <a:cs typeface="Calibri"/>
              </a:rPr>
              <a:t>Letters inside square brackets []</a:t>
            </a:r>
          </a:p>
          <a:p>
            <a:pPr eaLnBrk="1" hangingPunct="1"/>
            <a:endParaRPr lang="en-US" sz="1400" dirty="0">
              <a:latin typeface="Calibri"/>
              <a:cs typeface="Calibri"/>
            </a:endParaRPr>
          </a:p>
          <a:p>
            <a:pPr marL="0" indent="0" eaLnBrk="1" hangingPunct="1">
              <a:buNone/>
            </a:pPr>
            <a:endParaRPr lang="en-US" dirty="0">
              <a:latin typeface="Calibri"/>
              <a:cs typeface="Calibri"/>
            </a:endParaRPr>
          </a:p>
          <a:p>
            <a:pPr marL="0" indent="0" eaLnBrk="1" hangingPunct="1">
              <a:buNone/>
            </a:pPr>
            <a:endParaRPr lang="en-US" dirty="0">
              <a:latin typeface="Calibri"/>
              <a:cs typeface="Calibri"/>
            </a:endParaRPr>
          </a:p>
          <a:p>
            <a:r>
              <a:rPr lang="en-US" sz="2400" dirty="0"/>
              <a:t>Ranges using the dash </a:t>
            </a:r>
            <a:r>
              <a:rPr lang="en-US" sz="2400" dirty="0">
                <a:solidFill>
                  <a:srgbClr val="CC0000"/>
                </a:solidFill>
                <a:latin typeface="Courier" charset="0"/>
              </a:rPr>
              <a:t>[A-Z]</a:t>
            </a:r>
          </a:p>
          <a:p>
            <a:pPr eaLnBrk="1" hangingPunct="1"/>
            <a:endParaRPr lang="en-US" dirty="0">
              <a:latin typeface="Calibri"/>
              <a:cs typeface="Calibri"/>
            </a:endParaRPr>
          </a:p>
          <a:p>
            <a:pPr marL="0" indent="0" eaLnBrk="1" hangingPunct="1">
              <a:buNone/>
            </a:pPr>
            <a:r>
              <a:rPr lang="en-US" dirty="0">
                <a:solidFill>
                  <a:srgbClr val="CC0000"/>
                </a:solidFill>
                <a:latin typeface="Courier New" charset="0"/>
              </a:rPr>
              <a:t>		</a:t>
            </a:r>
          </a:p>
          <a:p>
            <a:pPr eaLnBrk="1" hangingPunct="1"/>
            <a:endParaRPr lang="en-US" b="1" dirty="0">
              <a:solidFill>
                <a:srgbClr val="CC0000"/>
              </a:solidFill>
              <a:latin typeface="Courier New" charset="0"/>
            </a:endParaRPr>
          </a:p>
        </p:txBody>
      </p:sp>
      <p:graphicFrame>
        <p:nvGraphicFramePr>
          <p:cNvPr id="2" name="Table 1"/>
          <p:cNvGraphicFramePr>
            <a:graphicFrameLocks noGrp="1"/>
          </p:cNvGraphicFramePr>
          <p:nvPr>
            <p:extLst>
              <p:ext uri="{D42A27DB-BD31-4B8C-83A1-F6EECF244321}">
                <p14:modId xmlns:p14="http://schemas.microsoft.com/office/powerpoint/2010/main" val="1505191319"/>
              </p:ext>
            </p:extLst>
          </p:nvPr>
        </p:nvGraphicFramePr>
        <p:xfrm>
          <a:off x="1524000" y="1809750"/>
          <a:ext cx="6096000" cy="109728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04800">
                <a:tc>
                  <a:txBody>
                    <a:bodyPr/>
                    <a:lstStyle/>
                    <a:p>
                      <a:r>
                        <a:rPr lang="en-US" sz="1800" dirty="0"/>
                        <a:t>Pattern</a:t>
                      </a:r>
                    </a:p>
                  </a:txBody>
                  <a:tcPr/>
                </a:tc>
                <a:tc>
                  <a:txBody>
                    <a:bodyPr/>
                    <a:lstStyle/>
                    <a:p>
                      <a:r>
                        <a:rPr lang="en-US" sz="1800" dirty="0"/>
                        <a:t>Matches</a:t>
                      </a:r>
                    </a:p>
                  </a:txBody>
                  <a:tcPr/>
                </a:tc>
                <a:extLst>
                  <a:ext uri="{0D108BD9-81ED-4DB2-BD59-A6C34878D82A}">
                    <a16:rowId xmlns:a16="http://schemas.microsoft.com/office/drawing/2014/main" val="10000"/>
                  </a:ext>
                </a:extLst>
              </a:tr>
              <a:tr h="304800">
                <a:tc>
                  <a:txBody>
                    <a:bodyPr/>
                    <a:lstStyle/>
                    <a:p>
                      <a:r>
                        <a:rPr lang="en-US" sz="1800" dirty="0">
                          <a:solidFill>
                            <a:srgbClr val="CC0000"/>
                          </a:solidFill>
                          <a:latin typeface="Courier"/>
                          <a:cs typeface="Courier"/>
                        </a:rPr>
                        <a:t>[</a:t>
                      </a:r>
                      <a:r>
                        <a:rPr lang="en-US" sz="1800" dirty="0" err="1">
                          <a:solidFill>
                            <a:srgbClr val="CC0000"/>
                          </a:solidFill>
                          <a:latin typeface="Courier"/>
                          <a:cs typeface="Courier"/>
                        </a:rPr>
                        <a:t>wW</a:t>
                      </a:r>
                      <a:r>
                        <a:rPr lang="en-US" sz="1800" dirty="0">
                          <a:solidFill>
                            <a:srgbClr val="CC0000"/>
                          </a:solidFill>
                          <a:latin typeface="Courier"/>
                          <a:cs typeface="Courier"/>
                        </a:rPr>
                        <a:t>]</a:t>
                      </a:r>
                      <a:r>
                        <a:rPr lang="en-US" sz="1800" dirty="0" err="1">
                          <a:solidFill>
                            <a:srgbClr val="CC0000"/>
                          </a:solidFill>
                          <a:latin typeface="Courier"/>
                          <a:cs typeface="Courier"/>
                        </a:rPr>
                        <a:t>oodchuck</a:t>
                      </a:r>
                      <a:endParaRPr lang="en-US" sz="1800" dirty="0"/>
                    </a:p>
                  </a:txBody>
                  <a:tcPr/>
                </a:tc>
                <a:tc>
                  <a:txBody>
                    <a:bodyPr/>
                    <a:lstStyle/>
                    <a:p>
                      <a:r>
                        <a:rPr lang="en-US" sz="1800" dirty="0"/>
                        <a:t>Woodchuck,</a:t>
                      </a:r>
                      <a:r>
                        <a:rPr lang="en-US" sz="1800" baseline="0" dirty="0"/>
                        <a:t> woodchuck</a:t>
                      </a:r>
                      <a:endParaRPr lang="en-US" sz="1800" dirty="0"/>
                    </a:p>
                  </a:txBody>
                  <a:tcPr/>
                </a:tc>
                <a:extLst>
                  <a:ext uri="{0D108BD9-81ED-4DB2-BD59-A6C34878D82A}">
                    <a16:rowId xmlns:a16="http://schemas.microsoft.com/office/drawing/2014/main" val="10001"/>
                  </a:ext>
                </a:extLst>
              </a:tr>
              <a:tr h="304800">
                <a:tc>
                  <a:txBody>
                    <a:bodyPr/>
                    <a:lstStyle/>
                    <a:p>
                      <a:r>
                        <a:rPr lang="en-US" sz="1800" dirty="0">
                          <a:solidFill>
                            <a:srgbClr val="CC0000"/>
                          </a:solidFill>
                          <a:latin typeface="Courier"/>
                          <a:cs typeface="Courier"/>
                        </a:rPr>
                        <a:t>[1234567890]	</a:t>
                      </a:r>
                      <a:endParaRPr lang="en-US" sz="1800" dirty="0"/>
                    </a:p>
                  </a:txBody>
                  <a:tcPr/>
                </a:tc>
                <a:tc>
                  <a:txBody>
                    <a:bodyPr/>
                    <a:lstStyle/>
                    <a:p>
                      <a:r>
                        <a:rPr lang="en-US" sz="1800" dirty="0"/>
                        <a:t>Any one digit</a:t>
                      </a:r>
                    </a:p>
                  </a:txBody>
                  <a:tcPr/>
                </a:tc>
                <a:extLst>
                  <a:ext uri="{0D108BD9-81ED-4DB2-BD59-A6C34878D82A}">
                    <a16:rowId xmlns:a16="http://schemas.microsoft.com/office/drawing/2014/main" val="10002"/>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992428052"/>
              </p:ext>
            </p:extLst>
          </p:nvPr>
        </p:nvGraphicFramePr>
        <p:xfrm>
          <a:off x="762000" y="3516630"/>
          <a:ext cx="8000999" cy="1463040"/>
        </p:xfrm>
        <a:graphic>
          <a:graphicData uri="http://schemas.openxmlformats.org/drawingml/2006/table">
            <a:tbl>
              <a:tblPr firstRow="1" bandRow="1">
                <a:tableStyleId>{5C22544A-7EE6-4342-B048-85BDC9FD1C3A}</a:tableStyleId>
              </a:tblPr>
              <a:tblGrid>
                <a:gridCol w="1306285">
                  <a:extLst>
                    <a:ext uri="{9D8B030D-6E8A-4147-A177-3AD203B41FA5}">
                      <a16:colId xmlns:a16="http://schemas.microsoft.com/office/drawing/2014/main" val="20000"/>
                    </a:ext>
                  </a:extLst>
                </a:gridCol>
                <a:gridCol w="2122715">
                  <a:extLst>
                    <a:ext uri="{9D8B030D-6E8A-4147-A177-3AD203B41FA5}">
                      <a16:colId xmlns:a16="http://schemas.microsoft.com/office/drawing/2014/main" val="20001"/>
                    </a:ext>
                  </a:extLst>
                </a:gridCol>
                <a:gridCol w="4571999">
                  <a:extLst>
                    <a:ext uri="{9D8B030D-6E8A-4147-A177-3AD203B41FA5}">
                      <a16:colId xmlns:a16="http://schemas.microsoft.com/office/drawing/2014/main" val="20002"/>
                    </a:ext>
                  </a:extLst>
                </a:gridCol>
              </a:tblGrid>
              <a:tr h="307546">
                <a:tc>
                  <a:txBody>
                    <a:bodyPr/>
                    <a:lstStyle/>
                    <a:p>
                      <a:r>
                        <a:rPr lang="en-US" sz="1800" dirty="0"/>
                        <a:t>Pattern</a:t>
                      </a:r>
                    </a:p>
                  </a:txBody>
                  <a:tcPr/>
                </a:tc>
                <a:tc>
                  <a:txBody>
                    <a:bodyPr/>
                    <a:lstStyle/>
                    <a:p>
                      <a:r>
                        <a:rPr lang="en-US" sz="1800" dirty="0"/>
                        <a:t>Matches</a:t>
                      </a:r>
                    </a:p>
                  </a:txBody>
                  <a:tcPr/>
                </a:tc>
                <a:tc>
                  <a:txBody>
                    <a:bodyPr/>
                    <a:lstStyle/>
                    <a:p>
                      <a:endParaRPr lang="en-US" sz="1800" dirty="0"/>
                    </a:p>
                  </a:txBody>
                  <a:tcPr/>
                </a:tc>
                <a:extLst>
                  <a:ext uri="{0D108BD9-81ED-4DB2-BD59-A6C34878D82A}">
                    <a16:rowId xmlns:a16="http://schemas.microsoft.com/office/drawing/2014/main" val="10000"/>
                  </a:ext>
                </a:extLst>
              </a:tr>
              <a:tr h="307546">
                <a:tc>
                  <a:txBody>
                    <a:bodyPr/>
                    <a:lstStyle/>
                    <a:p>
                      <a:r>
                        <a:rPr lang="en-US" sz="1800" dirty="0">
                          <a:solidFill>
                            <a:srgbClr val="CC0000"/>
                          </a:solidFill>
                          <a:latin typeface="Courier"/>
                          <a:cs typeface="Courier"/>
                        </a:rPr>
                        <a:t>[A-Z]</a:t>
                      </a:r>
                      <a:endParaRPr lang="en-US" sz="1800" dirty="0"/>
                    </a:p>
                  </a:txBody>
                  <a:tcPr/>
                </a:tc>
                <a:tc>
                  <a:txBody>
                    <a:bodyPr/>
                    <a:lstStyle/>
                    <a:p>
                      <a:r>
                        <a:rPr lang="en-US" sz="1800" dirty="0"/>
                        <a:t>An upper case letter</a:t>
                      </a:r>
                    </a:p>
                  </a:txBody>
                  <a:tcPr/>
                </a:tc>
                <a:tc>
                  <a:txBody>
                    <a:bodyPr/>
                    <a:lstStyle/>
                    <a:p>
                      <a:r>
                        <a:rPr lang="en-US" sz="1800" u="sng" dirty="0">
                          <a:solidFill>
                            <a:srgbClr val="3366FF"/>
                          </a:solidFill>
                          <a:latin typeface="Courier"/>
                          <a:cs typeface="Courier"/>
                        </a:rPr>
                        <a:t>D</a:t>
                      </a:r>
                      <a:r>
                        <a:rPr lang="en-US" sz="1800" dirty="0">
                          <a:latin typeface="Courier"/>
                          <a:cs typeface="Courier"/>
                        </a:rPr>
                        <a:t>renched Blossoms</a:t>
                      </a:r>
                    </a:p>
                  </a:txBody>
                  <a:tcPr/>
                </a:tc>
                <a:extLst>
                  <a:ext uri="{0D108BD9-81ED-4DB2-BD59-A6C34878D82A}">
                    <a16:rowId xmlns:a16="http://schemas.microsoft.com/office/drawing/2014/main" val="10001"/>
                  </a:ext>
                </a:extLst>
              </a:tr>
              <a:tr h="307546">
                <a:tc>
                  <a:txBody>
                    <a:bodyPr/>
                    <a:lstStyle/>
                    <a:p>
                      <a:r>
                        <a:rPr lang="en-US" sz="1800" dirty="0">
                          <a:solidFill>
                            <a:srgbClr val="CC0000"/>
                          </a:solidFill>
                          <a:latin typeface="Courier"/>
                          <a:cs typeface="Courier"/>
                        </a:rPr>
                        <a:t>[a-z]</a:t>
                      </a:r>
                      <a:endParaRPr lang="en-US" sz="1800" dirty="0"/>
                    </a:p>
                  </a:txBody>
                  <a:tcPr/>
                </a:tc>
                <a:tc>
                  <a:txBody>
                    <a:bodyPr/>
                    <a:lstStyle/>
                    <a:p>
                      <a:r>
                        <a:rPr lang="en-US" sz="1800" dirty="0"/>
                        <a:t>A lower case letter</a:t>
                      </a:r>
                    </a:p>
                  </a:txBody>
                  <a:tcPr/>
                </a:tc>
                <a:tc>
                  <a:txBody>
                    <a:bodyPr/>
                    <a:lstStyle/>
                    <a:p>
                      <a:r>
                        <a:rPr lang="en-US" sz="1800" u="sng" dirty="0">
                          <a:solidFill>
                            <a:srgbClr val="3366FF"/>
                          </a:solidFill>
                          <a:latin typeface="Courier"/>
                          <a:cs typeface="Courier"/>
                        </a:rPr>
                        <a:t>m</a:t>
                      </a:r>
                      <a:r>
                        <a:rPr lang="en-US" sz="1800" dirty="0">
                          <a:latin typeface="Courier"/>
                          <a:cs typeface="Courier"/>
                        </a:rPr>
                        <a:t>y beans were impatient</a:t>
                      </a:r>
                    </a:p>
                  </a:txBody>
                  <a:tcPr/>
                </a:tc>
                <a:extLst>
                  <a:ext uri="{0D108BD9-81ED-4DB2-BD59-A6C34878D82A}">
                    <a16:rowId xmlns:a16="http://schemas.microsoft.com/office/drawing/2014/main" val="10002"/>
                  </a:ext>
                </a:extLst>
              </a:tr>
              <a:tr h="307546">
                <a:tc>
                  <a:txBody>
                    <a:bodyPr/>
                    <a:lstStyle/>
                    <a:p>
                      <a:r>
                        <a:rPr lang="en-US" sz="1800" dirty="0">
                          <a:solidFill>
                            <a:srgbClr val="CC0000"/>
                          </a:solidFill>
                          <a:latin typeface="Courier"/>
                          <a:cs typeface="Courier"/>
                        </a:rPr>
                        <a:t>[0-9]</a:t>
                      </a:r>
                      <a:endParaRPr lang="en-US" sz="1800" dirty="0"/>
                    </a:p>
                  </a:txBody>
                  <a:tcPr/>
                </a:tc>
                <a:tc>
                  <a:txBody>
                    <a:bodyPr/>
                    <a:lstStyle/>
                    <a:p>
                      <a:r>
                        <a:rPr lang="en-US" sz="1800" dirty="0"/>
                        <a:t>A single</a:t>
                      </a:r>
                      <a:r>
                        <a:rPr lang="en-US" sz="1800" baseline="0" dirty="0"/>
                        <a:t> digit</a:t>
                      </a:r>
                      <a:endParaRPr lang="en-US" sz="1800" dirty="0"/>
                    </a:p>
                  </a:txBody>
                  <a:tcPr/>
                </a:tc>
                <a:tc>
                  <a:txBody>
                    <a:bodyPr/>
                    <a:lstStyle/>
                    <a:p>
                      <a:r>
                        <a:rPr lang="en-US" sz="1800" dirty="0">
                          <a:latin typeface="Courier"/>
                          <a:cs typeface="Courier"/>
                        </a:rPr>
                        <a:t>Chapter </a:t>
                      </a:r>
                      <a:r>
                        <a:rPr lang="en-US" sz="1800" u="sng" dirty="0">
                          <a:solidFill>
                            <a:srgbClr val="3366FF"/>
                          </a:solidFill>
                          <a:latin typeface="Courier"/>
                          <a:cs typeface="Courier"/>
                        </a:rPr>
                        <a:t>1</a:t>
                      </a:r>
                      <a:r>
                        <a:rPr lang="en-US" sz="1800" dirty="0">
                          <a:latin typeface="Courier"/>
                          <a:cs typeface="Courier"/>
                        </a:rPr>
                        <a:t>: Down the Rabbit Hole</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825220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68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168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533400" y="152400"/>
            <a:ext cx="8610600" cy="742950"/>
          </a:xfrm>
        </p:spPr>
        <p:txBody>
          <a:bodyPr/>
          <a:lstStyle/>
          <a:p>
            <a:pPr eaLnBrk="1" hangingPunct="1"/>
            <a:r>
              <a:rPr lang="en-US" dirty="0"/>
              <a:t>Regular Expressions: Negation in Disjunction</a:t>
            </a:r>
          </a:p>
        </p:txBody>
      </p:sp>
      <p:sp>
        <p:nvSpPr>
          <p:cNvPr id="87043" name="Rectangle 3"/>
          <p:cNvSpPr>
            <a:spLocks noGrp="1" noChangeArrowheads="1"/>
          </p:cNvSpPr>
          <p:nvPr>
            <p:ph idx="1"/>
          </p:nvPr>
        </p:nvSpPr>
        <p:spPr>
          <a:xfrm>
            <a:off x="609600" y="1123950"/>
            <a:ext cx="7620000" cy="4190999"/>
          </a:xfrm>
        </p:spPr>
        <p:txBody>
          <a:bodyPr/>
          <a:lstStyle/>
          <a:p>
            <a:pPr eaLnBrk="1" hangingPunct="1"/>
            <a:r>
              <a:rPr lang="en-US" sz="2800" dirty="0">
                <a:solidFill>
                  <a:srgbClr val="000000"/>
                </a:solidFill>
                <a:latin typeface="Calibri"/>
                <a:cs typeface="Calibri"/>
              </a:rPr>
              <a:t>Carat as first character in </a:t>
            </a:r>
            <a:r>
              <a:rPr lang="en-US" dirty="0">
                <a:solidFill>
                  <a:srgbClr val="000000"/>
                </a:solidFill>
                <a:latin typeface="Calibri"/>
                <a:cs typeface="Calibri"/>
              </a:rPr>
              <a:t>[] negates the list</a:t>
            </a:r>
            <a:endParaRPr lang="en-US" sz="2800" dirty="0">
              <a:solidFill>
                <a:srgbClr val="CC0000"/>
              </a:solidFill>
              <a:latin typeface="Courier" charset="0"/>
            </a:endParaRPr>
          </a:p>
          <a:p>
            <a:pPr lvl="1"/>
            <a:r>
              <a:rPr lang="en-US" sz="2000" dirty="0">
                <a:latin typeface="Calibri"/>
                <a:cs typeface="Calibri"/>
              </a:rPr>
              <a:t>Note: Carat means negation only when it's first in []</a:t>
            </a:r>
          </a:p>
          <a:p>
            <a:pPr lvl="1"/>
            <a:r>
              <a:rPr lang="en-US" sz="2000" dirty="0">
                <a:latin typeface="Calibri"/>
                <a:cs typeface="Calibri"/>
              </a:rPr>
              <a:t>Special characters (., *, +, ?) lose their special meaning inside []</a:t>
            </a:r>
          </a:p>
          <a:p>
            <a:pPr eaLnBrk="1" hangingPunct="1"/>
            <a:endParaRPr lang="en-US" dirty="0"/>
          </a:p>
        </p:txBody>
      </p:sp>
      <p:graphicFrame>
        <p:nvGraphicFramePr>
          <p:cNvPr id="8" name="Table 7"/>
          <p:cNvGraphicFramePr>
            <a:graphicFrameLocks noGrp="1"/>
          </p:cNvGraphicFramePr>
          <p:nvPr>
            <p:extLst>
              <p:ext uri="{D42A27DB-BD31-4B8C-83A1-F6EECF244321}">
                <p14:modId xmlns:p14="http://schemas.microsoft.com/office/powerpoint/2010/main" val="407242923"/>
              </p:ext>
            </p:extLst>
          </p:nvPr>
        </p:nvGraphicFramePr>
        <p:xfrm>
          <a:off x="457200" y="2480310"/>
          <a:ext cx="8382000" cy="198120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20000"/>
                    </a:ext>
                  </a:extLst>
                </a:gridCol>
                <a:gridCol w="2819400">
                  <a:extLst>
                    <a:ext uri="{9D8B030D-6E8A-4147-A177-3AD203B41FA5}">
                      <a16:colId xmlns:a16="http://schemas.microsoft.com/office/drawing/2014/main" val="20001"/>
                    </a:ext>
                  </a:extLst>
                </a:gridCol>
                <a:gridCol w="4343400">
                  <a:extLst>
                    <a:ext uri="{9D8B030D-6E8A-4147-A177-3AD203B41FA5}">
                      <a16:colId xmlns:a16="http://schemas.microsoft.com/office/drawing/2014/main" val="20002"/>
                    </a:ext>
                  </a:extLst>
                </a:gridCol>
              </a:tblGrid>
              <a:tr h="370840">
                <a:tc>
                  <a:txBody>
                    <a:bodyPr/>
                    <a:lstStyle/>
                    <a:p>
                      <a:r>
                        <a:rPr lang="en-US" sz="2000" dirty="0"/>
                        <a:t>Pattern</a:t>
                      </a:r>
                    </a:p>
                  </a:txBody>
                  <a:tcPr/>
                </a:tc>
                <a:tc>
                  <a:txBody>
                    <a:bodyPr/>
                    <a:lstStyle/>
                    <a:p>
                      <a:r>
                        <a:rPr lang="en-US" sz="2000" dirty="0"/>
                        <a:t>Matches</a:t>
                      </a:r>
                    </a:p>
                  </a:txBody>
                  <a:tcPr/>
                </a:tc>
                <a:tc>
                  <a:txBody>
                    <a:bodyPr/>
                    <a:lstStyle/>
                    <a:p>
                      <a:r>
                        <a:rPr lang="en-US" sz="2000" dirty="0"/>
                        <a:t>Examples</a:t>
                      </a:r>
                    </a:p>
                  </a:txBody>
                  <a:tcPr/>
                </a:tc>
                <a:extLst>
                  <a:ext uri="{0D108BD9-81ED-4DB2-BD59-A6C34878D82A}">
                    <a16:rowId xmlns:a16="http://schemas.microsoft.com/office/drawing/2014/main" val="10000"/>
                  </a:ext>
                </a:extLst>
              </a:tr>
              <a:tr h="370840">
                <a:tc>
                  <a:txBody>
                    <a:bodyPr/>
                    <a:lstStyle/>
                    <a:p>
                      <a:r>
                        <a:rPr lang="en-US" sz="2000" dirty="0">
                          <a:solidFill>
                            <a:srgbClr val="CC0000"/>
                          </a:solidFill>
                          <a:latin typeface="Courier"/>
                          <a:cs typeface="Courier"/>
                        </a:rPr>
                        <a:t>[^A-Z]</a:t>
                      </a:r>
                      <a:endParaRPr lang="en-US" sz="2000" dirty="0"/>
                    </a:p>
                  </a:txBody>
                  <a:tcPr/>
                </a:tc>
                <a:tc>
                  <a:txBody>
                    <a:bodyPr/>
                    <a:lstStyle/>
                    <a:p>
                      <a:r>
                        <a:rPr lang="en-US" sz="2000" dirty="0"/>
                        <a:t>Not</a:t>
                      </a:r>
                      <a:r>
                        <a:rPr lang="en-US" sz="2000" baseline="0" dirty="0"/>
                        <a:t> an </a:t>
                      </a:r>
                      <a:r>
                        <a:rPr lang="en-US" sz="2000" dirty="0"/>
                        <a:t>upper case letter</a:t>
                      </a:r>
                    </a:p>
                  </a:txBody>
                  <a:tcPr/>
                </a:tc>
                <a:tc>
                  <a:txBody>
                    <a:bodyPr/>
                    <a:lstStyle/>
                    <a:p>
                      <a:r>
                        <a:rPr lang="en-US" sz="2000" dirty="0" err="1">
                          <a:latin typeface="Courier"/>
                          <a:cs typeface="Courier"/>
                        </a:rPr>
                        <a:t>O</a:t>
                      </a:r>
                      <a:r>
                        <a:rPr lang="en-US" sz="2000" u="sng" dirty="0" err="1">
                          <a:solidFill>
                            <a:srgbClr val="3366FF"/>
                          </a:solidFill>
                          <a:latin typeface="Courier"/>
                          <a:cs typeface="Courier"/>
                        </a:rPr>
                        <a:t>y</a:t>
                      </a:r>
                      <a:r>
                        <a:rPr lang="en-US" sz="2000" dirty="0" err="1">
                          <a:latin typeface="Courier"/>
                          <a:cs typeface="Courier"/>
                        </a:rPr>
                        <a:t>fn</a:t>
                      </a:r>
                      <a:r>
                        <a:rPr lang="en-US" sz="2000" dirty="0">
                          <a:latin typeface="Courier"/>
                          <a:cs typeface="Courier"/>
                        </a:rPr>
                        <a:t> </a:t>
                      </a:r>
                      <a:r>
                        <a:rPr lang="en-US" sz="2000" dirty="0" err="1">
                          <a:latin typeface="Courier"/>
                          <a:cs typeface="Courier"/>
                        </a:rPr>
                        <a:t>pripetchik</a:t>
                      </a:r>
                      <a:endParaRPr lang="en-US" sz="2000" dirty="0">
                        <a:latin typeface="Courier"/>
                        <a:cs typeface="Courier"/>
                      </a:endParaRPr>
                    </a:p>
                  </a:txBody>
                  <a:tcPr/>
                </a:tc>
                <a:extLst>
                  <a:ext uri="{0D108BD9-81ED-4DB2-BD59-A6C34878D82A}">
                    <a16:rowId xmlns:a16="http://schemas.microsoft.com/office/drawing/2014/main" val="10001"/>
                  </a:ext>
                </a:extLst>
              </a:tr>
              <a:tr h="370840">
                <a:tc>
                  <a:txBody>
                    <a:bodyPr/>
                    <a:lstStyle/>
                    <a:p>
                      <a:r>
                        <a:rPr lang="en-US" sz="2000" dirty="0">
                          <a:solidFill>
                            <a:srgbClr val="CC0000"/>
                          </a:solidFill>
                          <a:latin typeface="Courier"/>
                          <a:cs typeface="Courier"/>
                        </a:rPr>
                        <a:t>[^Ss]</a:t>
                      </a:r>
                      <a:endParaRPr lang="en-US" sz="2000" dirty="0"/>
                    </a:p>
                  </a:txBody>
                  <a:tcPr/>
                </a:tc>
                <a:tc>
                  <a:txBody>
                    <a:bodyPr/>
                    <a:lstStyle/>
                    <a:p>
                      <a:r>
                        <a:rPr lang="en-US" sz="2000" dirty="0">
                          <a:solidFill>
                            <a:srgbClr val="000000"/>
                          </a:solidFill>
                        </a:rPr>
                        <a:t>Neither ‘S’ nor ‘s’</a:t>
                      </a:r>
                    </a:p>
                  </a:txBody>
                  <a:tcPr/>
                </a:tc>
                <a:tc>
                  <a:txBody>
                    <a:bodyPr/>
                    <a:lstStyle/>
                    <a:p>
                      <a:r>
                        <a:rPr lang="en-US" sz="2000" u="sng" dirty="0">
                          <a:solidFill>
                            <a:srgbClr val="3366FF"/>
                          </a:solidFill>
                          <a:latin typeface="Courier"/>
                          <a:cs typeface="Courier"/>
                        </a:rPr>
                        <a:t>I</a:t>
                      </a:r>
                      <a:r>
                        <a:rPr lang="en-US" sz="2000" u="none" dirty="0">
                          <a:solidFill>
                            <a:srgbClr val="000000"/>
                          </a:solidFill>
                          <a:latin typeface="Courier"/>
                          <a:cs typeface="Courier"/>
                        </a:rPr>
                        <a:t> have no exquisite reason”</a:t>
                      </a:r>
                    </a:p>
                  </a:txBody>
                  <a:tcPr/>
                </a:tc>
                <a:extLst>
                  <a:ext uri="{0D108BD9-81ED-4DB2-BD59-A6C34878D82A}">
                    <a16:rowId xmlns:a16="http://schemas.microsoft.com/office/drawing/2014/main" val="10002"/>
                  </a:ext>
                </a:extLst>
              </a:tr>
              <a:tr h="370840">
                <a:tc>
                  <a:txBody>
                    <a:bodyPr/>
                    <a:lstStyle/>
                    <a:p>
                      <a:r>
                        <a:rPr lang="en-US" sz="2000" dirty="0">
                          <a:solidFill>
                            <a:srgbClr val="CC0000"/>
                          </a:solidFill>
                          <a:latin typeface="Courier"/>
                          <a:cs typeface="Courier"/>
                        </a:rPr>
                        <a:t>[^.]</a:t>
                      </a:r>
                      <a:endParaRPr lang="en-US" sz="2000" dirty="0"/>
                    </a:p>
                  </a:txBody>
                  <a:tcPr/>
                </a:tc>
                <a:tc>
                  <a:txBody>
                    <a:bodyPr/>
                    <a:lstStyle/>
                    <a:p>
                      <a:r>
                        <a:rPr lang="en-US" sz="2000" dirty="0">
                          <a:solidFill>
                            <a:srgbClr val="000000"/>
                          </a:solidFill>
                        </a:rPr>
                        <a:t>Not a period</a:t>
                      </a:r>
                    </a:p>
                  </a:txBody>
                  <a:tcPr/>
                </a:tc>
                <a:tc>
                  <a:txBody>
                    <a:bodyPr/>
                    <a:lstStyle/>
                    <a:p>
                      <a:r>
                        <a:rPr lang="en-US" sz="2000" u="sng" dirty="0">
                          <a:solidFill>
                            <a:srgbClr val="3366FF"/>
                          </a:solidFill>
                          <a:latin typeface="Courier"/>
                          <a:cs typeface="Courier"/>
                        </a:rPr>
                        <a:t>O</a:t>
                      </a:r>
                      <a:r>
                        <a:rPr lang="en-US" sz="2000" u="none" dirty="0">
                          <a:solidFill>
                            <a:srgbClr val="000000"/>
                          </a:solidFill>
                          <a:latin typeface="Courier"/>
                          <a:cs typeface="Courier"/>
                        </a:rPr>
                        <a:t>ur resident Djinn</a:t>
                      </a:r>
                    </a:p>
                  </a:txBody>
                  <a:tcPr/>
                </a:tc>
                <a:extLst>
                  <a:ext uri="{0D108BD9-81ED-4DB2-BD59-A6C34878D82A}">
                    <a16:rowId xmlns:a16="http://schemas.microsoft.com/office/drawing/2014/main" val="3288112943"/>
                  </a:ext>
                </a:extLst>
              </a:tr>
              <a:tr h="370840">
                <a:tc>
                  <a:txBody>
                    <a:bodyPr/>
                    <a:lstStyle/>
                    <a:p>
                      <a:r>
                        <a:rPr lang="en-US" sz="2000" dirty="0">
                          <a:solidFill>
                            <a:srgbClr val="CC0000"/>
                          </a:solidFill>
                          <a:latin typeface="Courier"/>
                          <a:cs typeface="Courier"/>
                        </a:rPr>
                        <a:t>[e^]</a:t>
                      </a:r>
                      <a:endParaRPr lang="en-US" sz="2000" dirty="0"/>
                    </a:p>
                  </a:txBody>
                  <a:tcPr/>
                </a:tc>
                <a:tc>
                  <a:txBody>
                    <a:bodyPr/>
                    <a:lstStyle/>
                    <a:p>
                      <a:r>
                        <a:rPr lang="en-US" sz="2000" dirty="0"/>
                        <a:t>Either e or ^</a:t>
                      </a:r>
                    </a:p>
                  </a:txBody>
                  <a:tcPr/>
                </a:tc>
                <a:tc>
                  <a:txBody>
                    <a:bodyPr/>
                    <a:lstStyle/>
                    <a:p>
                      <a:r>
                        <a:rPr lang="en-US" sz="2000" dirty="0">
                          <a:latin typeface="Courier"/>
                          <a:cs typeface="Courier"/>
                        </a:rPr>
                        <a:t>Look up </a:t>
                      </a:r>
                      <a:r>
                        <a:rPr lang="en-US" sz="2000" u="sng" dirty="0">
                          <a:solidFill>
                            <a:srgbClr val="3366FF"/>
                          </a:solidFill>
                          <a:latin typeface="Courier"/>
                          <a:cs typeface="Courier"/>
                        </a:rPr>
                        <a:t>^</a:t>
                      </a:r>
                      <a:r>
                        <a:rPr lang="en-US" sz="2000" dirty="0">
                          <a:latin typeface="Courier"/>
                          <a:cs typeface="Courier"/>
                        </a:rPr>
                        <a:t> now</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7453546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533400" y="152400"/>
            <a:ext cx="8610600" cy="742950"/>
          </a:xfrm>
        </p:spPr>
        <p:txBody>
          <a:bodyPr/>
          <a:lstStyle/>
          <a:p>
            <a:pPr eaLnBrk="1" hangingPunct="1"/>
            <a:r>
              <a:rPr lang="en-US" dirty="0"/>
              <a:t>Regular Expressions: Convenient aliases</a:t>
            </a:r>
          </a:p>
        </p:txBody>
      </p:sp>
      <p:sp>
        <p:nvSpPr>
          <p:cNvPr id="87043" name="Rectangle 3"/>
          <p:cNvSpPr>
            <a:spLocks noGrp="1" noChangeArrowheads="1"/>
          </p:cNvSpPr>
          <p:nvPr>
            <p:ph idx="1"/>
          </p:nvPr>
        </p:nvSpPr>
        <p:spPr>
          <a:xfrm>
            <a:off x="609600" y="1428750"/>
            <a:ext cx="7620000" cy="4114799"/>
          </a:xfrm>
        </p:spPr>
        <p:txBody>
          <a:bodyPr/>
          <a:lstStyle/>
          <a:p>
            <a:pPr eaLnBrk="1" hangingPunct="1"/>
            <a:endParaRPr lang="en-US" dirty="0"/>
          </a:p>
        </p:txBody>
      </p:sp>
      <p:graphicFrame>
        <p:nvGraphicFramePr>
          <p:cNvPr id="8" name="Table 7"/>
          <p:cNvGraphicFramePr>
            <a:graphicFrameLocks noGrp="1"/>
          </p:cNvGraphicFramePr>
          <p:nvPr>
            <p:extLst>
              <p:ext uri="{D42A27DB-BD31-4B8C-83A1-F6EECF244321}">
                <p14:modId xmlns:p14="http://schemas.microsoft.com/office/powerpoint/2010/main" val="2026667346"/>
              </p:ext>
            </p:extLst>
          </p:nvPr>
        </p:nvGraphicFramePr>
        <p:xfrm>
          <a:off x="381000" y="1215049"/>
          <a:ext cx="8381999" cy="2773680"/>
        </p:xfrm>
        <a:graphic>
          <a:graphicData uri="http://schemas.openxmlformats.org/drawingml/2006/table">
            <a:tbl>
              <a:tblPr firstRow="1" bandRow="1">
                <a:tableStyleId>{5C22544A-7EE6-4342-B048-85BDC9FD1C3A}</a:tableStyleId>
              </a:tblPr>
              <a:tblGrid>
                <a:gridCol w="1143000">
                  <a:extLst>
                    <a:ext uri="{9D8B030D-6E8A-4147-A177-3AD203B41FA5}">
                      <a16:colId xmlns:a16="http://schemas.microsoft.com/office/drawing/2014/main" val="20000"/>
                    </a:ext>
                  </a:extLst>
                </a:gridCol>
                <a:gridCol w="2133600">
                  <a:extLst>
                    <a:ext uri="{9D8B030D-6E8A-4147-A177-3AD203B41FA5}">
                      <a16:colId xmlns:a16="http://schemas.microsoft.com/office/drawing/2014/main" val="3715470752"/>
                    </a:ext>
                  </a:extLst>
                </a:gridCol>
                <a:gridCol w="2819400">
                  <a:extLst>
                    <a:ext uri="{9D8B030D-6E8A-4147-A177-3AD203B41FA5}">
                      <a16:colId xmlns:a16="http://schemas.microsoft.com/office/drawing/2014/main" val="20001"/>
                    </a:ext>
                  </a:extLst>
                </a:gridCol>
                <a:gridCol w="2285999">
                  <a:extLst>
                    <a:ext uri="{9D8B030D-6E8A-4147-A177-3AD203B41FA5}">
                      <a16:colId xmlns:a16="http://schemas.microsoft.com/office/drawing/2014/main" val="20002"/>
                    </a:ext>
                  </a:extLst>
                </a:gridCol>
              </a:tblGrid>
              <a:tr h="370840">
                <a:tc>
                  <a:txBody>
                    <a:bodyPr/>
                    <a:lstStyle/>
                    <a:p>
                      <a:r>
                        <a:rPr lang="en-US" sz="2000" dirty="0"/>
                        <a:t>Pattern</a:t>
                      </a:r>
                    </a:p>
                  </a:txBody>
                  <a:tcPr/>
                </a:tc>
                <a:tc>
                  <a:txBody>
                    <a:bodyPr/>
                    <a:lstStyle/>
                    <a:p>
                      <a:r>
                        <a:rPr lang="en-US" sz="2000" dirty="0"/>
                        <a:t>Expansion</a:t>
                      </a:r>
                    </a:p>
                  </a:txBody>
                  <a:tcPr/>
                </a:tc>
                <a:tc>
                  <a:txBody>
                    <a:bodyPr/>
                    <a:lstStyle/>
                    <a:p>
                      <a:r>
                        <a:rPr lang="en-US" sz="2000" dirty="0"/>
                        <a:t>Matches</a:t>
                      </a:r>
                    </a:p>
                  </a:txBody>
                  <a:tcPr/>
                </a:tc>
                <a:tc>
                  <a:txBody>
                    <a:bodyPr/>
                    <a:lstStyle/>
                    <a:p>
                      <a:r>
                        <a:rPr lang="en-US" sz="2000" dirty="0"/>
                        <a:t>Examples</a:t>
                      </a:r>
                    </a:p>
                  </a:txBody>
                  <a:tcPr/>
                </a:tc>
                <a:extLst>
                  <a:ext uri="{0D108BD9-81ED-4DB2-BD59-A6C34878D82A}">
                    <a16:rowId xmlns:a16="http://schemas.microsoft.com/office/drawing/2014/main" val="10000"/>
                  </a:ext>
                </a:extLst>
              </a:tr>
              <a:tr h="370840">
                <a:tc>
                  <a:txBody>
                    <a:bodyPr/>
                    <a:lstStyle/>
                    <a:p>
                      <a:r>
                        <a:rPr lang="en-US" sz="2000" dirty="0">
                          <a:solidFill>
                            <a:srgbClr val="CC0000"/>
                          </a:solidFill>
                          <a:latin typeface="Courier"/>
                          <a:cs typeface="Courier"/>
                        </a:rPr>
                        <a:t>\d</a:t>
                      </a:r>
                      <a:endParaRPr lang="en-US" sz="2000" dirty="0"/>
                    </a:p>
                  </a:txBody>
                  <a:tcPr/>
                </a:tc>
                <a:tc>
                  <a:txBody>
                    <a:bodyPr/>
                    <a:lstStyle/>
                    <a:p>
                      <a:r>
                        <a:rPr lang="en-US" sz="2000" dirty="0">
                          <a:solidFill>
                            <a:srgbClr val="CC0000"/>
                          </a:solidFill>
                          <a:latin typeface="Courier"/>
                          <a:cs typeface="Courier"/>
                        </a:rPr>
                        <a:t>[0-9]</a:t>
                      </a:r>
                      <a:endParaRPr lang="en-US" sz="2000" dirty="0"/>
                    </a:p>
                  </a:txBody>
                  <a:tcPr/>
                </a:tc>
                <a:tc>
                  <a:txBody>
                    <a:bodyPr/>
                    <a:lstStyle/>
                    <a:p>
                      <a:r>
                        <a:rPr lang="en-US" sz="2000" dirty="0"/>
                        <a:t>Any digit</a:t>
                      </a:r>
                    </a:p>
                  </a:txBody>
                  <a:tcPr/>
                </a:tc>
                <a:tc>
                  <a:txBody>
                    <a:bodyPr/>
                    <a:lstStyle/>
                    <a:p>
                      <a:r>
                        <a:rPr lang="en-US" sz="2000" dirty="0" err="1">
                          <a:latin typeface="Courier"/>
                          <a:cs typeface="Courier"/>
                        </a:rPr>
                        <a:t>Fahreneit</a:t>
                      </a:r>
                      <a:r>
                        <a:rPr lang="en-US" sz="2000" dirty="0">
                          <a:latin typeface="Courier"/>
                          <a:cs typeface="Courier"/>
                        </a:rPr>
                        <a:t> </a:t>
                      </a:r>
                      <a:r>
                        <a:rPr lang="en-US" sz="2000" u="sng" dirty="0">
                          <a:solidFill>
                            <a:srgbClr val="3366FF"/>
                          </a:solidFill>
                          <a:latin typeface="Courier"/>
                          <a:cs typeface="Courier"/>
                        </a:rPr>
                        <a:t>4</a:t>
                      </a:r>
                      <a:r>
                        <a:rPr lang="en-US" sz="2000" dirty="0">
                          <a:latin typeface="Courier"/>
                          <a:cs typeface="Courier"/>
                        </a:rPr>
                        <a:t>51</a:t>
                      </a:r>
                    </a:p>
                  </a:txBody>
                  <a:tcPr/>
                </a:tc>
                <a:extLst>
                  <a:ext uri="{0D108BD9-81ED-4DB2-BD59-A6C34878D82A}">
                    <a16:rowId xmlns:a16="http://schemas.microsoft.com/office/drawing/2014/main" val="10001"/>
                  </a:ext>
                </a:extLst>
              </a:tr>
              <a:tr h="0">
                <a:tc>
                  <a:txBody>
                    <a:bodyPr/>
                    <a:lstStyle/>
                    <a:p>
                      <a:r>
                        <a:rPr lang="en-US" sz="2000" dirty="0">
                          <a:solidFill>
                            <a:srgbClr val="CC0000"/>
                          </a:solidFill>
                          <a:latin typeface="Courier"/>
                          <a:cs typeface="Courier"/>
                        </a:rPr>
                        <a:t>\D	</a:t>
                      </a:r>
                      <a:endParaRPr lang="en-US" sz="200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2000" dirty="0">
                          <a:solidFill>
                            <a:srgbClr val="CC0000"/>
                          </a:solidFill>
                          <a:latin typeface="Courier"/>
                          <a:cs typeface="Courier"/>
                        </a:rPr>
                        <a:t>[^0-9]</a:t>
                      </a:r>
                      <a:endParaRPr lang="en-US" sz="2000" dirty="0"/>
                    </a:p>
                  </a:txBody>
                  <a:tcPr/>
                </a:tc>
                <a:tc>
                  <a:txBody>
                    <a:bodyPr/>
                    <a:lstStyle/>
                    <a:p>
                      <a:r>
                        <a:rPr lang="en-US" sz="2000" dirty="0">
                          <a:solidFill>
                            <a:srgbClr val="000000"/>
                          </a:solidFill>
                        </a:rPr>
                        <a:t>Any non-digit</a:t>
                      </a:r>
                    </a:p>
                  </a:txBody>
                  <a:tcPr/>
                </a:tc>
                <a:tc>
                  <a:txBody>
                    <a:bodyPr/>
                    <a:lstStyle/>
                    <a:p>
                      <a:r>
                        <a:rPr lang="en-US" sz="2000" b="0" u="sng" dirty="0">
                          <a:solidFill>
                            <a:srgbClr val="3366FF"/>
                          </a:solidFill>
                          <a:latin typeface="Courier"/>
                          <a:cs typeface="Courier"/>
                        </a:rPr>
                        <a:t>B</a:t>
                      </a:r>
                      <a:r>
                        <a:rPr lang="en-US" sz="2000" u="none" dirty="0">
                          <a:solidFill>
                            <a:srgbClr val="000000"/>
                          </a:solidFill>
                          <a:latin typeface="Courier"/>
                          <a:cs typeface="Courier"/>
                        </a:rPr>
                        <a:t>lue Moon</a:t>
                      </a:r>
                    </a:p>
                  </a:txBody>
                  <a:tcPr/>
                </a:tc>
                <a:extLst>
                  <a:ext uri="{0D108BD9-81ED-4DB2-BD59-A6C34878D82A}">
                    <a16:rowId xmlns:a16="http://schemas.microsoft.com/office/drawing/2014/main" val="10002"/>
                  </a:ext>
                </a:extLst>
              </a:tr>
              <a:tr h="370840">
                <a:tc>
                  <a:txBody>
                    <a:bodyPr/>
                    <a:lstStyle/>
                    <a:p>
                      <a:r>
                        <a:rPr lang="en-US" sz="2000" dirty="0">
                          <a:solidFill>
                            <a:srgbClr val="CC0000"/>
                          </a:solidFill>
                          <a:latin typeface="Courier"/>
                          <a:cs typeface="Courier"/>
                        </a:rPr>
                        <a:t>\w</a:t>
                      </a:r>
                      <a:endParaRPr lang="en-US" sz="200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2000" dirty="0">
                          <a:solidFill>
                            <a:srgbClr val="CC0000"/>
                          </a:solidFill>
                          <a:latin typeface="Courier"/>
                          <a:cs typeface="Courier"/>
                        </a:rPr>
                        <a:t>[a-ZA-Z0-9_]</a:t>
                      </a:r>
                      <a:endParaRPr lang="en-US" sz="2000" dirty="0"/>
                    </a:p>
                  </a:txBody>
                  <a:tcPr/>
                </a:tc>
                <a:tc>
                  <a:txBody>
                    <a:bodyPr/>
                    <a:lstStyle/>
                    <a:p>
                      <a:r>
                        <a:rPr lang="en-US" sz="2000" dirty="0"/>
                        <a:t>Any alphanumeric or _</a:t>
                      </a:r>
                    </a:p>
                  </a:txBody>
                  <a:tcPr/>
                </a:tc>
                <a:tc>
                  <a:txBody>
                    <a:bodyPr/>
                    <a:lstStyle/>
                    <a:p>
                      <a:r>
                        <a:rPr lang="en-US" sz="2000" b="0" u="sng" dirty="0" err="1">
                          <a:solidFill>
                            <a:srgbClr val="3366FF"/>
                          </a:solidFill>
                          <a:latin typeface="Courier"/>
                          <a:cs typeface="Courier"/>
                        </a:rPr>
                        <a:t>D</a:t>
                      </a:r>
                      <a:r>
                        <a:rPr lang="en-US" sz="2000" b="0" u="none" dirty="0" err="1">
                          <a:solidFill>
                            <a:srgbClr val="000000"/>
                          </a:solidFill>
                          <a:latin typeface="Courier"/>
                          <a:cs typeface="Courier"/>
                        </a:rPr>
                        <a:t>aiyu</a:t>
                      </a:r>
                      <a:endParaRPr lang="en-US" sz="2000" u="none" dirty="0">
                        <a:solidFill>
                          <a:srgbClr val="000000"/>
                        </a:solidFill>
                        <a:latin typeface="Courier"/>
                        <a:cs typeface="Courier"/>
                      </a:endParaRPr>
                    </a:p>
                  </a:txBody>
                  <a:tcPr/>
                </a:tc>
                <a:extLst>
                  <a:ext uri="{0D108BD9-81ED-4DB2-BD59-A6C34878D82A}">
                    <a16:rowId xmlns:a16="http://schemas.microsoft.com/office/drawing/2014/main" val="10003"/>
                  </a:ext>
                </a:extLst>
              </a:tr>
              <a:tr h="370840">
                <a:tc>
                  <a:txBody>
                    <a:bodyPr/>
                    <a:lstStyle/>
                    <a:p>
                      <a:r>
                        <a:rPr lang="en-US" sz="2000" dirty="0">
                          <a:solidFill>
                            <a:srgbClr val="CC0000"/>
                          </a:solidFill>
                          <a:latin typeface="Courier"/>
                          <a:cs typeface="Courier"/>
                        </a:rPr>
                        <a:t>\W</a:t>
                      </a:r>
                      <a:endParaRPr lang="en-US" sz="200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2000" dirty="0">
                          <a:solidFill>
                            <a:srgbClr val="CC0000"/>
                          </a:solidFill>
                          <a:latin typeface="Courier"/>
                          <a:cs typeface="Courier"/>
                        </a:rPr>
                        <a:t>[^\w]</a:t>
                      </a:r>
                      <a:endParaRPr lang="en-US" sz="2000" dirty="0"/>
                    </a:p>
                  </a:txBody>
                  <a:tcPr/>
                </a:tc>
                <a:tc>
                  <a:txBody>
                    <a:bodyPr/>
                    <a:lstStyle/>
                    <a:p>
                      <a:r>
                        <a:rPr lang="en-US" sz="2000" dirty="0"/>
                        <a:t>Not alphanumeric or _</a:t>
                      </a:r>
                    </a:p>
                  </a:txBody>
                  <a:tcPr/>
                </a:tc>
                <a:tc>
                  <a:txBody>
                    <a:bodyPr/>
                    <a:lstStyle/>
                    <a:p>
                      <a:r>
                        <a:rPr lang="en-US" sz="2000" dirty="0">
                          <a:latin typeface="Courier"/>
                          <a:cs typeface="Courier"/>
                        </a:rPr>
                        <a:t>Look</a:t>
                      </a:r>
                      <a:r>
                        <a:rPr lang="en-US" sz="2000" b="0" u="sng" dirty="0">
                          <a:solidFill>
                            <a:srgbClr val="3366FF"/>
                          </a:solidFill>
                          <a:latin typeface="Courier"/>
                          <a:cs typeface="Courier"/>
                        </a:rPr>
                        <a:t>!</a:t>
                      </a:r>
                      <a:endParaRPr lang="en-US" sz="2000" dirty="0">
                        <a:latin typeface="Courier"/>
                        <a:cs typeface="Courier"/>
                      </a:endParaRPr>
                    </a:p>
                  </a:txBody>
                  <a:tcPr/>
                </a:tc>
                <a:extLst>
                  <a:ext uri="{0D108BD9-81ED-4DB2-BD59-A6C34878D82A}">
                    <a16:rowId xmlns:a16="http://schemas.microsoft.com/office/drawing/2014/main" val="3343176011"/>
                  </a:ext>
                </a:extLst>
              </a:tr>
              <a:tr h="370840">
                <a:tc>
                  <a:txBody>
                    <a:bodyPr/>
                    <a:lstStyle/>
                    <a:p>
                      <a:r>
                        <a:rPr lang="en-US" sz="2000" dirty="0">
                          <a:solidFill>
                            <a:srgbClr val="CC0000"/>
                          </a:solidFill>
                          <a:latin typeface="Courier"/>
                          <a:cs typeface="Courier"/>
                        </a:rPr>
                        <a:t>\s</a:t>
                      </a:r>
                      <a:endParaRPr lang="en-US" sz="20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000" dirty="0">
                          <a:solidFill>
                            <a:srgbClr val="CC0000"/>
                          </a:solidFill>
                          <a:latin typeface="Courier"/>
                          <a:cs typeface="Courier"/>
                        </a:rPr>
                        <a:t>[ \r\t\n\f]</a:t>
                      </a:r>
                      <a:endParaRPr lang="en-US" sz="2000" dirty="0"/>
                    </a:p>
                  </a:txBody>
                  <a:tcPr/>
                </a:tc>
                <a:tc>
                  <a:txBody>
                    <a:bodyPr/>
                    <a:lstStyle/>
                    <a:p>
                      <a:r>
                        <a:rPr lang="en-US" sz="2000" dirty="0"/>
                        <a:t>Whitespace (space, tab)</a:t>
                      </a:r>
                    </a:p>
                  </a:txBody>
                  <a:tcPr/>
                </a:tc>
                <a:tc>
                  <a:txBody>
                    <a:bodyPr/>
                    <a:lstStyle/>
                    <a:p>
                      <a:r>
                        <a:rPr lang="en-US" sz="2000" dirty="0" err="1">
                          <a:latin typeface="Courier"/>
                          <a:cs typeface="Courier"/>
                        </a:rPr>
                        <a:t>Look</a:t>
                      </a:r>
                      <a:r>
                        <a:rPr lang="en-US" sz="2000" dirty="0" err="1">
                          <a:solidFill>
                            <a:srgbClr val="3365FF"/>
                          </a:solidFill>
                          <a:latin typeface="Courier"/>
                          <a:cs typeface="Courier"/>
                        </a:rPr>
                        <a:t>␣</a:t>
                      </a:r>
                      <a:r>
                        <a:rPr lang="en-US" sz="2000" dirty="0" err="1">
                          <a:latin typeface="Courier"/>
                          <a:cs typeface="Courier"/>
                        </a:rPr>
                        <a:t>up</a:t>
                      </a:r>
                      <a:endParaRPr lang="en-US" sz="2000" dirty="0">
                        <a:latin typeface="Courier"/>
                        <a:cs typeface="Courier"/>
                      </a:endParaRPr>
                    </a:p>
                  </a:txBody>
                  <a:tcPr/>
                </a:tc>
                <a:extLst>
                  <a:ext uri="{0D108BD9-81ED-4DB2-BD59-A6C34878D82A}">
                    <a16:rowId xmlns:a16="http://schemas.microsoft.com/office/drawing/2014/main" val="10004"/>
                  </a:ext>
                </a:extLst>
              </a:tr>
              <a:tr h="370840">
                <a:tc>
                  <a:txBody>
                    <a:bodyPr/>
                    <a:lstStyle/>
                    <a:p>
                      <a:r>
                        <a:rPr lang="en-US" sz="2000" dirty="0">
                          <a:solidFill>
                            <a:srgbClr val="CC0000"/>
                          </a:solidFill>
                          <a:latin typeface="Courier"/>
                          <a:cs typeface="Courier"/>
                        </a:rPr>
                        <a:t>\S</a:t>
                      </a:r>
                      <a:endParaRPr lang="en-US" sz="20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000" dirty="0">
                          <a:solidFill>
                            <a:srgbClr val="CC0000"/>
                          </a:solidFill>
                          <a:latin typeface="Courier"/>
                          <a:cs typeface="Courier"/>
                        </a:rPr>
                        <a:t>[^\s]</a:t>
                      </a:r>
                      <a:endParaRPr lang="en-US" sz="2000" dirty="0"/>
                    </a:p>
                  </a:txBody>
                  <a:tcPr/>
                </a:tc>
                <a:tc>
                  <a:txBody>
                    <a:bodyPr/>
                    <a:lstStyle/>
                    <a:p>
                      <a:r>
                        <a:rPr lang="en-US" sz="2000" dirty="0"/>
                        <a:t>Not whitespace</a:t>
                      </a:r>
                    </a:p>
                  </a:txBody>
                  <a:tcPr/>
                </a:tc>
                <a:tc>
                  <a:txBody>
                    <a:bodyPr/>
                    <a:lstStyle/>
                    <a:p>
                      <a:r>
                        <a:rPr lang="en-US" sz="2000" b="0" u="sng" dirty="0">
                          <a:solidFill>
                            <a:srgbClr val="3366FF"/>
                          </a:solidFill>
                          <a:latin typeface="Courier"/>
                          <a:cs typeface="Courier"/>
                        </a:rPr>
                        <a:t>L</a:t>
                      </a:r>
                      <a:r>
                        <a:rPr lang="en-US" sz="2000" dirty="0">
                          <a:latin typeface="Courier"/>
                          <a:cs typeface="Courier"/>
                        </a:rPr>
                        <a:t>ook up</a:t>
                      </a:r>
                    </a:p>
                  </a:txBody>
                  <a:tcPr/>
                </a:tc>
                <a:extLst>
                  <a:ext uri="{0D108BD9-81ED-4DB2-BD59-A6C34878D82A}">
                    <a16:rowId xmlns:a16="http://schemas.microsoft.com/office/drawing/2014/main" val="2741289315"/>
                  </a:ext>
                </a:extLst>
              </a:tr>
            </a:tbl>
          </a:graphicData>
        </a:graphic>
      </p:graphicFrame>
    </p:spTree>
    <p:extLst>
      <p:ext uri="{BB962C8B-B14F-4D97-AF65-F5344CB8AC3E}">
        <p14:creationId xmlns:p14="http://schemas.microsoft.com/office/powerpoint/2010/main" val="24854185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990600" y="409575"/>
            <a:ext cx="7772400" cy="742950"/>
          </a:xfrm>
        </p:spPr>
        <p:txBody>
          <a:bodyPr/>
          <a:lstStyle/>
          <a:p>
            <a:pPr eaLnBrk="1" hangingPunct="1"/>
            <a:r>
              <a:rPr lang="en-US" dirty="0"/>
              <a:t>Regular Expressions: More Disjunction</a:t>
            </a:r>
          </a:p>
        </p:txBody>
      </p:sp>
      <p:sp>
        <p:nvSpPr>
          <p:cNvPr id="87043" name="Rectangle 3"/>
          <p:cNvSpPr>
            <a:spLocks noGrp="1" noChangeArrowheads="1"/>
          </p:cNvSpPr>
          <p:nvPr>
            <p:ph idx="1"/>
          </p:nvPr>
        </p:nvSpPr>
        <p:spPr>
          <a:xfrm>
            <a:off x="609600" y="1428750"/>
            <a:ext cx="7620000" cy="4114799"/>
          </a:xfrm>
        </p:spPr>
        <p:txBody>
          <a:bodyPr/>
          <a:lstStyle/>
          <a:p>
            <a:pPr eaLnBrk="1" hangingPunct="1"/>
            <a:r>
              <a:rPr lang="en-US" sz="2400" dirty="0">
                <a:solidFill>
                  <a:srgbClr val="000000"/>
                </a:solidFill>
                <a:latin typeface="Calibri"/>
                <a:cs typeface="Calibri"/>
              </a:rPr>
              <a:t>Groundhog is another name for woodchuck</a:t>
            </a:r>
            <a:r>
              <a:rPr lang="en-US" sz="2400" dirty="0"/>
              <a:t>!</a:t>
            </a:r>
          </a:p>
          <a:p>
            <a:pPr eaLnBrk="1" hangingPunct="1"/>
            <a:r>
              <a:rPr lang="en-US" sz="2400" dirty="0"/>
              <a:t>The pipe symbol | for disjunction</a:t>
            </a:r>
          </a:p>
          <a:p>
            <a:pPr eaLnBrk="1" hangingPunct="1"/>
            <a:endParaRPr lang="en-US" dirty="0">
              <a:solidFill>
                <a:srgbClr val="CC0000"/>
              </a:solidFill>
              <a:latin typeface="Courier" charset="0"/>
            </a:endParaRPr>
          </a:p>
        </p:txBody>
      </p:sp>
      <p:graphicFrame>
        <p:nvGraphicFramePr>
          <p:cNvPr id="8" name="Table 7"/>
          <p:cNvGraphicFramePr>
            <a:graphicFrameLocks noGrp="1"/>
          </p:cNvGraphicFramePr>
          <p:nvPr>
            <p:extLst>
              <p:ext uri="{D42A27DB-BD31-4B8C-83A1-F6EECF244321}">
                <p14:modId xmlns:p14="http://schemas.microsoft.com/office/powerpoint/2010/main" val="3736757201"/>
              </p:ext>
            </p:extLst>
          </p:nvPr>
        </p:nvGraphicFramePr>
        <p:xfrm>
          <a:off x="304800" y="2724150"/>
          <a:ext cx="5638800" cy="1981200"/>
        </p:xfrm>
        <a:graphic>
          <a:graphicData uri="http://schemas.openxmlformats.org/drawingml/2006/table">
            <a:tbl>
              <a:tblPr firstRow="1" bandRow="1">
                <a:tableStyleId>{5C22544A-7EE6-4342-B048-85BDC9FD1C3A}</a:tableStyleId>
              </a:tblPr>
              <a:tblGrid>
                <a:gridCol w="3886200">
                  <a:extLst>
                    <a:ext uri="{9D8B030D-6E8A-4147-A177-3AD203B41FA5}">
                      <a16:colId xmlns:a16="http://schemas.microsoft.com/office/drawing/2014/main" val="20000"/>
                    </a:ext>
                  </a:extLst>
                </a:gridCol>
                <a:gridCol w="1752600">
                  <a:extLst>
                    <a:ext uri="{9D8B030D-6E8A-4147-A177-3AD203B41FA5}">
                      <a16:colId xmlns:a16="http://schemas.microsoft.com/office/drawing/2014/main" val="20001"/>
                    </a:ext>
                  </a:extLst>
                </a:gridCol>
              </a:tblGrid>
              <a:tr h="370840">
                <a:tc>
                  <a:txBody>
                    <a:bodyPr/>
                    <a:lstStyle/>
                    <a:p>
                      <a:r>
                        <a:rPr lang="en-US" sz="2000" dirty="0"/>
                        <a:t>Pattern</a:t>
                      </a:r>
                    </a:p>
                  </a:txBody>
                  <a:tcPr/>
                </a:tc>
                <a:tc>
                  <a:txBody>
                    <a:bodyPr/>
                    <a:lstStyle/>
                    <a:p>
                      <a:r>
                        <a:rPr lang="en-US" sz="2000" dirty="0"/>
                        <a:t>Matches</a:t>
                      </a:r>
                    </a:p>
                  </a:txBody>
                  <a:tcPr/>
                </a:tc>
                <a:extLst>
                  <a:ext uri="{0D108BD9-81ED-4DB2-BD59-A6C34878D82A}">
                    <a16:rowId xmlns:a16="http://schemas.microsoft.com/office/drawing/2014/main" val="10000"/>
                  </a:ext>
                </a:extLst>
              </a:tr>
              <a:tr h="370840">
                <a:tc>
                  <a:txBody>
                    <a:bodyPr/>
                    <a:lstStyle/>
                    <a:p>
                      <a:r>
                        <a:rPr lang="en-US" sz="2000" dirty="0" err="1">
                          <a:solidFill>
                            <a:srgbClr val="CC0000"/>
                          </a:solidFill>
                          <a:latin typeface="Courier"/>
                          <a:cs typeface="Courier"/>
                        </a:rPr>
                        <a:t>groundhog</a:t>
                      </a:r>
                      <a:r>
                        <a:rPr lang="en-US" sz="2000" b="1" dirty="0" err="1">
                          <a:solidFill>
                            <a:srgbClr val="CC0000"/>
                          </a:solidFill>
                          <a:latin typeface="Courier"/>
                          <a:cs typeface="Courier"/>
                        </a:rPr>
                        <a:t>|</a:t>
                      </a:r>
                      <a:r>
                        <a:rPr lang="en-US" sz="2000" dirty="0" err="1">
                          <a:solidFill>
                            <a:srgbClr val="CC0000"/>
                          </a:solidFill>
                          <a:latin typeface="Courier"/>
                          <a:cs typeface="Courier"/>
                        </a:rPr>
                        <a:t>woodchuck</a:t>
                      </a:r>
                      <a:endParaRPr lang="en-US" sz="2000" dirty="0"/>
                    </a:p>
                  </a:txBody>
                  <a:tcPr/>
                </a:tc>
                <a:tc>
                  <a:txBody>
                    <a:bodyPr/>
                    <a:lstStyle/>
                    <a:p>
                      <a:r>
                        <a:rPr lang="en-US" sz="2000" dirty="0">
                          <a:latin typeface="Courier" pitchFamily="2" charset="0"/>
                        </a:rPr>
                        <a:t>woodchuck</a:t>
                      </a:r>
                    </a:p>
                  </a:txBody>
                  <a:tcPr/>
                </a:tc>
                <a:extLst>
                  <a:ext uri="{0D108BD9-81ED-4DB2-BD59-A6C34878D82A}">
                    <a16:rowId xmlns:a16="http://schemas.microsoft.com/office/drawing/2014/main" val="10001"/>
                  </a:ext>
                </a:extLst>
              </a:tr>
              <a:tr h="370840">
                <a:tc>
                  <a:txBody>
                    <a:bodyPr/>
                    <a:lstStyle/>
                    <a:p>
                      <a:r>
                        <a:rPr lang="en-US" sz="2000" dirty="0" err="1">
                          <a:solidFill>
                            <a:srgbClr val="CC0000"/>
                          </a:solidFill>
                          <a:latin typeface="Courier"/>
                          <a:cs typeface="Courier"/>
                        </a:rPr>
                        <a:t>yours</a:t>
                      </a:r>
                      <a:r>
                        <a:rPr lang="en-US" sz="2000" b="1" dirty="0" err="1">
                          <a:solidFill>
                            <a:srgbClr val="CC0000"/>
                          </a:solidFill>
                          <a:latin typeface="Courier"/>
                          <a:cs typeface="Courier"/>
                        </a:rPr>
                        <a:t>|</a:t>
                      </a:r>
                      <a:r>
                        <a:rPr lang="en-US" sz="2000" dirty="0" err="1">
                          <a:solidFill>
                            <a:srgbClr val="CC0000"/>
                          </a:solidFill>
                          <a:latin typeface="Courier"/>
                          <a:cs typeface="Courier"/>
                        </a:rPr>
                        <a:t>mine</a:t>
                      </a:r>
                      <a:endParaRPr lang="en-US" sz="2000" dirty="0"/>
                    </a:p>
                  </a:txBody>
                  <a:tcPr/>
                </a:tc>
                <a:tc>
                  <a:txBody>
                    <a:bodyPr/>
                    <a:lstStyle/>
                    <a:p>
                      <a:r>
                        <a:rPr lang="en-US" sz="2000" dirty="0">
                          <a:solidFill>
                            <a:srgbClr val="000000"/>
                          </a:solidFill>
                          <a:latin typeface="Courier"/>
                          <a:cs typeface="Courier"/>
                        </a:rPr>
                        <a:t>yours</a:t>
                      </a:r>
                    </a:p>
                  </a:txBody>
                  <a:tcPr/>
                </a:tc>
                <a:extLst>
                  <a:ext uri="{0D108BD9-81ED-4DB2-BD59-A6C34878D82A}">
                    <a16:rowId xmlns:a16="http://schemas.microsoft.com/office/drawing/2014/main" val="10002"/>
                  </a:ext>
                </a:extLst>
              </a:tr>
              <a:tr h="370840">
                <a:tc>
                  <a:txBody>
                    <a:bodyPr/>
                    <a:lstStyle/>
                    <a:p>
                      <a:r>
                        <a:rPr lang="en-US" sz="2000" dirty="0" err="1">
                          <a:solidFill>
                            <a:srgbClr val="CC0000"/>
                          </a:solidFill>
                          <a:latin typeface="Courier"/>
                          <a:cs typeface="Courier"/>
                        </a:rPr>
                        <a:t>a</a:t>
                      </a:r>
                      <a:r>
                        <a:rPr lang="en-US" sz="2000" b="1" dirty="0" err="1">
                          <a:solidFill>
                            <a:srgbClr val="CC0000"/>
                          </a:solidFill>
                          <a:latin typeface="Courier"/>
                          <a:cs typeface="Courier"/>
                        </a:rPr>
                        <a:t>|</a:t>
                      </a:r>
                      <a:r>
                        <a:rPr lang="en-US" sz="2000" dirty="0" err="1">
                          <a:solidFill>
                            <a:srgbClr val="CC0000"/>
                          </a:solidFill>
                          <a:latin typeface="Courier"/>
                          <a:cs typeface="Courier"/>
                        </a:rPr>
                        <a:t>b</a:t>
                      </a:r>
                      <a:r>
                        <a:rPr lang="en-US" sz="2000" b="1" dirty="0" err="1">
                          <a:solidFill>
                            <a:srgbClr val="CC0000"/>
                          </a:solidFill>
                          <a:latin typeface="Courier"/>
                          <a:cs typeface="Courier"/>
                        </a:rPr>
                        <a:t>|</a:t>
                      </a:r>
                      <a:r>
                        <a:rPr lang="en-US" sz="2000" dirty="0" err="1">
                          <a:solidFill>
                            <a:srgbClr val="CC0000"/>
                          </a:solidFill>
                          <a:latin typeface="Courier"/>
                          <a:cs typeface="Courier"/>
                        </a:rPr>
                        <a:t>c</a:t>
                      </a:r>
                      <a:endParaRPr lang="en-US" sz="2000" dirty="0"/>
                    </a:p>
                  </a:txBody>
                  <a:tcPr/>
                </a:tc>
                <a:tc>
                  <a:txBody>
                    <a:bodyPr/>
                    <a:lstStyle/>
                    <a:p>
                      <a:r>
                        <a:rPr lang="en-US" sz="2000" dirty="0"/>
                        <a:t>= </a:t>
                      </a:r>
                      <a:r>
                        <a:rPr lang="en-US" sz="2000" dirty="0">
                          <a:solidFill>
                            <a:srgbClr val="FF0000"/>
                          </a:solidFill>
                          <a:latin typeface="Calibri"/>
                          <a:cs typeface="Calibri"/>
                        </a:rPr>
                        <a:t>[</a:t>
                      </a:r>
                      <a:r>
                        <a:rPr lang="en-US" sz="2000" dirty="0" err="1">
                          <a:solidFill>
                            <a:srgbClr val="FF0000"/>
                          </a:solidFill>
                          <a:latin typeface="Calibri"/>
                          <a:cs typeface="Calibri"/>
                        </a:rPr>
                        <a:t>abc</a:t>
                      </a:r>
                      <a:r>
                        <a:rPr lang="en-US" sz="2000" dirty="0">
                          <a:solidFill>
                            <a:srgbClr val="FF0000"/>
                          </a:solidFill>
                          <a:latin typeface="Calibri"/>
                          <a:cs typeface="Calibri"/>
                        </a:rPr>
                        <a:t>]</a:t>
                      </a:r>
                    </a:p>
                  </a:txBody>
                  <a:tcPr/>
                </a:tc>
                <a:extLst>
                  <a:ext uri="{0D108BD9-81ED-4DB2-BD59-A6C34878D82A}">
                    <a16:rowId xmlns:a16="http://schemas.microsoft.com/office/drawing/2014/main" val="10003"/>
                  </a:ext>
                </a:extLst>
              </a:tr>
              <a:tr h="37084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900" dirty="0">
                          <a:solidFill>
                            <a:srgbClr val="CC0000"/>
                          </a:solidFill>
                          <a:latin typeface="Courier"/>
                          <a:cs typeface="Courier"/>
                        </a:rPr>
                        <a:t>[</a:t>
                      </a:r>
                      <a:r>
                        <a:rPr lang="en-US" sz="1900" dirty="0" err="1">
                          <a:solidFill>
                            <a:srgbClr val="CC0000"/>
                          </a:solidFill>
                          <a:latin typeface="Courier"/>
                          <a:cs typeface="Courier"/>
                        </a:rPr>
                        <a:t>gG</a:t>
                      </a:r>
                      <a:r>
                        <a:rPr lang="en-US" sz="1900" dirty="0">
                          <a:solidFill>
                            <a:srgbClr val="CC0000"/>
                          </a:solidFill>
                          <a:latin typeface="Courier"/>
                          <a:cs typeface="Courier"/>
                        </a:rPr>
                        <a:t>]</a:t>
                      </a:r>
                      <a:r>
                        <a:rPr lang="en-US" sz="1900" dirty="0" err="1">
                          <a:solidFill>
                            <a:srgbClr val="CC0000"/>
                          </a:solidFill>
                          <a:latin typeface="Courier"/>
                          <a:cs typeface="Courier"/>
                        </a:rPr>
                        <a:t>roundhog</a:t>
                      </a:r>
                      <a:r>
                        <a:rPr lang="en-US" sz="1900" b="1" dirty="0">
                          <a:solidFill>
                            <a:srgbClr val="CC0000"/>
                          </a:solidFill>
                          <a:latin typeface="Courier"/>
                          <a:cs typeface="Courier"/>
                        </a:rPr>
                        <a:t>|</a:t>
                      </a:r>
                      <a:r>
                        <a:rPr lang="en-US" sz="1900" dirty="0">
                          <a:solidFill>
                            <a:srgbClr val="CC0000"/>
                          </a:solidFill>
                          <a:latin typeface="Courier"/>
                          <a:cs typeface="Courier"/>
                        </a:rPr>
                        <a:t>[</a:t>
                      </a:r>
                      <a:r>
                        <a:rPr lang="en-US" sz="1900" dirty="0" err="1">
                          <a:solidFill>
                            <a:srgbClr val="CC0000"/>
                          </a:solidFill>
                          <a:latin typeface="Courier"/>
                          <a:cs typeface="Courier"/>
                        </a:rPr>
                        <a:t>Ww</a:t>
                      </a:r>
                      <a:r>
                        <a:rPr lang="en-US" sz="1900" dirty="0">
                          <a:solidFill>
                            <a:srgbClr val="CC0000"/>
                          </a:solidFill>
                          <a:latin typeface="Courier"/>
                          <a:cs typeface="Courier"/>
                        </a:rPr>
                        <a:t>]</a:t>
                      </a:r>
                      <a:r>
                        <a:rPr lang="en-US" sz="1900" dirty="0" err="1">
                          <a:solidFill>
                            <a:srgbClr val="CC0000"/>
                          </a:solidFill>
                          <a:latin typeface="Courier"/>
                          <a:cs typeface="Courier"/>
                        </a:rPr>
                        <a:t>oodchuck</a:t>
                      </a:r>
                      <a:endParaRPr lang="en-US" sz="1900" dirty="0"/>
                    </a:p>
                  </a:txBody>
                  <a:tcPr/>
                </a:tc>
                <a:tc>
                  <a:txBody>
                    <a:bodyPr/>
                    <a:lstStyle/>
                    <a:p>
                      <a:r>
                        <a:rPr lang="en-US" sz="2000" dirty="0">
                          <a:latin typeface="Courier" pitchFamily="2" charset="0"/>
                        </a:rPr>
                        <a:t>Woodchuck</a:t>
                      </a:r>
                      <a:endParaRPr lang="en-US" sz="2000" dirty="0">
                        <a:solidFill>
                          <a:srgbClr val="FF0000"/>
                        </a:solidFill>
                        <a:latin typeface="Courier" pitchFamily="2" charset="0"/>
                        <a:cs typeface="Calibri"/>
                      </a:endParaRPr>
                    </a:p>
                  </a:txBody>
                  <a:tcPr/>
                </a:tc>
                <a:extLst>
                  <a:ext uri="{0D108BD9-81ED-4DB2-BD59-A6C34878D82A}">
                    <a16:rowId xmlns:a16="http://schemas.microsoft.com/office/drawing/2014/main" val="10004"/>
                  </a:ext>
                </a:extLst>
              </a:tr>
            </a:tbl>
          </a:graphicData>
        </a:graphic>
      </p:graphicFrame>
      <p:pic>
        <p:nvPicPr>
          <p:cNvPr id="7" name="Picture 6" descr="220px-Groundhog3.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67671" y="2724149"/>
            <a:ext cx="2749991" cy="2062493"/>
          </a:xfrm>
          <a:prstGeom prst="rect">
            <a:avLst/>
          </a:prstGeom>
        </p:spPr>
      </p:pic>
    </p:spTree>
    <p:extLst>
      <p:ext uri="{BB962C8B-B14F-4D97-AF65-F5344CB8AC3E}">
        <p14:creationId xmlns:p14="http://schemas.microsoft.com/office/powerpoint/2010/main" val="24226434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a:xfrm>
            <a:off x="533400" y="119702"/>
            <a:ext cx="7833360" cy="680397"/>
          </a:xfrm>
        </p:spPr>
        <p:txBody>
          <a:bodyPr>
            <a:normAutofit fontScale="90000"/>
          </a:bodyPr>
          <a:lstStyle/>
          <a:p>
            <a:r>
              <a:rPr lang="en-US" dirty="0"/>
              <a:t>Wildcards, optionality, repetition: </a:t>
            </a:r>
            <a:r>
              <a:rPr lang="en-US" dirty="0">
                <a:solidFill>
                  <a:srgbClr val="CC0000"/>
                </a:solidFill>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 </a:t>
            </a:r>
            <a:r>
              <a:rPr lang="en-US" dirty="0">
                <a:solidFill>
                  <a:srgbClr val="CC0000"/>
                </a:solidFill>
                <a:latin typeface="Courier New" panose="02070309020205020404" pitchFamily="49" charset="0"/>
                <a:cs typeface="Courier New" panose="02070309020205020404" pitchFamily="49" charset="0"/>
              </a:rPr>
              <a:t>* +</a:t>
            </a:r>
            <a:endParaRPr lang="en-US" dirty="0">
              <a:latin typeface="Courier New" panose="02070309020205020404" pitchFamily="49" charset="0"/>
              <a:cs typeface="Courier New" panose="02070309020205020404" pitchFamily="49" charset="0"/>
            </a:endParaRPr>
          </a:p>
        </p:txBody>
      </p:sp>
      <p:sp>
        <p:nvSpPr>
          <p:cNvPr id="75780" name="Rectangle 4"/>
          <p:cNvSpPr>
            <a:spLocks noChangeArrowheads="1"/>
          </p:cNvSpPr>
          <p:nvPr/>
        </p:nvSpPr>
        <p:spPr bwMode="auto">
          <a:xfrm>
            <a:off x="1588" y="2445544"/>
            <a:ext cx="9144000" cy="461665"/>
          </a:xfrm>
          <a:prstGeom prst="rect">
            <a:avLst/>
          </a:prstGeom>
          <a:noFill/>
          <a:ln w="9525">
            <a:noFill/>
            <a:miter lim="800000"/>
            <a:headEnd/>
            <a:tailEnd/>
          </a:ln>
        </p:spPr>
        <p:txBody>
          <a:bodyPr>
            <a:prstTxWarp prst="textNoShape">
              <a:avLst/>
            </a:prstTxWarp>
            <a:spAutoFit/>
          </a:bodyPr>
          <a:lstStyle/>
          <a:p>
            <a:endParaRPr lang="en-US"/>
          </a:p>
        </p:txBody>
      </p:sp>
      <p:sp>
        <p:nvSpPr>
          <p:cNvPr id="75783" name="Rectangle 10"/>
          <p:cNvSpPr>
            <a:spLocks noChangeArrowheads="1"/>
          </p:cNvSpPr>
          <p:nvPr/>
        </p:nvSpPr>
        <p:spPr bwMode="auto">
          <a:xfrm>
            <a:off x="1219200" y="3714750"/>
            <a:ext cx="7010400" cy="1085850"/>
          </a:xfrm>
          <a:prstGeom prst="rect">
            <a:avLst/>
          </a:prstGeom>
          <a:noFill/>
          <a:ln w="9525">
            <a:noFill/>
            <a:miter lim="800000"/>
            <a:headEnd/>
            <a:tailEnd/>
          </a:ln>
        </p:spPr>
        <p:txBody>
          <a:bodyPr lIns="92075" tIns="46038" rIns="92075" bIns="46038">
            <a:prstTxWarp prst="textNoShape">
              <a:avLst/>
            </a:prstTxWarp>
          </a:bodyPr>
          <a:lstStyle/>
          <a:p>
            <a:pPr marL="342900" indent="-342900">
              <a:spcBef>
                <a:spcPct val="20000"/>
              </a:spcBef>
              <a:buClr>
                <a:schemeClr val="tx2"/>
              </a:buClr>
              <a:buSzPct val="95000"/>
              <a:buFont typeface="Wingdings" charset="2"/>
              <a:buNone/>
            </a:pPr>
            <a:endParaRPr lang="en-US" sz="2400" b="1" dirty="0">
              <a:solidFill>
                <a:srgbClr val="CC0000"/>
              </a:solidFill>
              <a:latin typeface="Courier New"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15600" y="1098487"/>
            <a:ext cx="1677187" cy="2387663"/>
          </a:xfrm>
          <a:prstGeom prst="rect">
            <a:avLst/>
          </a:prstGeom>
        </p:spPr>
      </p:pic>
      <p:sp>
        <p:nvSpPr>
          <p:cNvPr id="3" name="TextBox 2"/>
          <p:cNvSpPr txBox="1"/>
          <p:nvPr/>
        </p:nvSpPr>
        <p:spPr>
          <a:xfrm>
            <a:off x="7269417" y="3438733"/>
            <a:ext cx="1827769" cy="369332"/>
          </a:xfrm>
          <a:prstGeom prst="rect">
            <a:avLst/>
          </a:prstGeom>
          <a:noFill/>
        </p:spPr>
        <p:txBody>
          <a:bodyPr wrap="none" rtlCol="0">
            <a:spAutoFit/>
          </a:bodyPr>
          <a:lstStyle/>
          <a:p>
            <a:r>
              <a:rPr lang="en-US" sz="1800" dirty="0">
                <a:latin typeface="+mn-lt"/>
              </a:rPr>
              <a:t>Stephen C </a:t>
            </a:r>
            <a:r>
              <a:rPr lang="en-US" sz="1800" dirty="0" err="1">
                <a:latin typeface="+mn-lt"/>
              </a:rPr>
              <a:t>Kleene</a:t>
            </a:r>
            <a:endParaRPr lang="en-US" sz="1800" dirty="0">
              <a:latin typeface="+mn-lt"/>
            </a:endParaRPr>
          </a:p>
        </p:txBody>
      </p:sp>
      <p:graphicFrame>
        <p:nvGraphicFramePr>
          <p:cNvPr id="14" name="Table 13"/>
          <p:cNvGraphicFramePr>
            <a:graphicFrameLocks noGrp="1"/>
          </p:cNvGraphicFramePr>
          <p:nvPr>
            <p:extLst>
              <p:ext uri="{D42A27DB-BD31-4B8C-83A1-F6EECF244321}">
                <p14:modId xmlns:p14="http://schemas.microsoft.com/office/powerpoint/2010/main" val="1082207909"/>
              </p:ext>
            </p:extLst>
          </p:nvPr>
        </p:nvGraphicFramePr>
        <p:xfrm>
          <a:off x="304800" y="1047750"/>
          <a:ext cx="6858000" cy="3200400"/>
        </p:xfrm>
        <a:graphic>
          <a:graphicData uri="http://schemas.openxmlformats.org/drawingml/2006/table">
            <a:tbl>
              <a:tblPr firstRow="1" bandRow="1">
                <a:tableStyleId>{5C22544A-7EE6-4342-B048-85BDC9FD1C3A}</a:tableStyleId>
              </a:tblPr>
              <a:tblGrid>
                <a:gridCol w="1905000">
                  <a:extLst>
                    <a:ext uri="{9D8B030D-6E8A-4147-A177-3AD203B41FA5}">
                      <a16:colId xmlns:a16="http://schemas.microsoft.com/office/drawing/2014/main" val="20000"/>
                    </a:ext>
                  </a:extLst>
                </a:gridCol>
                <a:gridCol w="22098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70840">
                <a:tc>
                  <a:txBody>
                    <a:bodyPr/>
                    <a:lstStyle/>
                    <a:p>
                      <a:r>
                        <a:rPr lang="en-US" sz="2000" dirty="0"/>
                        <a:t>Pattern</a:t>
                      </a:r>
                    </a:p>
                  </a:txBody>
                  <a:tcPr/>
                </a:tc>
                <a:tc>
                  <a:txBody>
                    <a:bodyPr/>
                    <a:lstStyle/>
                    <a:p>
                      <a:r>
                        <a:rPr lang="en-US" sz="2000" dirty="0"/>
                        <a:t>Matches</a:t>
                      </a:r>
                    </a:p>
                  </a:txBody>
                  <a:tcPr/>
                </a:tc>
                <a:tc>
                  <a:txBody>
                    <a:bodyPr/>
                    <a:lstStyle/>
                    <a:p>
                      <a:r>
                        <a:rPr lang="en-US" sz="2000" dirty="0"/>
                        <a:t>Examples</a:t>
                      </a:r>
                    </a:p>
                  </a:txBody>
                  <a:tcPr/>
                </a:tc>
                <a:extLst>
                  <a:ext uri="{0D108BD9-81ED-4DB2-BD59-A6C34878D82A}">
                    <a16:rowId xmlns:a16="http://schemas.microsoft.com/office/drawing/2014/main" val="10000"/>
                  </a:ext>
                </a:extLst>
              </a:tr>
              <a:tr h="37084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2000" dirty="0" err="1">
                          <a:solidFill>
                            <a:srgbClr val="CC0000"/>
                          </a:solidFill>
                          <a:latin typeface="Courier"/>
                          <a:cs typeface="Courier"/>
                        </a:rPr>
                        <a:t>beg.n</a:t>
                      </a:r>
                      <a:endParaRPr lang="en-US" sz="2000" dirty="0"/>
                    </a:p>
                  </a:txBody>
                  <a:tcPr/>
                </a:tc>
                <a:tc>
                  <a:txBody>
                    <a:bodyPr/>
                    <a:lstStyle/>
                    <a:p>
                      <a:r>
                        <a:rPr lang="en-US" sz="2000" dirty="0"/>
                        <a:t>Any char</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2000" u="sng" dirty="0">
                          <a:solidFill>
                            <a:srgbClr val="0200FF"/>
                          </a:solidFill>
                          <a:latin typeface="Courier"/>
                          <a:cs typeface="Courier"/>
                        </a:rPr>
                        <a:t>begin</a:t>
                      </a:r>
                      <a:r>
                        <a:rPr lang="en-US" sz="2000" u="none" dirty="0">
                          <a:solidFill>
                            <a:srgbClr val="0200FF"/>
                          </a:solidFill>
                          <a:latin typeface="Courier"/>
                          <a:cs typeface="Courier"/>
                        </a:rPr>
                        <a:t>   </a:t>
                      </a:r>
                      <a:r>
                        <a:rPr lang="en-US" sz="2000" u="sng" baseline="0" dirty="0">
                          <a:solidFill>
                            <a:srgbClr val="0200FF"/>
                          </a:solidFill>
                          <a:latin typeface="Courier"/>
                          <a:cs typeface="Courier"/>
                        </a:rPr>
                        <a:t>begun beg3n</a:t>
                      </a:r>
                      <a:r>
                        <a:rPr lang="en-US" sz="2000" u="none" baseline="0" dirty="0">
                          <a:solidFill>
                            <a:srgbClr val="0200FF"/>
                          </a:solidFill>
                          <a:latin typeface="Courier"/>
                          <a:cs typeface="Courier"/>
                        </a:rPr>
                        <a:t>  </a:t>
                      </a:r>
                      <a:r>
                        <a:rPr lang="en-US" sz="2000" u="sng" baseline="0" dirty="0">
                          <a:solidFill>
                            <a:srgbClr val="0200FF"/>
                          </a:solidFill>
                          <a:latin typeface="Courier"/>
                          <a:cs typeface="Courier"/>
                        </a:rPr>
                        <a:t>beg n</a:t>
                      </a:r>
                      <a:endParaRPr lang="en-US" sz="2000" u="none" dirty="0">
                        <a:solidFill>
                          <a:srgbClr val="0200FF"/>
                        </a:solidFill>
                        <a:latin typeface="Courier"/>
                        <a:cs typeface="Courier"/>
                      </a:endParaRPr>
                    </a:p>
                  </a:txBody>
                  <a:tcPr/>
                </a:tc>
                <a:extLst>
                  <a:ext uri="{0D108BD9-81ED-4DB2-BD59-A6C34878D82A}">
                    <a16:rowId xmlns:a16="http://schemas.microsoft.com/office/drawing/2014/main" val="2497487363"/>
                  </a:ext>
                </a:extLst>
              </a:tr>
              <a:tr h="370840">
                <a:tc>
                  <a:txBody>
                    <a:bodyPr/>
                    <a:lstStyle/>
                    <a:p>
                      <a:r>
                        <a:rPr lang="en-US" sz="2000" dirty="0">
                          <a:solidFill>
                            <a:srgbClr val="CC0000"/>
                          </a:solidFill>
                          <a:latin typeface="Courier"/>
                          <a:cs typeface="Courier"/>
                        </a:rPr>
                        <a:t>woodchucks?</a:t>
                      </a:r>
                      <a:endParaRPr lang="en-US" sz="2000" dirty="0"/>
                    </a:p>
                  </a:txBody>
                  <a:tcPr/>
                </a:tc>
                <a:tc>
                  <a:txBody>
                    <a:bodyPr/>
                    <a:lstStyle/>
                    <a:p>
                      <a:r>
                        <a:rPr lang="en-US" sz="2000" dirty="0"/>
                        <a:t>Optional s</a:t>
                      </a:r>
                    </a:p>
                  </a:txBody>
                  <a:tcPr/>
                </a:tc>
                <a:tc>
                  <a:txBody>
                    <a:bodyPr/>
                    <a:lstStyle/>
                    <a:p>
                      <a:r>
                        <a:rPr lang="en-US" sz="2000" u="sng" dirty="0">
                          <a:solidFill>
                            <a:srgbClr val="0200FF"/>
                          </a:solidFill>
                          <a:latin typeface="Courier"/>
                          <a:cs typeface="Courier"/>
                        </a:rPr>
                        <a:t>woodchuck woodchucks</a:t>
                      </a:r>
                    </a:p>
                  </a:txBody>
                  <a:tcPr/>
                </a:tc>
                <a:extLst>
                  <a:ext uri="{0D108BD9-81ED-4DB2-BD59-A6C34878D82A}">
                    <a16:rowId xmlns:a16="http://schemas.microsoft.com/office/drawing/2014/main" val="1379060707"/>
                  </a:ext>
                </a:extLst>
              </a:tr>
              <a:tr h="370840">
                <a:tc>
                  <a:txBody>
                    <a:bodyPr/>
                    <a:lstStyle/>
                    <a:p>
                      <a:r>
                        <a:rPr lang="en-US" sz="2000" dirty="0">
                          <a:solidFill>
                            <a:srgbClr val="CC0000"/>
                          </a:solidFill>
                          <a:latin typeface="Courier"/>
                          <a:cs typeface="Courier"/>
                        </a:rPr>
                        <a:t>to*</a:t>
                      </a:r>
                      <a:endParaRPr lang="en-US" sz="2000" dirty="0"/>
                    </a:p>
                  </a:txBody>
                  <a:tcPr/>
                </a:tc>
                <a:tc>
                  <a:txBody>
                    <a:bodyPr/>
                    <a:lstStyle/>
                    <a:p>
                      <a:r>
                        <a:rPr lang="en-US" sz="2000" dirty="0">
                          <a:solidFill>
                            <a:srgbClr val="000000"/>
                          </a:solidFill>
                        </a:rPr>
                        <a:t>0 or more of previous char</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2000" u="sng" dirty="0">
                          <a:solidFill>
                            <a:srgbClr val="0200FF"/>
                          </a:solidFill>
                          <a:latin typeface="Courier"/>
                          <a:cs typeface="Courier"/>
                        </a:rPr>
                        <a:t>t</a:t>
                      </a:r>
                      <a:r>
                        <a:rPr lang="en-US" sz="2000" u="none" dirty="0">
                          <a:solidFill>
                            <a:srgbClr val="0200FF"/>
                          </a:solidFill>
                          <a:latin typeface="Courier"/>
                          <a:cs typeface="Courier"/>
                        </a:rPr>
                        <a:t> </a:t>
                      </a:r>
                      <a:r>
                        <a:rPr lang="en-US" sz="2000" u="sng" dirty="0">
                          <a:solidFill>
                            <a:srgbClr val="0200FF"/>
                          </a:solidFill>
                          <a:latin typeface="Courier"/>
                          <a:cs typeface="Courier"/>
                        </a:rPr>
                        <a:t>to</a:t>
                      </a:r>
                      <a:r>
                        <a:rPr lang="en-US" sz="2000" u="none" dirty="0">
                          <a:solidFill>
                            <a:srgbClr val="0200FF"/>
                          </a:solidFill>
                          <a:latin typeface="Courier"/>
                          <a:cs typeface="Courier"/>
                        </a:rPr>
                        <a:t> </a:t>
                      </a:r>
                      <a:r>
                        <a:rPr lang="en-US" sz="2000" u="sng" dirty="0">
                          <a:solidFill>
                            <a:srgbClr val="0200FF"/>
                          </a:solidFill>
                          <a:latin typeface="Courier"/>
                          <a:cs typeface="Courier"/>
                        </a:rPr>
                        <a:t>too</a:t>
                      </a:r>
                      <a:r>
                        <a:rPr lang="en-US" sz="2000" u="none" dirty="0">
                          <a:solidFill>
                            <a:srgbClr val="0200FF"/>
                          </a:solidFill>
                          <a:latin typeface="Courier"/>
                          <a:cs typeface="Courier"/>
                        </a:rPr>
                        <a:t> </a:t>
                      </a:r>
                      <a:r>
                        <a:rPr lang="en-US" sz="2000" u="sng" dirty="0" err="1">
                          <a:solidFill>
                            <a:srgbClr val="0200FF"/>
                          </a:solidFill>
                          <a:latin typeface="Courier"/>
                          <a:cs typeface="Courier"/>
                        </a:rPr>
                        <a:t>tooo</a:t>
                      </a:r>
                      <a:endParaRPr lang="en-US" sz="2000" u="none" dirty="0">
                        <a:solidFill>
                          <a:srgbClr val="0200FF"/>
                        </a:solidFill>
                        <a:latin typeface="Courier"/>
                        <a:cs typeface="Courier"/>
                      </a:endParaRPr>
                    </a:p>
                  </a:txBody>
                  <a:tcPr/>
                </a:tc>
                <a:extLst>
                  <a:ext uri="{0D108BD9-81ED-4DB2-BD59-A6C34878D82A}">
                    <a16:rowId xmlns:a16="http://schemas.microsoft.com/office/drawing/2014/main" val="10002"/>
                  </a:ext>
                </a:extLst>
              </a:tr>
              <a:tr h="370840">
                <a:tc>
                  <a:txBody>
                    <a:bodyPr/>
                    <a:lstStyle/>
                    <a:p>
                      <a:r>
                        <a:rPr lang="en-US" sz="2000" dirty="0">
                          <a:solidFill>
                            <a:srgbClr val="CC0000"/>
                          </a:solidFill>
                          <a:latin typeface="Courier"/>
                          <a:cs typeface="Courier"/>
                        </a:rPr>
                        <a:t>to+</a:t>
                      </a:r>
                      <a:endParaRPr lang="en-US" sz="20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2000" dirty="0">
                          <a:solidFill>
                            <a:srgbClr val="000000"/>
                          </a:solidFill>
                        </a:rPr>
                        <a:t>1 or more of previous char</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2000" u="sng" dirty="0">
                          <a:solidFill>
                            <a:srgbClr val="0200FF"/>
                          </a:solidFill>
                          <a:latin typeface="Courier"/>
                          <a:cs typeface="Courier"/>
                        </a:rPr>
                        <a:t>to</a:t>
                      </a:r>
                      <a:r>
                        <a:rPr lang="en-US" sz="2000" u="none" dirty="0">
                          <a:solidFill>
                            <a:srgbClr val="0200FF"/>
                          </a:solidFill>
                          <a:latin typeface="Courier"/>
                          <a:cs typeface="Courier"/>
                        </a:rPr>
                        <a:t> t</a:t>
                      </a:r>
                      <a:r>
                        <a:rPr lang="en-US" sz="2000" u="sng" dirty="0">
                          <a:solidFill>
                            <a:srgbClr val="0200FF"/>
                          </a:solidFill>
                          <a:latin typeface="Courier"/>
                          <a:cs typeface="Courier"/>
                        </a:rPr>
                        <a:t>oo</a:t>
                      </a:r>
                      <a:r>
                        <a:rPr lang="en-US" sz="2000" u="none" dirty="0">
                          <a:solidFill>
                            <a:srgbClr val="0200FF"/>
                          </a:solidFill>
                          <a:latin typeface="Courier"/>
                          <a:cs typeface="Courier"/>
                        </a:rPr>
                        <a:t> </a:t>
                      </a:r>
                      <a:r>
                        <a:rPr lang="en-US" sz="2000" u="none" dirty="0" err="1">
                          <a:solidFill>
                            <a:srgbClr val="0200FF"/>
                          </a:solidFill>
                          <a:latin typeface="Courier"/>
                          <a:cs typeface="Courier"/>
                        </a:rPr>
                        <a:t>t</a:t>
                      </a:r>
                      <a:r>
                        <a:rPr lang="en-US" sz="2000" u="sng" dirty="0" err="1">
                          <a:solidFill>
                            <a:srgbClr val="0200FF"/>
                          </a:solidFill>
                          <a:latin typeface="Courier"/>
                          <a:cs typeface="Courier"/>
                        </a:rPr>
                        <a:t>ooo</a:t>
                      </a:r>
                      <a:r>
                        <a:rPr lang="en-US" sz="2000" u="none" dirty="0">
                          <a:solidFill>
                            <a:srgbClr val="0200FF"/>
                          </a:solidFill>
                          <a:latin typeface="Courier"/>
                          <a:cs typeface="Courier"/>
                        </a:rPr>
                        <a:t> </a:t>
                      </a:r>
                      <a:r>
                        <a:rPr lang="en-US" sz="2000" u="none" dirty="0" err="1">
                          <a:solidFill>
                            <a:srgbClr val="0200FF"/>
                          </a:solidFill>
                          <a:latin typeface="Courier"/>
                          <a:cs typeface="Courier"/>
                        </a:rPr>
                        <a:t>t</a:t>
                      </a:r>
                      <a:r>
                        <a:rPr lang="en-US" sz="2000" u="sng" dirty="0" err="1">
                          <a:solidFill>
                            <a:srgbClr val="0200FF"/>
                          </a:solidFill>
                          <a:latin typeface="Courier"/>
                          <a:cs typeface="Courier"/>
                        </a:rPr>
                        <a:t>oooo</a:t>
                      </a:r>
                      <a:endParaRPr lang="en-US" sz="2000" u="none" dirty="0">
                        <a:solidFill>
                          <a:srgbClr val="0200FF"/>
                        </a:solidFill>
                        <a:latin typeface="Courier"/>
                        <a:cs typeface="Courier"/>
                      </a:endParaRPr>
                    </a:p>
                  </a:txBody>
                  <a:tcPr/>
                </a:tc>
                <a:extLst>
                  <a:ext uri="{0D108BD9-81ED-4DB2-BD59-A6C34878D82A}">
                    <a16:rowId xmlns:a16="http://schemas.microsoft.com/office/drawing/2014/main" val="10003"/>
                  </a:ext>
                </a:extLst>
              </a:tr>
            </a:tbl>
          </a:graphicData>
        </a:graphic>
      </p:graphicFrame>
      <p:sp>
        <p:nvSpPr>
          <p:cNvPr id="4" name="TextBox 3"/>
          <p:cNvSpPr txBox="1"/>
          <p:nvPr/>
        </p:nvSpPr>
        <p:spPr>
          <a:xfrm>
            <a:off x="7178008" y="3833008"/>
            <a:ext cx="2010586" cy="369332"/>
          </a:xfrm>
          <a:prstGeom prst="rect">
            <a:avLst/>
          </a:prstGeom>
          <a:noFill/>
        </p:spPr>
        <p:txBody>
          <a:bodyPr wrap="none" rtlCol="0">
            <a:spAutoFit/>
          </a:bodyPr>
          <a:lstStyle/>
          <a:p>
            <a:r>
              <a:rPr lang="en-US" sz="1800" dirty="0" err="1">
                <a:latin typeface="+mn-lt"/>
              </a:rPr>
              <a:t>Kleene</a:t>
            </a:r>
            <a:r>
              <a:rPr lang="en-US" sz="1800" dirty="0">
                <a:latin typeface="+mn-lt"/>
              </a:rPr>
              <a:t> *,   </a:t>
            </a:r>
            <a:r>
              <a:rPr lang="en-US" sz="1800" dirty="0" err="1">
                <a:latin typeface="+mn-lt"/>
              </a:rPr>
              <a:t>Kleene</a:t>
            </a:r>
            <a:r>
              <a:rPr lang="en-US" sz="1800" dirty="0">
                <a:latin typeface="+mn-lt"/>
              </a:rPr>
              <a:t> +   </a:t>
            </a:r>
          </a:p>
        </p:txBody>
      </p:sp>
    </p:spTree>
    <p:extLst>
      <p:ext uri="{BB962C8B-B14F-4D97-AF65-F5344CB8AC3E}">
        <p14:creationId xmlns:p14="http://schemas.microsoft.com/office/powerpoint/2010/main" val="21488389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pPr eaLnBrk="1" hangingPunct="1"/>
            <a:r>
              <a:rPr lang="en-US" dirty="0"/>
              <a:t>Regular Expressions: Anchors  </a:t>
            </a:r>
            <a:r>
              <a:rPr lang="en-US" dirty="0">
                <a:solidFill>
                  <a:srgbClr val="FF0000"/>
                </a:solidFill>
              </a:rPr>
              <a:t>^   $</a:t>
            </a:r>
          </a:p>
        </p:txBody>
      </p:sp>
      <p:sp>
        <p:nvSpPr>
          <p:cNvPr id="77827" name="Rectangle 3"/>
          <p:cNvSpPr>
            <a:spLocks noGrp="1" noChangeArrowheads="1"/>
          </p:cNvSpPr>
          <p:nvPr>
            <p:ph idx="1"/>
          </p:nvPr>
        </p:nvSpPr>
        <p:spPr>
          <a:xfrm>
            <a:off x="762000" y="1314450"/>
            <a:ext cx="7848600" cy="3543300"/>
          </a:xfrm>
        </p:spPr>
        <p:txBody>
          <a:bodyPr/>
          <a:lstStyle/>
          <a:p>
            <a:pPr>
              <a:lnSpc>
                <a:spcPct val="90000"/>
              </a:lnSpc>
              <a:spcBef>
                <a:spcPct val="50000"/>
              </a:spcBef>
            </a:pPr>
            <a:endParaRPr lang="en-US" sz="2400" dirty="0">
              <a:latin typeface="Courier New" charset="0"/>
            </a:endParaRPr>
          </a:p>
        </p:txBody>
      </p:sp>
      <p:graphicFrame>
        <p:nvGraphicFramePr>
          <p:cNvPr id="6" name="Table 5"/>
          <p:cNvGraphicFramePr>
            <a:graphicFrameLocks noGrp="1"/>
          </p:cNvGraphicFramePr>
          <p:nvPr>
            <p:extLst>
              <p:ext uri="{D42A27DB-BD31-4B8C-83A1-F6EECF244321}">
                <p14:modId xmlns:p14="http://schemas.microsoft.com/office/powerpoint/2010/main" val="2986645780"/>
              </p:ext>
            </p:extLst>
          </p:nvPr>
        </p:nvGraphicFramePr>
        <p:xfrm>
          <a:off x="1905000" y="1809750"/>
          <a:ext cx="4953000" cy="2286000"/>
        </p:xfrm>
        <a:graphic>
          <a:graphicData uri="http://schemas.openxmlformats.org/drawingml/2006/table">
            <a:tbl>
              <a:tblPr firstRow="1" bandRow="1">
                <a:tableStyleId>{5C22544A-7EE6-4342-B048-85BDC9FD1C3A}</a:tableStyleId>
              </a:tblPr>
              <a:tblGrid>
                <a:gridCol w="1981200">
                  <a:extLst>
                    <a:ext uri="{9D8B030D-6E8A-4147-A177-3AD203B41FA5}">
                      <a16:colId xmlns:a16="http://schemas.microsoft.com/office/drawing/2014/main" val="20000"/>
                    </a:ext>
                  </a:extLst>
                </a:gridCol>
                <a:gridCol w="2971800">
                  <a:extLst>
                    <a:ext uri="{9D8B030D-6E8A-4147-A177-3AD203B41FA5}">
                      <a16:colId xmlns:a16="http://schemas.microsoft.com/office/drawing/2014/main" val="20001"/>
                    </a:ext>
                  </a:extLst>
                </a:gridCol>
              </a:tblGrid>
              <a:tr h="370840">
                <a:tc>
                  <a:txBody>
                    <a:bodyPr/>
                    <a:lstStyle/>
                    <a:p>
                      <a:r>
                        <a:rPr lang="en-US" sz="2000" dirty="0"/>
                        <a:t>Pattern</a:t>
                      </a:r>
                    </a:p>
                  </a:txBody>
                  <a:tcPr/>
                </a:tc>
                <a:tc>
                  <a:txBody>
                    <a:bodyPr/>
                    <a:lstStyle/>
                    <a:p>
                      <a:r>
                        <a:rPr lang="en-US" sz="2000" dirty="0"/>
                        <a:t>Matches</a:t>
                      </a:r>
                    </a:p>
                  </a:txBody>
                  <a:tcPr/>
                </a:tc>
                <a:extLst>
                  <a:ext uri="{0D108BD9-81ED-4DB2-BD59-A6C34878D82A}">
                    <a16:rowId xmlns:a16="http://schemas.microsoft.com/office/drawing/2014/main" val="10000"/>
                  </a:ext>
                </a:extLst>
              </a:tr>
              <a:tr h="370840">
                <a:tc>
                  <a:txBody>
                    <a:bodyPr/>
                    <a:lstStyle/>
                    <a:p>
                      <a:r>
                        <a:rPr lang="en-US" sz="2000" dirty="0">
                          <a:solidFill>
                            <a:srgbClr val="CC3300"/>
                          </a:solidFill>
                          <a:latin typeface="Courier"/>
                          <a:cs typeface="Courier"/>
                        </a:rPr>
                        <a:t>^</a:t>
                      </a:r>
                      <a:r>
                        <a:rPr lang="en-US" sz="2000" dirty="0">
                          <a:latin typeface="Courier"/>
                          <a:cs typeface="Courier"/>
                        </a:rPr>
                        <a:t>[A-Z] </a:t>
                      </a:r>
                      <a:endParaRPr lang="en-US" sz="2000" dirty="0"/>
                    </a:p>
                  </a:txBody>
                  <a:tcPr/>
                </a:tc>
                <a:tc>
                  <a:txBody>
                    <a:bodyPr/>
                    <a:lstStyle/>
                    <a:p>
                      <a:r>
                        <a:rPr lang="en-US" sz="2000" u="sng" dirty="0">
                          <a:solidFill>
                            <a:srgbClr val="0000FF"/>
                          </a:solidFill>
                          <a:latin typeface="Courier"/>
                          <a:cs typeface="Courier"/>
                        </a:rPr>
                        <a:t>P</a:t>
                      </a:r>
                      <a:r>
                        <a:rPr lang="en-US" sz="2000" u="none" dirty="0">
                          <a:solidFill>
                            <a:srgbClr val="000000"/>
                          </a:solidFill>
                          <a:latin typeface="Courier"/>
                          <a:cs typeface="Courier"/>
                        </a:rPr>
                        <a:t>alo</a:t>
                      </a:r>
                      <a:r>
                        <a:rPr lang="en-US" sz="2000" u="none" baseline="0" dirty="0">
                          <a:solidFill>
                            <a:srgbClr val="000000"/>
                          </a:solidFill>
                          <a:latin typeface="Courier"/>
                          <a:cs typeface="Courier"/>
                        </a:rPr>
                        <a:t> Alto</a:t>
                      </a:r>
                      <a:endParaRPr lang="en-US" sz="2000" u="none" dirty="0">
                        <a:solidFill>
                          <a:srgbClr val="000000"/>
                        </a:solidFill>
                        <a:latin typeface="Courier"/>
                        <a:cs typeface="Courier"/>
                      </a:endParaRPr>
                    </a:p>
                  </a:txBody>
                  <a:tcPr/>
                </a:tc>
                <a:extLst>
                  <a:ext uri="{0D108BD9-81ED-4DB2-BD59-A6C34878D82A}">
                    <a16:rowId xmlns:a16="http://schemas.microsoft.com/office/drawing/2014/main" val="10001"/>
                  </a:ext>
                </a:extLst>
              </a:tr>
              <a:tr h="370840">
                <a:tc>
                  <a:txBody>
                    <a:bodyPr/>
                    <a:lstStyle/>
                    <a:p>
                      <a:r>
                        <a:rPr lang="en-US" sz="2000" dirty="0">
                          <a:solidFill>
                            <a:srgbClr val="CC3300"/>
                          </a:solidFill>
                          <a:latin typeface="Courier"/>
                          <a:cs typeface="Courier"/>
                        </a:rPr>
                        <a:t>^</a:t>
                      </a:r>
                      <a:r>
                        <a:rPr lang="en-US" sz="2000" dirty="0">
                          <a:latin typeface="Courier"/>
                          <a:cs typeface="Courier"/>
                        </a:rPr>
                        <a:t>[^A-</a:t>
                      </a:r>
                      <a:r>
                        <a:rPr lang="en-US" sz="2000" dirty="0" err="1">
                          <a:latin typeface="Courier"/>
                          <a:cs typeface="Courier"/>
                        </a:rPr>
                        <a:t>Za</a:t>
                      </a:r>
                      <a:r>
                        <a:rPr lang="en-US" sz="2000" dirty="0">
                          <a:latin typeface="Courier"/>
                          <a:cs typeface="Courier"/>
                        </a:rPr>
                        <a:t>-z] </a:t>
                      </a:r>
                      <a:endParaRPr lang="en-US" sz="20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2000" u="sng" dirty="0">
                          <a:solidFill>
                            <a:srgbClr val="3366FF"/>
                          </a:solidFill>
                          <a:latin typeface="Courier"/>
                          <a:cs typeface="Courier"/>
                        </a:rPr>
                        <a:t>1</a:t>
                      </a:r>
                      <a:r>
                        <a:rPr lang="en-US" sz="2000" u="none" baseline="0" dirty="0">
                          <a:solidFill>
                            <a:srgbClr val="3366FF"/>
                          </a:solidFill>
                          <a:latin typeface="Courier"/>
                          <a:cs typeface="Courier"/>
                        </a:rPr>
                        <a:t>    </a:t>
                      </a:r>
                      <a:r>
                        <a:rPr lang="en-US" sz="2000" u="sng" baseline="0" dirty="0">
                          <a:solidFill>
                            <a:srgbClr val="3366FF"/>
                          </a:solidFill>
                          <a:latin typeface="Courier"/>
                          <a:cs typeface="Courier"/>
                        </a:rPr>
                        <a:t>“</a:t>
                      </a:r>
                      <a:r>
                        <a:rPr lang="en-US" sz="2000" u="none" baseline="0" dirty="0">
                          <a:solidFill>
                            <a:srgbClr val="000000"/>
                          </a:solidFill>
                          <a:latin typeface="Courier"/>
                          <a:cs typeface="Courier"/>
                        </a:rPr>
                        <a:t>Hello”</a:t>
                      </a:r>
                      <a:endParaRPr lang="en-US" sz="2000" u="none" dirty="0">
                        <a:solidFill>
                          <a:srgbClr val="000000"/>
                        </a:solidFill>
                        <a:latin typeface="Courier"/>
                        <a:cs typeface="Courier"/>
                      </a:endParaRPr>
                    </a:p>
                  </a:txBody>
                  <a:tcPr/>
                </a:tc>
                <a:extLst>
                  <a:ext uri="{0D108BD9-81ED-4DB2-BD59-A6C34878D82A}">
                    <a16:rowId xmlns:a16="http://schemas.microsoft.com/office/drawing/2014/main" val="10002"/>
                  </a:ext>
                </a:extLst>
              </a:tr>
              <a:tr h="370840">
                <a:tc>
                  <a:txBody>
                    <a:bodyPr/>
                    <a:lstStyle/>
                    <a:p>
                      <a:r>
                        <a:rPr lang="en-US" sz="2000" dirty="0">
                          <a:latin typeface="Courier"/>
                          <a:cs typeface="Courier"/>
                          <a:sym typeface="Wingdings" charset="2"/>
                        </a:rPr>
                        <a:t>\.</a:t>
                      </a:r>
                      <a:r>
                        <a:rPr lang="en-US" sz="2000" dirty="0">
                          <a:solidFill>
                            <a:srgbClr val="CC3300"/>
                          </a:solidFill>
                          <a:latin typeface="Courier"/>
                          <a:cs typeface="Courier"/>
                          <a:sym typeface="Wingdings" charset="2"/>
                        </a:rPr>
                        <a:t>$</a:t>
                      </a:r>
                      <a:r>
                        <a:rPr lang="en-US" sz="2000" dirty="0">
                          <a:latin typeface="Courier"/>
                          <a:cs typeface="Courier"/>
                          <a:sym typeface="Wingdings" charset="2"/>
                        </a:rPr>
                        <a:t> </a:t>
                      </a:r>
                      <a:endParaRPr lang="en-US" sz="20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2000" u="none" dirty="0">
                          <a:solidFill>
                            <a:schemeClr val="tx1"/>
                          </a:solidFill>
                          <a:latin typeface="Courier"/>
                          <a:cs typeface="Courier"/>
                        </a:rPr>
                        <a:t>The end</a:t>
                      </a:r>
                      <a:r>
                        <a:rPr lang="en-US" sz="2000" u="sng" dirty="0">
                          <a:solidFill>
                            <a:srgbClr val="3366FF"/>
                          </a:solidFill>
                          <a:latin typeface="Courier"/>
                          <a:cs typeface="Courier"/>
                        </a:rPr>
                        <a:t>.</a:t>
                      </a:r>
                      <a:endParaRPr lang="en-US" sz="2000" u="none" dirty="0">
                        <a:solidFill>
                          <a:srgbClr val="000000"/>
                        </a:solidFill>
                        <a:latin typeface="Courier"/>
                        <a:cs typeface="Courier"/>
                      </a:endParaRPr>
                    </a:p>
                  </a:txBody>
                  <a:tcPr/>
                </a:tc>
                <a:extLst>
                  <a:ext uri="{0D108BD9-81ED-4DB2-BD59-A6C34878D82A}">
                    <a16:rowId xmlns:a16="http://schemas.microsoft.com/office/drawing/2014/main" val="10003"/>
                  </a:ext>
                </a:extLst>
              </a:tr>
              <a:tr h="37084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2000" dirty="0">
                          <a:latin typeface="Courier"/>
                          <a:cs typeface="Courier"/>
                          <a:sym typeface="Wingdings" charset="2"/>
                        </a:rPr>
                        <a:t>.</a:t>
                      </a:r>
                      <a:r>
                        <a:rPr lang="en-US" sz="2000" dirty="0">
                          <a:solidFill>
                            <a:srgbClr val="CC3300"/>
                          </a:solidFill>
                          <a:latin typeface="Courier"/>
                          <a:cs typeface="Courier"/>
                          <a:sym typeface="Wingdings" charset="2"/>
                        </a:rPr>
                        <a:t>$</a:t>
                      </a:r>
                      <a:r>
                        <a:rPr lang="en-US" sz="2000" dirty="0">
                          <a:latin typeface="Courier"/>
                          <a:cs typeface="Courier"/>
                          <a:sym typeface="Wingdings" charset="2"/>
                        </a:rPr>
                        <a:t> </a:t>
                      </a:r>
                      <a:endParaRPr lang="en-US" sz="20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2000" u="none" dirty="0">
                          <a:solidFill>
                            <a:schemeClr val="tx1"/>
                          </a:solidFill>
                          <a:latin typeface="Courier"/>
                          <a:cs typeface="Courier"/>
                        </a:rPr>
                        <a:t>The end</a:t>
                      </a:r>
                      <a:r>
                        <a:rPr lang="en-US" sz="2000" u="sng" dirty="0">
                          <a:solidFill>
                            <a:srgbClr val="3366FF"/>
                          </a:solidFill>
                          <a:latin typeface="Courier"/>
                          <a:cs typeface="Courier"/>
                        </a:rPr>
                        <a:t>?</a:t>
                      </a:r>
                      <a:r>
                        <a:rPr lang="en-US" sz="2000" u="none" baseline="0" dirty="0">
                          <a:solidFill>
                            <a:srgbClr val="3366FF"/>
                          </a:solidFill>
                          <a:latin typeface="Courier"/>
                          <a:cs typeface="Courier"/>
                        </a:rPr>
                        <a:t>  </a:t>
                      </a:r>
                      <a:r>
                        <a:rPr lang="en-US" sz="2000" u="none" dirty="0">
                          <a:solidFill>
                            <a:schemeClr val="tx1"/>
                          </a:solidFill>
                          <a:latin typeface="Courier"/>
                          <a:cs typeface="Courier"/>
                        </a:rPr>
                        <a:t>The end</a:t>
                      </a:r>
                      <a:r>
                        <a:rPr lang="en-US" sz="2000" u="sng" dirty="0">
                          <a:solidFill>
                            <a:srgbClr val="3366FF"/>
                          </a:solidFill>
                          <a:latin typeface="Courier"/>
                          <a:cs typeface="Courier"/>
                        </a:rPr>
                        <a:t>!</a:t>
                      </a:r>
                      <a:endParaRPr lang="en-US" sz="2000" u="none" dirty="0">
                        <a:solidFill>
                          <a:srgbClr val="000000"/>
                        </a:solidFill>
                        <a:latin typeface="Courier"/>
                        <a:cs typeface="Courier"/>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2000" u="none" dirty="0">
                        <a:solidFill>
                          <a:srgbClr val="000000"/>
                        </a:solidFill>
                        <a:latin typeface="Courier"/>
                        <a:cs typeface="Courier"/>
                      </a:endParaRP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5796072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itle 1"/>
          <p:cNvSpPr>
            <a:spLocks noGrp="1"/>
          </p:cNvSpPr>
          <p:nvPr>
            <p:ph type="title"/>
          </p:nvPr>
        </p:nvSpPr>
        <p:spPr>
          <a:xfrm>
            <a:off x="609600" y="119702"/>
            <a:ext cx="8153400" cy="680397"/>
          </a:xfrm>
        </p:spPr>
        <p:txBody>
          <a:bodyPr>
            <a:normAutofit/>
          </a:bodyPr>
          <a:lstStyle/>
          <a:p>
            <a:r>
              <a:rPr lang="en-US" sz="3600" dirty="0"/>
              <a:t>A note about Python regular expressions</a:t>
            </a:r>
            <a:endParaRPr lang="en-US" dirty="0"/>
          </a:p>
        </p:txBody>
      </p:sp>
      <p:sp>
        <p:nvSpPr>
          <p:cNvPr id="90115" name="Content Placeholder 2"/>
          <p:cNvSpPr>
            <a:spLocks noGrp="1"/>
          </p:cNvSpPr>
          <p:nvPr>
            <p:ph idx="1"/>
          </p:nvPr>
        </p:nvSpPr>
        <p:spPr>
          <a:xfrm>
            <a:off x="609600" y="1021192"/>
            <a:ext cx="7924800" cy="4002606"/>
          </a:xfrm>
        </p:spPr>
        <p:txBody>
          <a:bodyPr>
            <a:noAutofit/>
          </a:bodyPr>
          <a:lstStyle/>
          <a:p>
            <a:pPr lvl="1"/>
            <a:r>
              <a:rPr lang="en-US" sz="2800" dirty="0">
                <a:latin typeface="Calibri" panose="020F0502020204030204" pitchFamily="34" charset="0"/>
                <a:cs typeface="Calibri" panose="020F0502020204030204" pitchFamily="34" charset="0"/>
              </a:rPr>
              <a:t>Regex and Python both use backslash "</a:t>
            </a:r>
            <a:r>
              <a:rPr lang="en-US" sz="2800" dirty="0">
                <a:latin typeface="Courier" pitchFamily="2" charset="0"/>
                <a:cs typeface="Calibri" panose="020F0502020204030204" pitchFamily="34" charset="0"/>
              </a:rPr>
              <a:t>\</a:t>
            </a:r>
            <a:r>
              <a:rPr lang="en-US" sz="2800" dirty="0">
                <a:latin typeface="Calibri" panose="020F0502020204030204" pitchFamily="34" charset="0"/>
                <a:cs typeface="Calibri" panose="020F0502020204030204" pitchFamily="34" charset="0"/>
              </a:rPr>
              <a:t>" for special characters. You </a:t>
            </a:r>
            <a:r>
              <a:rPr lang="en-US" sz="2800">
                <a:latin typeface="Calibri" panose="020F0502020204030204" pitchFamily="34" charset="0"/>
                <a:cs typeface="Calibri" panose="020F0502020204030204" pitchFamily="34" charset="0"/>
              </a:rPr>
              <a:t>must type extra </a:t>
            </a:r>
            <a:r>
              <a:rPr lang="en-US" sz="2800" dirty="0">
                <a:latin typeface="Calibri" panose="020F0502020204030204" pitchFamily="34" charset="0"/>
                <a:cs typeface="Calibri" panose="020F0502020204030204" pitchFamily="34" charset="0"/>
              </a:rPr>
              <a:t>backslashes!</a:t>
            </a:r>
          </a:p>
          <a:p>
            <a:pPr lvl="2"/>
            <a:r>
              <a:rPr lang="en-US" sz="2400" dirty="0">
                <a:latin typeface="Courier" pitchFamily="2" charset="0"/>
                <a:cs typeface="Calibri" panose="020F0502020204030204" pitchFamily="34" charset="0"/>
              </a:rPr>
              <a:t>"\\d+"</a:t>
            </a:r>
            <a:r>
              <a:rPr lang="en-US" sz="2400" dirty="0">
                <a:latin typeface="Calibri" panose="020F0502020204030204" pitchFamily="34" charset="0"/>
                <a:cs typeface="Calibri" panose="020F0502020204030204" pitchFamily="34" charset="0"/>
              </a:rPr>
              <a:t>  to search for 1 or more digits</a:t>
            </a:r>
          </a:p>
          <a:p>
            <a:pPr lvl="2"/>
            <a:r>
              <a:rPr lang="en-US" sz="2400" dirty="0">
                <a:latin typeface="Courier" pitchFamily="2" charset="0"/>
                <a:cs typeface="Calibri" panose="020F0502020204030204" pitchFamily="34" charset="0"/>
              </a:rPr>
              <a:t>"\n" </a:t>
            </a:r>
            <a:r>
              <a:rPr lang="en-US" sz="2400" dirty="0">
                <a:latin typeface="Calibri" panose="020F0502020204030204" pitchFamily="34" charset="0"/>
                <a:cs typeface="Calibri" panose="020F0502020204030204" pitchFamily="34" charset="0"/>
              </a:rPr>
              <a:t>in Python means the "newline" character, not a "slash" followed by an "n". Need </a:t>
            </a:r>
            <a:r>
              <a:rPr lang="en-US" sz="2400" dirty="0">
                <a:latin typeface="Courier" pitchFamily="2" charset="0"/>
                <a:cs typeface="Calibri" panose="020F0502020204030204" pitchFamily="34" charset="0"/>
              </a:rPr>
              <a:t>"\\n"</a:t>
            </a:r>
            <a:r>
              <a:rPr lang="en-US" sz="2400" dirty="0">
                <a:latin typeface="Calibri" panose="020F0502020204030204" pitchFamily="34" charset="0"/>
                <a:cs typeface="Calibri" panose="020F0502020204030204" pitchFamily="34" charset="0"/>
              </a:rPr>
              <a:t> for two characters.</a:t>
            </a:r>
          </a:p>
          <a:p>
            <a:pPr lvl="1"/>
            <a:r>
              <a:rPr lang="en-US" sz="2800" dirty="0">
                <a:latin typeface="Calibri" panose="020F0502020204030204" pitchFamily="34" charset="0"/>
                <a:cs typeface="Calibri" panose="020F0502020204030204" pitchFamily="34" charset="0"/>
              </a:rPr>
              <a:t>Instead: use Python's </a:t>
            </a:r>
            <a:r>
              <a:rPr lang="en-US" sz="2800" b="1" dirty="0">
                <a:latin typeface="Calibri" panose="020F0502020204030204" pitchFamily="34" charset="0"/>
                <a:cs typeface="Calibri" panose="020F0502020204030204" pitchFamily="34" charset="0"/>
              </a:rPr>
              <a:t>raw string notation </a:t>
            </a:r>
            <a:r>
              <a:rPr lang="en-US" sz="2800" dirty="0">
                <a:latin typeface="Calibri" panose="020F0502020204030204" pitchFamily="34" charset="0"/>
                <a:cs typeface="Calibri" panose="020F0502020204030204" pitchFamily="34" charset="0"/>
              </a:rPr>
              <a:t>for regex:</a:t>
            </a:r>
          </a:p>
          <a:p>
            <a:pPr lvl="2"/>
            <a:r>
              <a:rPr lang="en-US" sz="2400" dirty="0">
                <a:latin typeface="Courier" pitchFamily="2" charset="0"/>
                <a:cs typeface="Calibri" panose="020F0502020204030204" pitchFamily="34" charset="0"/>
              </a:rPr>
              <a:t>r"[</a:t>
            </a:r>
            <a:r>
              <a:rPr lang="en-US" sz="2400" dirty="0" err="1">
                <a:latin typeface="Courier" pitchFamily="2" charset="0"/>
                <a:cs typeface="Calibri" panose="020F0502020204030204" pitchFamily="34" charset="0"/>
              </a:rPr>
              <a:t>tT</a:t>
            </a:r>
            <a:r>
              <a:rPr lang="en-US" sz="2400" dirty="0">
                <a:latin typeface="Courier" pitchFamily="2" charset="0"/>
                <a:cs typeface="Calibri" panose="020F0502020204030204" pitchFamily="34" charset="0"/>
              </a:rPr>
              <a:t>]he"</a:t>
            </a:r>
          </a:p>
          <a:p>
            <a:pPr lvl="2"/>
            <a:r>
              <a:rPr lang="en-US" sz="2400" dirty="0">
                <a:latin typeface="Courier" pitchFamily="2" charset="0"/>
                <a:cs typeface="Calibri" panose="020F0502020204030204" pitchFamily="34" charset="0"/>
              </a:rPr>
              <a:t>r"\d+"</a:t>
            </a:r>
            <a:r>
              <a:rPr lang="en-US" sz="2400" dirty="0">
                <a:latin typeface="Calibri" panose="020F0502020204030204" pitchFamily="34" charset="0"/>
                <a:cs typeface="Calibri" panose="020F0502020204030204" pitchFamily="34" charset="0"/>
              </a:rPr>
              <a:t> matches one or more digits</a:t>
            </a:r>
          </a:p>
          <a:p>
            <a:pPr lvl="3"/>
            <a:r>
              <a:rPr lang="en-US" sz="2000" dirty="0">
                <a:latin typeface="Calibri" panose="020F0502020204030204" pitchFamily="34" charset="0"/>
                <a:cs typeface="Calibri" panose="020F0502020204030204" pitchFamily="34" charset="0"/>
              </a:rPr>
              <a:t>instead of </a:t>
            </a:r>
            <a:r>
              <a:rPr lang="en-US" sz="2000" dirty="0">
                <a:latin typeface="Courier" pitchFamily="2" charset="0"/>
                <a:cs typeface="Calibri" panose="020F0502020204030204" pitchFamily="34" charset="0"/>
              </a:rPr>
              <a:t>"\\d+"</a:t>
            </a:r>
            <a:endParaRPr lang="en-US" sz="2000" dirty="0">
              <a:latin typeface="Calibri" panose="020F0502020204030204" pitchFamily="34" charset="0"/>
              <a:cs typeface="Calibri" panose="020F0502020204030204" pitchFamily="34" charset="0"/>
            </a:endParaRPr>
          </a:p>
          <a:p>
            <a:pPr lvl="2"/>
            <a:endParaRPr lang="en-US" sz="2100" dirty="0">
              <a:latin typeface="Calibri" panose="020F0502020204030204" pitchFamily="34" charset="0"/>
              <a:cs typeface="Calibri" panose="020F0502020204030204" pitchFamily="34" charset="0"/>
            </a:endParaRPr>
          </a:p>
          <a:p>
            <a:pPr lvl="2"/>
            <a:endParaRPr lang="en-US" sz="2500" dirty="0">
              <a:latin typeface="Calibri" panose="020F0502020204030204" pitchFamily="34" charset="0"/>
              <a:cs typeface="Calibri" panose="020F0502020204030204" pitchFamily="34" charset="0"/>
            </a:endParaRPr>
          </a:p>
        </p:txBody>
      </p:sp>
      <p:sp>
        <p:nvSpPr>
          <p:cNvPr id="90118" name="Slide Number Placeholder 5"/>
          <p:cNvSpPr>
            <a:spLocks noGrp="1"/>
          </p:cNvSpPr>
          <p:nvPr>
            <p:ph type="sldNum" sz="quarter" idx="12"/>
          </p:nvPr>
        </p:nvSpPr>
        <p:spPr>
          <a:noFill/>
        </p:spPr>
        <p:txBody>
          <a:bodyPr/>
          <a:lstStyle/>
          <a:p>
            <a:fld id="{BB8C8334-E00B-3A45-A77B-332115BBC150}" type="slidenum">
              <a:rPr lang="en-US"/>
              <a:pPr/>
              <a:t>10</a:t>
            </a:fld>
            <a:endParaRPr lang="en-US" dirty="0"/>
          </a:p>
        </p:txBody>
      </p:sp>
    </p:spTree>
    <p:extLst>
      <p:ext uri="{BB962C8B-B14F-4D97-AF65-F5344CB8AC3E}">
        <p14:creationId xmlns:p14="http://schemas.microsoft.com/office/powerpoint/2010/main" val="32355138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pPr eaLnBrk="1" hangingPunct="1"/>
            <a:r>
              <a:rPr lang="en-US" dirty="0"/>
              <a:t>The iterative process of writing regex's</a:t>
            </a:r>
          </a:p>
        </p:txBody>
      </p:sp>
      <p:sp>
        <p:nvSpPr>
          <p:cNvPr id="95235" name="Rectangle 3"/>
          <p:cNvSpPr>
            <a:spLocks noGrp="1" noChangeArrowheads="1"/>
          </p:cNvSpPr>
          <p:nvPr>
            <p:ph idx="1"/>
          </p:nvPr>
        </p:nvSpPr>
        <p:spPr>
          <a:xfrm>
            <a:off x="822960" y="971550"/>
            <a:ext cx="7543801" cy="4052248"/>
          </a:xfrm>
        </p:spPr>
        <p:txBody>
          <a:bodyPr>
            <a:normAutofit lnSpcReduction="10000"/>
          </a:bodyPr>
          <a:lstStyle/>
          <a:p>
            <a:pPr eaLnBrk="1" hangingPunct="1"/>
            <a:r>
              <a:rPr lang="en-US" sz="2800" dirty="0"/>
              <a:t>Find me all instances of the word “the” in a text.</a:t>
            </a:r>
          </a:p>
          <a:p>
            <a:pPr eaLnBrk="1" hangingPunct="1"/>
            <a:endParaRPr lang="en-US" sz="2800" dirty="0"/>
          </a:p>
          <a:p>
            <a:pPr marL="457200" lvl="1" indent="0" eaLnBrk="1" hangingPunct="1">
              <a:buNone/>
            </a:pPr>
            <a:r>
              <a:rPr lang="en-US" sz="2800" dirty="0">
                <a:solidFill>
                  <a:srgbClr val="A50021"/>
                </a:solidFill>
                <a:latin typeface="Courier"/>
                <a:cs typeface="Courier"/>
              </a:rPr>
              <a:t>the</a:t>
            </a:r>
          </a:p>
          <a:p>
            <a:pPr marL="800100" lvl="2" indent="0" eaLnBrk="1" hangingPunct="1">
              <a:buNone/>
            </a:pPr>
            <a:r>
              <a:rPr lang="en-US" sz="2800" dirty="0">
                <a:solidFill>
                  <a:srgbClr val="000000"/>
                </a:solidFill>
                <a:latin typeface="Calibri"/>
                <a:cs typeface="Calibri"/>
              </a:rPr>
              <a:t>Misses capitalized examples</a:t>
            </a:r>
          </a:p>
          <a:p>
            <a:pPr marL="800100" lvl="2" indent="0" eaLnBrk="1" hangingPunct="1">
              <a:buNone/>
            </a:pPr>
            <a:endParaRPr lang="en-US" sz="2800" dirty="0">
              <a:solidFill>
                <a:srgbClr val="000000"/>
              </a:solidFill>
              <a:latin typeface="Calibri"/>
              <a:cs typeface="Calibri"/>
            </a:endParaRPr>
          </a:p>
          <a:p>
            <a:pPr marL="457200" lvl="1" indent="0" eaLnBrk="1" hangingPunct="1">
              <a:buNone/>
            </a:pPr>
            <a:r>
              <a:rPr lang="en-US" sz="2800" dirty="0">
                <a:solidFill>
                  <a:srgbClr val="009900"/>
                </a:solidFill>
                <a:latin typeface="Courier"/>
                <a:cs typeface="Courier"/>
              </a:rPr>
              <a:t>[</a:t>
            </a:r>
            <a:r>
              <a:rPr lang="en-US" sz="2800" dirty="0" err="1">
                <a:solidFill>
                  <a:srgbClr val="009900"/>
                </a:solidFill>
                <a:latin typeface="Courier"/>
                <a:cs typeface="Courier"/>
              </a:rPr>
              <a:t>tT</a:t>
            </a:r>
            <a:r>
              <a:rPr lang="en-US" sz="2800" dirty="0">
                <a:solidFill>
                  <a:srgbClr val="009900"/>
                </a:solidFill>
                <a:latin typeface="Courier"/>
                <a:cs typeface="Courier"/>
              </a:rPr>
              <a:t>]he</a:t>
            </a:r>
          </a:p>
          <a:p>
            <a:pPr marL="800100" lvl="2" indent="0" eaLnBrk="1" hangingPunct="1">
              <a:buNone/>
            </a:pPr>
            <a:r>
              <a:rPr lang="en-US" sz="2800" dirty="0">
                <a:latin typeface="Calibri"/>
                <a:cs typeface="Calibri"/>
              </a:rPr>
              <a:t>Incorrectly returns </a:t>
            </a:r>
            <a:r>
              <a:rPr lang="en-US" sz="2800" dirty="0">
                <a:latin typeface="Courier"/>
                <a:cs typeface="Courier"/>
              </a:rPr>
              <a:t>other</a:t>
            </a:r>
            <a:r>
              <a:rPr lang="en-US" sz="2800" dirty="0">
                <a:latin typeface="Calibri"/>
                <a:cs typeface="Calibri"/>
              </a:rPr>
              <a:t> or </a:t>
            </a:r>
            <a:r>
              <a:rPr lang="en-US" sz="2800" dirty="0">
                <a:latin typeface="Courier"/>
                <a:cs typeface="Calibri"/>
              </a:rPr>
              <a:t>T</a:t>
            </a:r>
            <a:r>
              <a:rPr lang="en-US" sz="2800" dirty="0">
                <a:latin typeface="Courier"/>
                <a:cs typeface="Courier"/>
              </a:rPr>
              <a:t>heology</a:t>
            </a:r>
          </a:p>
          <a:p>
            <a:pPr marL="800100" lvl="2" indent="0" eaLnBrk="1" hangingPunct="1">
              <a:buNone/>
            </a:pPr>
            <a:endParaRPr lang="en-US" sz="2800" dirty="0">
              <a:latin typeface="Courier"/>
              <a:cs typeface="Courier"/>
            </a:endParaRPr>
          </a:p>
          <a:p>
            <a:pPr marL="457200" lvl="1" indent="0" eaLnBrk="1" hangingPunct="1">
              <a:buNone/>
            </a:pPr>
            <a:r>
              <a:rPr lang="en-US" sz="2800" dirty="0">
                <a:solidFill>
                  <a:srgbClr val="0066FF"/>
                </a:solidFill>
                <a:latin typeface="Courier"/>
                <a:cs typeface="Courier"/>
              </a:rPr>
              <a:t>\W</a:t>
            </a:r>
            <a:r>
              <a:rPr lang="en-US" sz="2800" dirty="0">
                <a:solidFill>
                  <a:srgbClr val="CC3300"/>
                </a:solidFill>
                <a:latin typeface="Courier"/>
                <a:cs typeface="Courier"/>
              </a:rPr>
              <a:t>[</a:t>
            </a:r>
            <a:r>
              <a:rPr lang="en-US" sz="2800" dirty="0" err="1">
                <a:solidFill>
                  <a:srgbClr val="CC3300"/>
                </a:solidFill>
                <a:latin typeface="Courier"/>
                <a:cs typeface="Courier"/>
              </a:rPr>
              <a:t>tT</a:t>
            </a:r>
            <a:r>
              <a:rPr lang="en-US" sz="2800" dirty="0">
                <a:solidFill>
                  <a:srgbClr val="CC3300"/>
                </a:solidFill>
                <a:latin typeface="Courier"/>
                <a:cs typeface="Courier"/>
              </a:rPr>
              <a:t>]</a:t>
            </a:r>
            <a:r>
              <a:rPr lang="en-US" sz="2800" dirty="0">
                <a:latin typeface="Courier"/>
                <a:cs typeface="Courier"/>
              </a:rPr>
              <a:t>he</a:t>
            </a:r>
            <a:r>
              <a:rPr lang="en-US" sz="2800" dirty="0">
                <a:solidFill>
                  <a:srgbClr val="0066FF"/>
                </a:solidFill>
                <a:latin typeface="Courier"/>
                <a:cs typeface="Courier"/>
              </a:rPr>
              <a:t>\W</a:t>
            </a:r>
          </a:p>
        </p:txBody>
      </p:sp>
    </p:spTree>
    <p:extLst>
      <p:ext uri="{BB962C8B-B14F-4D97-AF65-F5344CB8AC3E}">
        <p14:creationId xmlns:p14="http://schemas.microsoft.com/office/powerpoint/2010/main" val="2740748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523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5235">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523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5235">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5235">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523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5"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pPr eaLnBrk="1" hangingPunct="1"/>
            <a:r>
              <a:rPr lang="en-US" dirty="0"/>
              <a:t>False positives and false negatives</a:t>
            </a:r>
          </a:p>
        </p:txBody>
      </p:sp>
      <p:sp>
        <p:nvSpPr>
          <p:cNvPr id="83971" name="Rectangle 3"/>
          <p:cNvSpPr>
            <a:spLocks noGrp="1" noChangeArrowheads="1"/>
          </p:cNvSpPr>
          <p:nvPr>
            <p:ph idx="1"/>
          </p:nvPr>
        </p:nvSpPr>
        <p:spPr>
          <a:xfrm>
            <a:off x="822961" y="1047750"/>
            <a:ext cx="7330440" cy="4095750"/>
          </a:xfrm>
        </p:spPr>
        <p:txBody>
          <a:bodyPr>
            <a:normAutofit/>
          </a:bodyPr>
          <a:lstStyle/>
          <a:p>
            <a:pPr marL="0" indent="0" eaLnBrk="1" hangingPunct="1">
              <a:buNone/>
            </a:pPr>
            <a:r>
              <a:rPr lang="en-US" sz="2800" dirty="0"/>
              <a:t>The process we just went through was based on </a:t>
            </a:r>
            <a:r>
              <a:rPr lang="en-US" sz="2800" dirty="0">
                <a:solidFill>
                  <a:srgbClr val="A50021"/>
                </a:solidFill>
              </a:rPr>
              <a:t>fixing two kinds of errors:</a:t>
            </a:r>
          </a:p>
          <a:p>
            <a:pPr marL="287338" lvl="2" indent="0" eaLnBrk="1" hangingPunct="1">
              <a:buNone/>
            </a:pPr>
            <a:endParaRPr lang="en-US" sz="1600" dirty="0">
              <a:solidFill>
                <a:srgbClr val="A50021"/>
              </a:solidFill>
            </a:endParaRPr>
          </a:p>
          <a:p>
            <a:pPr marL="608076" lvl="1" indent="-457200" eaLnBrk="1" hangingPunct="1">
              <a:buFont typeface="+mj-lt"/>
              <a:buAutoNum type="arabicPeriod"/>
            </a:pPr>
            <a:r>
              <a:rPr lang="en-US" sz="2400" dirty="0"/>
              <a:t>Not matching things that we should have matched (The)</a:t>
            </a:r>
          </a:p>
          <a:p>
            <a:pPr marL="288036" lvl="2" indent="0" eaLnBrk="1" hangingPunct="1">
              <a:buNone/>
            </a:pPr>
            <a:r>
              <a:rPr lang="en-US" sz="2400" b="1" dirty="0">
                <a:solidFill>
                  <a:srgbClr val="A50021"/>
                </a:solidFill>
              </a:rPr>
              <a:t>False negatives</a:t>
            </a:r>
          </a:p>
          <a:p>
            <a:pPr marL="288036" lvl="2" indent="0" eaLnBrk="1" hangingPunct="1">
              <a:buNone/>
            </a:pPr>
            <a:endParaRPr lang="en-US" sz="2400" b="1" dirty="0">
              <a:solidFill>
                <a:srgbClr val="A50021"/>
              </a:solidFill>
            </a:endParaRPr>
          </a:p>
          <a:p>
            <a:pPr marL="608076" lvl="1" indent="-457200" eaLnBrk="1" hangingPunct="1">
              <a:buFont typeface="+mj-lt"/>
              <a:buAutoNum type="arabicPeriod"/>
            </a:pPr>
            <a:r>
              <a:rPr lang="en-US" sz="2400" dirty="0"/>
              <a:t>Matching strings that we should not have matched (</a:t>
            </a:r>
            <a:r>
              <a:rPr lang="en-US" sz="2400" dirty="0">
                <a:solidFill>
                  <a:srgbClr val="A50021"/>
                </a:solidFill>
              </a:rPr>
              <a:t>the</a:t>
            </a:r>
            <a:r>
              <a:rPr lang="en-US" sz="2400" dirty="0"/>
              <a:t>re, </a:t>
            </a:r>
            <a:r>
              <a:rPr lang="en-US" sz="2400" dirty="0">
                <a:solidFill>
                  <a:srgbClr val="A50021"/>
                </a:solidFill>
              </a:rPr>
              <a:t>the</a:t>
            </a:r>
            <a:r>
              <a:rPr lang="en-US" sz="2400" dirty="0"/>
              <a:t>n, o</a:t>
            </a:r>
            <a:r>
              <a:rPr lang="en-US" sz="2400" dirty="0">
                <a:solidFill>
                  <a:srgbClr val="A50021"/>
                </a:solidFill>
              </a:rPr>
              <a:t>the</a:t>
            </a:r>
            <a:r>
              <a:rPr lang="en-US" sz="2400" dirty="0"/>
              <a:t>r)</a:t>
            </a:r>
          </a:p>
          <a:p>
            <a:pPr marL="288036" lvl="2" indent="0" eaLnBrk="1" hangingPunct="1">
              <a:buNone/>
            </a:pPr>
            <a:r>
              <a:rPr lang="en-US" sz="2400" b="1" dirty="0">
                <a:solidFill>
                  <a:srgbClr val="A50021"/>
                </a:solidFill>
              </a:rPr>
              <a:t>False positives</a:t>
            </a:r>
          </a:p>
        </p:txBody>
      </p:sp>
    </p:spTree>
    <p:extLst>
      <p:ext uri="{BB962C8B-B14F-4D97-AF65-F5344CB8AC3E}">
        <p14:creationId xmlns:p14="http://schemas.microsoft.com/office/powerpoint/2010/main" val="582553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r>
              <a:rPr lang="en-US" dirty="0"/>
              <a:t>Characterizing work on NLP</a:t>
            </a:r>
          </a:p>
        </p:txBody>
      </p:sp>
      <p:sp>
        <p:nvSpPr>
          <p:cNvPr id="86019" name="Rectangle 3"/>
          <p:cNvSpPr>
            <a:spLocks noGrp="1" noChangeArrowheads="1"/>
          </p:cNvSpPr>
          <p:nvPr>
            <p:ph idx="1"/>
          </p:nvPr>
        </p:nvSpPr>
        <p:spPr>
          <a:xfrm>
            <a:off x="822960" y="1200150"/>
            <a:ext cx="8016240" cy="3429000"/>
          </a:xfrm>
        </p:spPr>
        <p:txBody>
          <a:bodyPr/>
          <a:lstStyle/>
          <a:p>
            <a:pPr marL="0" indent="0">
              <a:buNone/>
            </a:pPr>
            <a:r>
              <a:rPr lang="en-US" sz="2800" dirty="0"/>
              <a:t>In NLP we are always dealing with these kinds of errors.</a:t>
            </a:r>
          </a:p>
          <a:p>
            <a:pPr marL="0" indent="0">
              <a:lnSpc>
                <a:spcPct val="100000"/>
              </a:lnSpc>
              <a:buNone/>
            </a:pPr>
            <a:r>
              <a:rPr lang="en-US" dirty="0"/>
              <a:t>R</a:t>
            </a:r>
            <a:r>
              <a:rPr lang="en-US" sz="2800" dirty="0"/>
              <a:t>educing the error rate for an application often involves two antagonistic efforts: </a:t>
            </a:r>
          </a:p>
          <a:p>
            <a:pPr lvl="1"/>
            <a:r>
              <a:rPr lang="en-US" sz="2400" dirty="0">
                <a:solidFill>
                  <a:srgbClr val="008000"/>
                </a:solidFill>
              </a:rPr>
              <a:t>Increasing coverage (or </a:t>
            </a:r>
            <a:r>
              <a:rPr lang="en-US" sz="2400" i="1" dirty="0">
                <a:solidFill>
                  <a:srgbClr val="008000"/>
                </a:solidFill>
              </a:rPr>
              <a:t>recall</a:t>
            </a:r>
            <a:r>
              <a:rPr lang="en-US" sz="2400" dirty="0">
                <a:solidFill>
                  <a:srgbClr val="008000"/>
                </a:solidFill>
              </a:rPr>
              <a:t>) </a:t>
            </a:r>
            <a:r>
              <a:rPr lang="en-US" sz="2400" dirty="0"/>
              <a:t>(minimizing false negatives).</a:t>
            </a:r>
          </a:p>
          <a:p>
            <a:pPr lvl="1"/>
            <a:r>
              <a:rPr lang="en-US" sz="2400" dirty="0">
                <a:solidFill>
                  <a:srgbClr val="008000"/>
                </a:solidFill>
              </a:rPr>
              <a:t>Increasing accuracy (or </a:t>
            </a:r>
            <a:r>
              <a:rPr lang="en-US" sz="2400" i="1" dirty="0">
                <a:solidFill>
                  <a:srgbClr val="008000"/>
                </a:solidFill>
              </a:rPr>
              <a:t>precision</a:t>
            </a:r>
            <a:r>
              <a:rPr lang="en-US" sz="2400" dirty="0">
                <a:solidFill>
                  <a:srgbClr val="008000"/>
                </a:solidFill>
              </a:rPr>
              <a:t>) </a:t>
            </a:r>
            <a:r>
              <a:rPr lang="en-US" sz="2400" dirty="0"/>
              <a:t>(minimizing false positives)</a:t>
            </a:r>
          </a:p>
        </p:txBody>
      </p:sp>
    </p:spTree>
    <p:extLst>
      <p:ext uri="{BB962C8B-B14F-4D97-AF65-F5344CB8AC3E}">
        <p14:creationId xmlns:p14="http://schemas.microsoft.com/office/powerpoint/2010/main" val="29260715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itle 1"/>
          <p:cNvSpPr>
            <a:spLocks noGrp="1"/>
          </p:cNvSpPr>
          <p:nvPr>
            <p:ph type="title"/>
          </p:nvPr>
        </p:nvSpPr>
        <p:spPr>
          <a:xfrm>
            <a:off x="609600" y="119702"/>
            <a:ext cx="8153400" cy="680397"/>
          </a:xfrm>
        </p:spPr>
        <p:txBody>
          <a:bodyPr>
            <a:normAutofit fontScale="90000"/>
          </a:bodyPr>
          <a:lstStyle/>
          <a:p>
            <a:r>
              <a:rPr lang="en-US" sz="3600" dirty="0"/>
              <a:t>Regular expressions play a surprisingly large role</a:t>
            </a:r>
            <a:endParaRPr lang="en-US" dirty="0"/>
          </a:p>
        </p:txBody>
      </p:sp>
      <p:sp>
        <p:nvSpPr>
          <p:cNvPr id="90115" name="Content Placeholder 2"/>
          <p:cNvSpPr>
            <a:spLocks noGrp="1"/>
          </p:cNvSpPr>
          <p:nvPr>
            <p:ph idx="1"/>
          </p:nvPr>
        </p:nvSpPr>
        <p:spPr>
          <a:xfrm>
            <a:off x="822960" y="1428750"/>
            <a:ext cx="7543801" cy="3200400"/>
          </a:xfrm>
        </p:spPr>
        <p:txBody>
          <a:bodyPr>
            <a:normAutofit/>
          </a:bodyPr>
          <a:lstStyle/>
          <a:p>
            <a:pPr marL="150813" lvl="1" indent="0">
              <a:buNone/>
            </a:pPr>
            <a:r>
              <a:rPr lang="en-US" sz="3000" dirty="0"/>
              <a:t>Widely used in both academics and industry</a:t>
            </a:r>
          </a:p>
          <a:p>
            <a:pPr marL="150813" lvl="1" indent="0">
              <a:buNone/>
            </a:pPr>
            <a:endParaRPr lang="en-US" sz="1500" dirty="0"/>
          </a:p>
          <a:p>
            <a:pPr marL="744538" lvl="2" indent="-457200">
              <a:buFont typeface="+mj-lt"/>
              <a:buAutoNum type="arabicPeriod"/>
            </a:pPr>
            <a:r>
              <a:rPr lang="en-US" sz="2700" dirty="0"/>
              <a:t>Part of most text processing tasks, even for big neural language model pipelines</a:t>
            </a:r>
          </a:p>
          <a:p>
            <a:pPr lvl="3"/>
            <a:r>
              <a:rPr lang="en-US" sz="2700" dirty="0"/>
              <a:t>including text formatting and pre-processing</a:t>
            </a:r>
          </a:p>
          <a:p>
            <a:pPr lvl="3"/>
            <a:endParaRPr lang="en-US" sz="1000" dirty="0"/>
          </a:p>
          <a:p>
            <a:pPr marL="744538" lvl="2" indent="-457200">
              <a:buFont typeface="+mj-lt"/>
              <a:buAutoNum type="arabicPeriod"/>
            </a:pPr>
            <a:r>
              <a:rPr lang="en-US" sz="2700" dirty="0"/>
              <a:t>Very useful for data analysis of any text data</a:t>
            </a:r>
          </a:p>
        </p:txBody>
      </p:sp>
      <p:sp>
        <p:nvSpPr>
          <p:cNvPr id="90118" name="Slide Number Placeholder 5"/>
          <p:cNvSpPr>
            <a:spLocks noGrp="1"/>
          </p:cNvSpPr>
          <p:nvPr>
            <p:ph type="sldNum" sz="quarter" idx="12"/>
          </p:nvPr>
        </p:nvSpPr>
        <p:spPr>
          <a:noFill/>
        </p:spPr>
        <p:txBody>
          <a:bodyPr/>
          <a:lstStyle/>
          <a:p>
            <a:fld id="{BB8C8334-E00B-3A45-A77B-332115BBC150}" type="slidenum">
              <a:rPr lang="en-US"/>
              <a:pPr/>
              <a:t>14</a:t>
            </a:fld>
            <a:endParaRPr lang="en-US"/>
          </a:p>
        </p:txBody>
      </p:sp>
    </p:spTree>
    <p:extLst>
      <p:ext uri="{BB962C8B-B14F-4D97-AF65-F5344CB8AC3E}">
        <p14:creationId xmlns:p14="http://schemas.microsoft.com/office/powerpoint/2010/main" val="28168204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9B09F-E77C-D262-5A0F-4AD3E538377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F62480C-250F-548D-4E21-30A1BE89FD3E}"/>
              </a:ext>
            </a:extLst>
          </p:cNvPr>
          <p:cNvSpPr>
            <a:spLocks noGrp="1"/>
          </p:cNvSpPr>
          <p:nvPr>
            <p:ph idx="1"/>
          </p:nvPr>
        </p:nvSpPr>
        <p:spPr/>
        <p:txBody>
          <a:bodyPr/>
          <a:lstStyle/>
          <a:p>
            <a:endParaRPr lang="en-US"/>
          </a:p>
        </p:txBody>
      </p:sp>
      <p:sp>
        <p:nvSpPr>
          <p:cNvPr id="4" name="Rectangle 3">
            <a:extLst>
              <a:ext uri="{FF2B5EF4-FFF2-40B4-BE49-F238E27FC236}">
                <a16:creationId xmlns:a16="http://schemas.microsoft.com/office/drawing/2014/main" id="{3FD66773-FF67-F24B-BF49-9CF242E3BE5B}"/>
              </a:ext>
            </a:extLst>
          </p:cNvPr>
          <p:cNvSpPr/>
          <p:nvPr/>
        </p:nvSpPr>
        <p:spPr>
          <a:xfrm>
            <a:off x="228600" y="59851"/>
            <a:ext cx="8763000" cy="5023798"/>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sz="1600" b="0" i="0" dirty="0">
                <a:solidFill>
                  <a:schemeClr val="tx1"/>
                </a:solidFill>
                <a:effectLst/>
                <a:latin typeface="Courier New" panose="02070309020205020404" pitchFamily="49" charset="0"/>
                <a:cs typeface="Courier New" panose="02070309020205020404" pitchFamily="49" charset="0"/>
              </a:rPr>
              <a:t>import re</a:t>
            </a:r>
          </a:p>
          <a:p>
            <a:endParaRPr lang="en-US" sz="1600" b="0" i="0" dirty="0">
              <a:solidFill>
                <a:schemeClr val="tx1"/>
              </a:solidFill>
              <a:effectLst/>
              <a:latin typeface="Courier New" panose="02070309020205020404" pitchFamily="49" charset="0"/>
              <a:cs typeface="Courier New" panose="02070309020205020404" pitchFamily="49" charset="0"/>
            </a:endParaRPr>
          </a:p>
          <a:p>
            <a:r>
              <a:rPr lang="en-US" sz="1600" b="0" i="0" dirty="0">
                <a:solidFill>
                  <a:schemeClr val="tx1"/>
                </a:solidFill>
                <a:effectLst/>
                <a:latin typeface="Courier New" panose="02070309020205020404" pitchFamily="49" charset="0"/>
                <a:cs typeface="Courier New" panose="02070309020205020404" pitchFamily="49" charset="0"/>
              </a:rPr>
              <a:t># text from </a:t>
            </a:r>
            <a:r>
              <a:rPr lang="en-US" sz="1600" b="0" i="0" dirty="0" err="1">
                <a:solidFill>
                  <a:schemeClr val="tx1"/>
                </a:solidFill>
                <a:effectLst/>
                <a:latin typeface="Courier New" panose="02070309020205020404" pitchFamily="49" charset="0"/>
                <a:cs typeface="Courier New" panose="02070309020205020404" pitchFamily="49" charset="0"/>
              </a:rPr>
              <a:t>wikipedia</a:t>
            </a:r>
            <a:endParaRPr lang="en-US" sz="1600" b="0" i="0" dirty="0">
              <a:solidFill>
                <a:schemeClr val="tx1"/>
              </a:solidFill>
              <a:effectLst/>
              <a:latin typeface="Courier New" panose="02070309020205020404" pitchFamily="49" charset="0"/>
              <a:cs typeface="Courier New" panose="02070309020205020404" pitchFamily="49" charset="0"/>
            </a:endParaRPr>
          </a:p>
          <a:p>
            <a:r>
              <a:rPr lang="en-US" sz="1600" b="0" i="0" dirty="0">
                <a:solidFill>
                  <a:schemeClr val="tx1"/>
                </a:solidFill>
                <a:effectLst/>
                <a:latin typeface="Courier New" panose="02070309020205020404" pitchFamily="49" charset="0"/>
                <a:cs typeface="Courier New" panose="02070309020205020404" pitchFamily="49" charset="0"/>
              </a:rPr>
              <a:t>text = """American International University-Bangladesh commonly known by its acronym AIUB, is a private research university in Dhaka, Bangladesh. This university was established in 1994. It offers several degree programs at the undergraduate and graduate levels from its five faculties."""</a:t>
            </a:r>
          </a:p>
          <a:p>
            <a:endParaRPr lang="en-US" sz="1600" b="0" i="0" dirty="0">
              <a:solidFill>
                <a:schemeClr val="tx1"/>
              </a:solidFill>
              <a:effectLst/>
              <a:latin typeface="Courier New" panose="02070309020205020404" pitchFamily="49" charset="0"/>
              <a:cs typeface="Courier New" panose="02070309020205020404" pitchFamily="49" charset="0"/>
            </a:endParaRPr>
          </a:p>
          <a:p>
            <a:r>
              <a:rPr lang="en-US" sz="1600" b="0" i="0" dirty="0">
                <a:solidFill>
                  <a:schemeClr val="tx1"/>
                </a:solidFill>
                <a:effectLst/>
                <a:latin typeface="Courier New" panose="02070309020205020404" pitchFamily="49" charset="0"/>
                <a:cs typeface="Courier New" panose="02070309020205020404" pitchFamily="49" charset="0"/>
              </a:rPr>
              <a:t># .span() returns a tuple containing the start-, and end positions of the match.</a:t>
            </a:r>
          </a:p>
          <a:p>
            <a:r>
              <a:rPr lang="en-US" sz="1600" b="0" i="0" dirty="0">
                <a:solidFill>
                  <a:schemeClr val="tx1"/>
                </a:solidFill>
                <a:effectLst/>
                <a:latin typeface="Courier New" panose="02070309020205020404" pitchFamily="49" charset="0"/>
                <a:cs typeface="Courier New" panose="02070309020205020404" pitchFamily="49" charset="0"/>
              </a:rPr>
              <a:t># .string returns the string passed into the function</a:t>
            </a:r>
          </a:p>
          <a:p>
            <a:r>
              <a:rPr lang="en-US" sz="1600" b="0" i="0" dirty="0">
                <a:solidFill>
                  <a:schemeClr val="tx1"/>
                </a:solidFill>
                <a:effectLst/>
                <a:latin typeface="Courier New" panose="02070309020205020404" pitchFamily="49" charset="0"/>
                <a:cs typeface="Courier New" panose="02070309020205020404" pitchFamily="49" charset="0"/>
              </a:rPr>
              <a:t># .group() returns the part of the string where there was a match</a:t>
            </a:r>
          </a:p>
          <a:p>
            <a:endParaRPr lang="en-US" sz="1600" b="0" i="0" dirty="0">
              <a:solidFill>
                <a:schemeClr val="tx1"/>
              </a:solidFill>
              <a:effectLst/>
              <a:latin typeface="Courier New" panose="02070309020205020404" pitchFamily="49" charset="0"/>
              <a:cs typeface="Courier New" panose="02070309020205020404" pitchFamily="49" charset="0"/>
            </a:endParaRPr>
          </a:p>
          <a:p>
            <a:r>
              <a:rPr lang="en-US" sz="1600" b="0" i="0" dirty="0" err="1">
                <a:solidFill>
                  <a:schemeClr val="tx1"/>
                </a:solidFill>
                <a:effectLst/>
                <a:latin typeface="Courier New" panose="02070309020205020404" pitchFamily="49" charset="0"/>
                <a:cs typeface="Courier New" panose="02070309020205020404" pitchFamily="49" charset="0"/>
              </a:rPr>
              <a:t>capitalized_word_matches</a:t>
            </a:r>
            <a:r>
              <a:rPr lang="en-US" sz="1600" b="0" i="0" dirty="0">
                <a:solidFill>
                  <a:schemeClr val="tx1"/>
                </a:solidFill>
                <a:effectLst/>
                <a:latin typeface="Courier New" panose="02070309020205020404" pitchFamily="49" charset="0"/>
                <a:cs typeface="Courier New" panose="02070309020205020404" pitchFamily="49" charset="0"/>
              </a:rPr>
              <a:t> = </a:t>
            </a:r>
            <a:r>
              <a:rPr lang="en-US" sz="1600" b="0" i="0" dirty="0" err="1">
                <a:solidFill>
                  <a:schemeClr val="tx1"/>
                </a:solidFill>
                <a:effectLst/>
                <a:latin typeface="Courier New" panose="02070309020205020404" pitchFamily="49" charset="0"/>
                <a:cs typeface="Courier New" panose="02070309020205020404" pitchFamily="49" charset="0"/>
              </a:rPr>
              <a:t>re.</a:t>
            </a:r>
            <a:r>
              <a:rPr lang="en-US" sz="1600" b="1" i="0" dirty="0" err="1">
                <a:solidFill>
                  <a:schemeClr val="tx1"/>
                </a:solidFill>
                <a:effectLst/>
                <a:latin typeface="Courier New" panose="02070309020205020404" pitchFamily="49" charset="0"/>
                <a:cs typeface="Courier New" panose="02070309020205020404" pitchFamily="49" charset="0"/>
              </a:rPr>
              <a:t>search</a:t>
            </a:r>
            <a:r>
              <a:rPr lang="en-US" sz="1600" b="0" i="0" dirty="0">
                <a:solidFill>
                  <a:schemeClr val="tx1"/>
                </a:solidFill>
                <a:effectLst/>
                <a:latin typeface="Courier New" panose="02070309020205020404" pitchFamily="49" charset="0"/>
                <a:cs typeface="Courier New" panose="02070309020205020404" pitchFamily="49" charset="0"/>
              </a:rPr>
              <a:t>(r"[A-Z]\w+", text)</a:t>
            </a:r>
          </a:p>
          <a:p>
            <a:r>
              <a:rPr lang="en-US" sz="1600" b="0" i="0" dirty="0">
                <a:solidFill>
                  <a:schemeClr val="tx1"/>
                </a:solidFill>
                <a:effectLst/>
                <a:latin typeface="Courier New" panose="02070309020205020404" pitchFamily="49" charset="0"/>
                <a:cs typeface="Courier New" panose="02070309020205020404" pitchFamily="49" charset="0"/>
              </a:rPr>
              <a:t>print(</a:t>
            </a:r>
            <a:r>
              <a:rPr lang="en-US" sz="1600" b="0" i="0" dirty="0" err="1">
                <a:solidFill>
                  <a:schemeClr val="tx1"/>
                </a:solidFill>
                <a:effectLst/>
                <a:latin typeface="Courier New" panose="02070309020205020404" pitchFamily="49" charset="0"/>
                <a:cs typeface="Courier New" panose="02070309020205020404" pitchFamily="49" charset="0"/>
              </a:rPr>
              <a:t>capitalized_word_matches</a:t>
            </a:r>
            <a:r>
              <a:rPr lang="en-US" sz="1600" b="0" i="0" dirty="0">
                <a:solidFill>
                  <a:schemeClr val="tx1"/>
                </a:solidFill>
                <a:effectLst/>
                <a:latin typeface="Courier New" panose="02070309020205020404" pitchFamily="49" charset="0"/>
                <a:cs typeface="Courier New" panose="02070309020205020404" pitchFamily="49" charset="0"/>
              </a:rPr>
              <a:t>)</a:t>
            </a:r>
          </a:p>
          <a:p>
            <a:r>
              <a:rPr lang="en-US" sz="1600" b="0" i="0" dirty="0">
                <a:solidFill>
                  <a:schemeClr val="tx1"/>
                </a:solidFill>
                <a:effectLst/>
                <a:latin typeface="Courier New" panose="02070309020205020404" pitchFamily="49" charset="0"/>
                <a:cs typeface="Courier New" panose="02070309020205020404" pitchFamily="49" charset="0"/>
              </a:rPr>
              <a:t>print(</a:t>
            </a:r>
            <a:r>
              <a:rPr lang="en-US" sz="1600" b="0" i="0" dirty="0" err="1">
                <a:solidFill>
                  <a:schemeClr val="tx1"/>
                </a:solidFill>
                <a:effectLst/>
                <a:latin typeface="Courier New" panose="02070309020205020404" pitchFamily="49" charset="0"/>
                <a:cs typeface="Courier New" panose="02070309020205020404" pitchFamily="49" charset="0"/>
              </a:rPr>
              <a:t>capitalized_word_matches.</a:t>
            </a:r>
            <a:r>
              <a:rPr lang="en-US" sz="1600" b="1" i="0" dirty="0" err="1">
                <a:solidFill>
                  <a:schemeClr val="tx1"/>
                </a:solidFill>
                <a:effectLst/>
                <a:latin typeface="Courier New" panose="02070309020205020404" pitchFamily="49" charset="0"/>
                <a:cs typeface="Courier New" panose="02070309020205020404" pitchFamily="49" charset="0"/>
              </a:rPr>
              <a:t>span</a:t>
            </a:r>
            <a:r>
              <a:rPr lang="en-US" sz="1600" b="0" i="0" dirty="0">
                <a:solidFill>
                  <a:schemeClr val="tx1"/>
                </a:solidFill>
                <a:effectLst/>
                <a:latin typeface="Courier New" panose="02070309020205020404" pitchFamily="49" charset="0"/>
                <a:cs typeface="Courier New" panose="02070309020205020404" pitchFamily="49" charset="0"/>
              </a:rPr>
              <a:t>())</a:t>
            </a:r>
          </a:p>
          <a:p>
            <a:r>
              <a:rPr lang="en-US" sz="1600" b="0" i="0" dirty="0">
                <a:solidFill>
                  <a:schemeClr val="tx1"/>
                </a:solidFill>
                <a:effectLst/>
                <a:latin typeface="Courier New" panose="02070309020205020404" pitchFamily="49" charset="0"/>
                <a:cs typeface="Courier New" panose="02070309020205020404" pitchFamily="49" charset="0"/>
              </a:rPr>
              <a:t>print(</a:t>
            </a:r>
            <a:r>
              <a:rPr lang="en-US" sz="1600" b="0" i="0" dirty="0" err="1">
                <a:solidFill>
                  <a:schemeClr val="tx1"/>
                </a:solidFill>
                <a:effectLst/>
                <a:latin typeface="Courier New" panose="02070309020205020404" pitchFamily="49" charset="0"/>
                <a:cs typeface="Courier New" panose="02070309020205020404" pitchFamily="49" charset="0"/>
              </a:rPr>
              <a:t>capitalized_word_matches.</a:t>
            </a:r>
            <a:r>
              <a:rPr lang="en-US" sz="1600" b="1" i="0" dirty="0" err="1">
                <a:solidFill>
                  <a:schemeClr val="tx1"/>
                </a:solidFill>
                <a:effectLst/>
                <a:latin typeface="Courier New" panose="02070309020205020404" pitchFamily="49" charset="0"/>
                <a:cs typeface="Courier New" panose="02070309020205020404" pitchFamily="49" charset="0"/>
              </a:rPr>
              <a:t>string</a:t>
            </a:r>
            <a:r>
              <a:rPr lang="en-US" sz="1600" b="0" i="0" dirty="0">
                <a:solidFill>
                  <a:schemeClr val="tx1"/>
                </a:solidFill>
                <a:effectLst/>
                <a:latin typeface="Courier New" panose="02070309020205020404" pitchFamily="49" charset="0"/>
                <a:cs typeface="Courier New" panose="02070309020205020404" pitchFamily="49" charset="0"/>
              </a:rPr>
              <a:t>)</a:t>
            </a:r>
          </a:p>
          <a:p>
            <a:r>
              <a:rPr lang="en-US" sz="1600" b="0" i="0" dirty="0">
                <a:solidFill>
                  <a:schemeClr val="tx1"/>
                </a:solidFill>
                <a:effectLst/>
                <a:latin typeface="Courier New" panose="02070309020205020404" pitchFamily="49" charset="0"/>
                <a:cs typeface="Courier New" panose="02070309020205020404" pitchFamily="49" charset="0"/>
              </a:rPr>
              <a:t>print(</a:t>
            </a:r>
            <a:r>
              <a:rPr lang="en-US" sz="1600" b="0" i="0" dirty="0" err="1">
                <a:solidFill>
                  <a:schemeClr val="tx1"/>
                </a:solidFill>
                <a:effectLst/>
                <a:latin typeface="Courier New" panose="02070309020205020404" pitchFamily="49" charset="0"/>
                <a:cs typeface="Courier New" panose="02070309020205020404" pitchFamily="49" charset="0"/>
              </a:rPr>
              <a:t>capitalized_word_matches.</a:t>
            </a:r>
            <a:r>
              <a:rPr lang="en-US" sz="1600" b="1" i="0" dirty="0" err="1">
                <a:solidFill>
                  <a:schemeClr val="tx1"/>
                </a:solidFill>
                <a:effectLst/>
                <a:latin typeface="Courier New" panose="02070309020205020404" pitchFamily="49" charset="0"/>
                <a:cs typeface="Courier New" panose="02070309020205020404" pitchFamily="49" charset="0"/>
              </a:rPr>
              <a:t>group</a:t>
            </a:r>
            <a:r>
              <a:rPr lang="en-US" sz="1600" b="0" i="0" dirty="0">
                <a:solidFill>
                  <a:schemeClr val="tx1"/>
                </a:solidFill>
                <a:effectLst/>
                <a:latin typeface="Courier New" panose="02070309020205020404" pitchFamily="49" charset="0"/>
                <a:cs typeface="Courier New" panose="02070309020205020404" pitchFamily="49" charset="0"/>
              </a:rPr>
              <a:t>())</a:t>
            </a:r>
            <a:endParaRPr lang="en-AU" sz="1600" dirty="0">
              <a:solidFill>
                <a:schemeClr val="tx1"/>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1035567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109C9-FC1B-A7B6-3500-5667FF3688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74BEA2-6E92-4F90-F5F2-344162A86BE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B8E5493-6E87-BA8D-188E-C3839DB9D3D8}"/>
              </a:ext>
            </a:extLst>
          </p:cNvPr>
          <p:cNvSpPr>
            <a:spLocks noGrp="1"/>
          </p:cNvSpPr>
          <p:nvPr>
            <p:ph idx="1"/>
          </p:nvPr>
        </p:nvSpPr>
        <p:spPr/>
        <p:txBody>
          <a:bodyPr/>
          <a:lstStyle/>
          <a:p>
            <a:endParaRPr lang="en-US"/>
          </a:p>
        </p:txBody>
      </p:sp>
      <p:sp>
        <p:nvSpPr>
          <p:cNvPr id="4" name="Rectangle 3">
            <a:extLst>
              <a:ext uri="{FF2B5EF4-FFF2-40B4-BE49-F238E27FC236}">
                <a16:creationId xmlns:a16="http://schemas.microsoft.com/office/drawing/2014/main" id="{1518D8C3-143D-9F20-B5EF-9E08DB91C375}"/>
              </a:ext>
            </a:extLst>
          </p:cNvPr>
          <p:cNvSpPr/>
          <p:nvPr/>
        </p:nvSpPr>
        <p:spPr>
          <a:xfrm>
            <a:off x="228600" y="59851"/>
            <a:ext cx="8763000" cy="3212939"/>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sz="1600" b="0" i="0" dirty="0">
                <a:solidFill>
                  <a:schemeClr val="tx1"/>
                </a:solidFill>
                <a:effectLst/>
                <a:latin typeface="Courier New" panose="02070309020205020404" pitchFamily="49" charset="0"/>
                <a:cs typeface="Courier New" panose="02070309020205020404" pitchFamily="49" charset="0"/>
              </a:rPr>
              <a:t>import re</a:t>
            </a:r>
          </a:p>
          <a:p>
            <a:endParaRPr lang="en-US" sz="600" b="0" i="0" dirty="0">
              <a:solidFill>
                <a:schemeClr val="tx1"/>
              </a:solidFill>
              <a:effectLst/>
              <a:latin typeface="Courier New" panose="02070309020205020404" pitchFamily="49" charset="0"/>
              <a:cs typeface="Courier New" panose="02070309020205020404" pitchFamily="49" charset="0"/>
            </a:endParaRPr>
          </a:p>
          <a:p>
            <a:r>
              <a:rPr lang="en-US" sz="1600" b="0" i="0" dirty="0">
                <a:solidFill>
                  <a:schemeClr val="tx1"/>
                </a:solidFill>
                <a:effectLst/>
                <a:latin typeface="Courier New" panose="02070309020205020404" pitchFamily="49" charset="0"/>
                <a:cs typeface="Courier New" panose="02070309020205020404" pitchFamily="49" charset="0"/>
              </a:rPr>
              <a:t># text from </a:t>
            </a:r>
            <a:r>
              <a:rPr lang="en-US" sz="1600" b="0" i="0" dirty="0" err="1">
                <a:solidFill>
                  <a:schemeClr val="tx1"/>
                </a:solidFill>
                <a:effectLst/>
                <a:latin typeface="Courier New" panose="02070309020205020404" pitchFamily="49" charset="0"/>
                <a:cs typeface="Courier New" panose="02070309020205020404" pitchFamily="49" charset="0"/>
              </a:rPr>
              <a:t>wikipedia</a:t>
            </a:r>
            <a:endParaRPr lang="en-US" sz="1600" b="0" i="0" dirty="0">
              <a:solidFill>
                <a:schemeClr val="tx1"/>
              </a:solidFill>
              <a:effectLst/>
              <a:latin typeface="Courier New" panose="02070309020205020404" pitchFamily="49" charset="0"/>
              <a:cs typeface="Courier New" panose="02070309020205020404" pitchFamily="49" charset="0"/>
            </a:endParaRPr>
          </a:p>
          <a:p>
            <a:r>
              <a:rPr lang="en-US" sz="1600" b="0" i="0" dirty="0">
                <a:solidFill>
                  <a:schemeClr val="tx1"/>
                </a:solidFill>
                <a:effectLst/>
                <a:latin typeface="Courier New" panose="02070309020205020404" pitchFamily="49" charset="0"/>
                <a:cs typeface="Courier New" panose="02070309020205020404" pitchFamily="49" charset="0"/>
              </a:rPr>
              <a:t>text = """American International University-Bangladesh commonly known by its acronym AIUB, is a private research university in Dhaka, Bangladesh. This university was established in 1994. It offers several degree programs at the undergraduate and graduate levels from its five faculties."""</a:t>
            </a:r>
          </a:p>
          <a:p>
            <a:endParaRPr lang="en-US" sz="600" b="0" i="0" dirty="0">
              <a:solidFill>
                <a:schemeClr val="tx1"/>
              </a:solidFill>
              <a:effectLst/>
              <a:latin typeface="Courier New" panose="02070309020205020404" pitchFamily="49" charset="0"/>
              <a:cs typeface="Courier New" panose="02070309020205020404" pitchFamily="49" charset="0"/>
            </a:endParaRPr>
          </a:p>
          <a:p>
            <a:r>
              <a:rPr lang="en-US" sz="1600" b="0" i="0" dirty="0" err="1">
                <a:solidFill>
                  <a:schemeClr val="tx1"/>
                </a:solidFill>
                <a:effectLst/>
                <a:latin typeface="Courier New" panose="02070309020205020404" pitchFamily="49" charset="0"/>
                <a:cs typeface="Courier New" panose="02070309020205020404" pitchFamily="49" charset="0"/>
              </a:rPr>
              <a:t>capitalized_word_matches</a:t>
            </a:r>
            <a:r>
              <a:rPr lang="en-US" sz="1600" b="0" i="0" dirty="0">
                <a:solidFill>
                  <a:schemeClr val="tx1"/>
                </a:solidFill>
                <a:effectLst/>
                <a:latin typeface="Courier New" panose="02070309020205020404" pitchFamily="49" charset="0"/>
                <a:cs typeface="Courier New" panose="02070309020205020404" pitchFamily="49" charset="0"/>
              </a:rPr>
              <a:t> = </a:t>
            </a:r>
            <a:r>
              <a:rPr lang="en-US" sz="1600" b="0" i="0" dirty="0" err="1">
                <a:solidFill>
                  <a:schemeClr val="tx1"/>
                </a:solidFill>
                <a:effectLst/>
                <a:latin typeface="Courier New" panose="02070309020205020404" pitchFamily="49" charset="0"/>
                <a:cs typeface="Courier New" panose="02070309020205020404" pitchFamily="49" charset="0"/>
              </a:rPr>
              <a:t>re.</a:t>
            </a:r>
            <a:r>
              <a:rPr lang="en-US" sz="1600" b="1" i="0" dirty="0" err="1">
                <a:solidFill>
                  <a:schemeClr val="tx1"/>
                </a:solidFill>
                <a:effectLst/>
                <a:latin typeface="Courier New" panose="02070309020205020404" pitchFamily="49" charset="0"/>
                <a:cs typeface="Courier New" panose="02070309020205020404" pitchFamily="49" charset="0"/>
              </a:rPr>
              <a:t>search</a:t>
            </a:r>
            <a:r>
              <a:rPr lang="en-US" sz="1600" b="0" i="0" dirty="0">
                <a:solidFill>
                  <a:schemeClr val="tx1"/>
                </a:solidFill>
                <a:effectLst/>
                <a:latin typeface="Courier New" panose="02070309020205020404" pitchFamily="49" charset="0"/>
                <a:cs typeface="Courier New" panose="02070309020205020404" pitchFamily="49" charset="0"/>
              </a:rPr>
              <a:t>(r"[A-Z]\w+", text)</a:t>
            </a:r>
          </a:p>
          <a:p>
            <a:r>
              <a:rPr lang="en-US" sz="1600" b="0" i="0" dirty="0">
                <a:solidFill>
                  <a:schemeClr val="tx1"/>
                </a:solidFill>
                <a:effectLst/>
                <a:latin typeface="Courier New" panose="02070309020205020404" pitchFamily="49" charset="0"/>
                <a:cs typeface="Courier New" panose="02070309020205020404" pitchFamily="49" charset="0"/>
              </a:rPr>
              <a:t>print(</a:t>
            </a:r>
            <a:r>
              <a:rPr lang="en-US" sz="1600" b="0" i="0" dirty="0" err="1">
                <a:solidFill>
                  <a:schemeClr val="tx1"/>
                </a:solidFill>
                <a:effectLst/>
                <a:latin typeface="Courier New" panose="02070309020205020404" pitchFamily="49" charset="0"/>
                <a:cs typeface="Courier New" panose="02070309020205020404" pitchFamily="49" charset="0"/>
              </a:rPr>
              <a:t>capitalized_word_matches</a:t>
            </a:r>
            <a:r>
              <a:rPr lang="en-US" sz="1600" b="0" i="0" dirty="0">
                <a:solidFill>
                  <a:schemeClr val="tx1"/>
                </a:solidFill>
                <a:effectLst/>
                <a:latin typeface="Courier New" panose="02070309020205020404" pitchFamily="49" charset="0"/>
                <a:cs typeface="Courier New" panose="02070309020205020404" pitchFamily="49" charset="0"/>
              </a:rPr>
              <a:t>)</a:t>
            </a:r>
          </a:p>
          <a:p>
            <a:r>
              <a:rPr lang="en-US" sz="1600" b="0" i="0" dirty="0">
                <a:solidFill>
                  <a:schemeClr val="tx1"/>
                </a:solidFill>
                <a:effectLst/>
                <a:latin typeface="Courier New" panose="02070309020205020404" pitchFamily="49" charset="0"/>
                <a:cs typeface="Courier New" panose="02070309020205020404" pitchFamily="49" charset="0"/>
              </a:rPr>
              <a:t>print(</a:t>
            </a:r>
            <a:r>
              <a:rPr lang="en-US" sz="1600" b="0" i="0" dirty="0" err="1">
                <a:solidFill>
                  <a:schemeClr val="tx1"/>
                </a:solidFill>
                <a:effectLst/>
                <a:latin typeface="Courier New" panose="02070309020205020404" pitchFamily="49" charset="0"/>
                <a:cs typeface="Courier New" panose="02070309020205020404" pitchFamily="49" charset="0"/>
              </a:rPr>
              <a:t>capitalized_word_matches.</a:t>
            </a:r>
            <a:r>
              <a:rPr lang="en-US" sz="1600" b="1" i="0" dirty="0" err="1">
                <a:solidFill>
                  <a:schemeClr val="tx1"/>
                </a:solidFill>
                <a:effectLst/>
                <a:latin typeface="Courier New" panose="02070309020205020404" pitchFamily="49" charset="0"/>
                <a:cs typeface="Courier New" panose="02070309020205020404" pitchFamily="49" charset="0"/>
              </a:rPr>
              <a:t>span</a:t>
            </a:r>
            <a:r>
              <a:rPr lang="en-US" sz="1600" b="0" i="0" dirty="0">
                <a:solidFill>
                  <a:schemeClr val="tx1"/>
                </a:solidFill>
                <a:effectLst/>
                <a:latin typeface="Courier New" panose="02070309020205020404" pitchFamily="49" charset="0"/>
                <a:cs typeface="Courier New" panose="02070309020205020404" pitchFamily="49" charset="0"/>
              </a:rPr>
              <a:t>())</a:t>
            </a:r>
          </a:p>
          <a:p>
            <a:r>
              <a:rPr lang="en-US" sz="1600" b="0" i="0" dirty="0">
                <a:solidFill>
                  <a:schemeClr val="tx1"/>
                </a:solidFill>
                <a:effectLst/>
                <a:latin typeface="Courier New" panose="02070309020205020404" pitchFamily="49" charset="0"/>
                <a:cs typeface="Courier New" panose="02070309020205020404" pitchFamily="49" charset="0"/>
              </a:rPr>
              <a:t>print(</a:t>
            </a:r>
            <a:r>
              <a:rPr lang="en-US" sz="1600" b="0" i="0" dirty="0" err="1">
                <a:solidFill>
                  <a:schemeClr val="tx1"/>
                </a:solidFill>
                <a:effectLst/>
                <a:latin typeface="Courier New" panose="02070309020205020404" pitchFamily="49" charset="0"/>
                <a:cs typeface="Courier New" panose="02070309020205020404" pitchFamily="49" charset="0"/>
              </a:rPr>
              <a:t>capitalized_word_matches.</a:t>
            </a:r>
            <a:r>
              <a:rPr lang="en-US" sz="1600" b="1" i="0" dirty="0" err="1">
                <a:solidFill>
                  <a:schemeClr val="tx1"/>
                </a:solidFill>
                <a:effectLst/>
                <a:latin typeface="Courier New" panose="02070309020205020404" pitchFamily="49" charset="0"/>
                <a:cs typeface="Courier New" panose="02070309020205020404" pitchFamily="49" charset="0"/>
              </a:rPr>
              <a:t>string</a:t>
            </a:r>
            <a:r>
              <a:rPr lang="en-US" sz="1600" b="0" i="0" dirty="0">
                <a:solidFill>
                  <a:schemeClr val="tx1"/>
                </a:solidFill>
                <a:effectLst/>
                <a:latin typeface="Courier New" panose="02070309020205020404" pitchFamily="49" charset="0"/>
                <a:cs typeface="Courier New" panose="02070309020205020404" pitchFamily="49" charset="0"/>
              </a:rPr>
              <a:t>)</a:t>
            </a:r>
          </a:p>
          <a:p>
            <a:r>
              <a:rPr lang="en-US" sz="1600" b="0" i="0" dirty="0">
                <a:solidFill>
                  <a:schemeClr val="tx1"/>
                </a:solidFill>
                <a:effectLst/>
                <a:latin typeface="Courier New" panose="02070309020205020404" pitchFamily="49" charset="0"/>
                <a:cs typeface="Courier New" panose="02070309020205020404" pitchFamily="49" charset="0"/>
              </a:rPr>
              <a:t>print(</a:t>
            </a:r>
            <a:r>
              <a:rPr lang="en-US" sz="1600" b="0" i="0" dirty="0" err="1">
                <a:solidFill>
                  <a:schemeClr val="tx1"/>
                </a:solidFill>
                <a:effectLst/>
                <a:latin typeface="Courier New" panose="02070309020205020404" pitchFamily="49" charset="0"/>
                <a:cs typeface="Courier New" panose="02070309020205020404" pitchFamily="49" charset="0"/>
              </a:rPr>
              <a:t>capitalized_word_matches.</a:t>
            </a:r>
            <a:r>
              <a:rPr lang="en-US" sz="1600" b="1" i="0" dirty="0" err="1">
                <a:solidFill>
                  <a:schemeClr val="tx1"/>
                </a:solidFill>
                <a:effectLst/>
                <a:latin typeface="Courier New" panose="02070309020205020404" pitchFamily="49" charset="0"/>
                <a:cs typeface="Courier New" panose="02070309020205020404" pitchFamily="49" charset="0"/>
              </a:rPr>
              <a:t>group</a:t>
            </a:r>
            <a:r>
              <a:rPr lang="en-US" sz="1600" b="0" i="0" dirty="0">
                <a:solidFill>
                  <a:schemeClr val="tx1"/>
                </a:solidFill>
                <a:effectLst/>
                <a:latin typeface="Courier New" panose="02070309020205020404" pitchFamily="49" charset="0"/>
                <a:cs typeface="Courier New" panose="02070309020205020404" pitchFamily="49" charset="0"/>
              </a:rPr>
              <a:t>())</a:t>
            </a:r>
            <a:endParaRPr lang="en-AU" sz="1600" dirty="0">
              <a:solidFill>
                <a:schemeClr val="tx1"/>
              </a:solidFill>
              <a:latin typeface="Courier New" panose="02070309020205020404" pitchFamily="49" charset="0"/>
              <a:cs typeface="Courier New" panose="02070309020205020404" pitchFamily="49" charset="0"/>
            </a:endParaRPr>
          </a:p>
        </p:txBody>
      </p:sp>
      <p:sp>
        <p:nvSpPr>
          <p:cNvPr id="5" name="Rectangle 4">
            <a:extLst>
              <a:ext uri="{FF2B5EF4-FFF2-40B4-BE49-F238E27FC236}">
                <a16:creationId xmlns:a16="http://schemas.microsoft.com/office/drawing/2014/main" id="{5B5B52FC-4246-93CA-B4C3-60B300A672DD}"/>
              </a:ext>
            </a:extLst>
          </p:cNvPr>
          <p:cNvSpPr/>
          <p:nvPr/>
        </p:nvSpPr>
        <p:spPr>
          <a:xfrm>
            <a:off x="228600" y="3332640"/>
            <a:ext cx="8763000" cy="169490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AU" sz="1400" b="1" dirty="0">
                <a:solidFill>
                  <a:srgbClr val="0000FF"/>
                </a:solidFill>
                <a:latin typeface="Courier New" panose="02070309020205020404" pitchFamily="49" charset="0"/>
                <a:cs typeface="Courier New" panose="02070309020205020404" pitchFamily="49" charset="0"/>
              </a:rPr>
              <a:t>Output</a:t>
            </a:r>
            <a:r>
              <a:rPr lang="en-AU" sz="1400" dirty="0">
                <a:solidFill>
                  <a:schemeClr val="tx1"/>
                </a:solidFill>
                <a:latin typeface="Courier New" panose="02070309020205020404" pitchFamily="49" charset="0"/>
                <a:cs typeface="Courier New" panose="02070309020205020404" pitchFamily="49" charset="0"/>
              </a:rPr>
              <a:t> </a:t>
            </a:r>
          </a:p>
          <a:p>
            <a:r>
              <a:rPr lang="en-US" sz="1400" b="0" i="0" dirty="0">
                <a:solidFill>
                  <a:schemeClr val="tx1"/>
                </a:solidFill>
                <a:effectLst/>
                <a:latin typeface="Courier New" panose="02070309020205020404" pitchFamily="49" charset="0"/>
                <a:cs typeface="Courier New" panose="02070309020205020404" pitchFamily="49" charset="0"/>
              </a:rPr>
              <a:t>&lt;</a:t>
            </a:r>
            <a:r>
              <a:rPr lang="en-US" sz="1400" b="0" i="0" dirty="0" err="1">
                <a:solidFill>
                  <a:schemeClr val="tx1"/>
                </a:solidFill>
                <a:effectLst/>
                <a:latin typeface="Courier New" panose="02070309020205020404" pitchFamily="49" charset="0"/>
                <a:cs typeface="Courier New" panose="02070309020205020404" pitchFamily="49" charset="0"/>
              </a:rPr>
              <a:t>re.Match</a:t>
            </a:r>
            <a:r>
              <a:rPr lang="en-US" sz="1400" b="0" i="0" dirty="0">
                <a:solidFill>
                  <a:schemeClr val="tx1"/>
                </a:solidFill>
                <a:effectLst/>
                <a:latin typeface="Courier New" panose="02070309020205020404" pitchFamily="49" charset="0"/>
                <a:cs typeface="Courier New" panose="02070309020205020404" pitchFamily="49" charset="0"/>
              </a:rPr>
              <a:t> object; span=(0, 8), match='American'&gt;</a:t>
            </a:r>
          </a:p>
          <a:p>
            <a:r>
              <a:rPr lang="en-US" sz="1400" b="0" i="0" dirty="0">
                <a:solidFill>
                  <a:schemeClr val="tx1"/>
                </a:solidFill>
                <a:effectLst/>
                <a:latin typeface="Courier New" panose="02070309020205020404" pitchFamily="49" charset="0"/>
                <a:cs typeface="Courier New" panose="02070309020205020404" pitchFamily="49" charset="0"/>
              </a:rPr>
              <a:t>(0, 8)</a:t>
            </a:r>
          </a:p>
          <a:p>
            <a:r>
              <a:rPr lang="en-US" sz="1400" b="0" i="0" dirty="0">
                <a:solidFill>
                  <a:schemeClr val="tx1"/>
                </a:solidFill>
                <a:effectLst/>
                <a:latin typeface="Courier New" panose="02070309020205020404" pitchFamily="49" charset="0"/>
                <a:cs typeface="Courier New" panose="02070309020205020404" pitchFamily="49" charset="0"/>
              </a:rPr>
              <a:t>American International University-Bangladesh commonly known by its acronym AIUB, is a private research university in Dhaka, Bangladesh. This university was established in 1994.It offers several degree programs at the undergraduate and graduate levels from its five faculties.</a:t>
            </a:r>
          </a:p>
          <a:p>
            <a:r>
              <a:rPr lang="en-US" sz="1400" b="0" i="0" dirty="0">
                <a:solidFill>
                  <a:schemeClr val="tx1"/>
                </a:solidFill>
                <a:effectLst/>
                <a:latin typeface="Courier New" panose="02070309020205020404" pitchFamily="49" charset="0"/>
                <a:cs typeface="Courier New" panose="02070309020205020404" pitchFamily="49" charset="0"/>
              </a:rPr>
              <a:t>American</a:t>
            </a:r>
            <a:endParaRPr lang="en-AU" sz="1400" dirty="0">
              <a:solidFill>
                <a:schemeClr val="tx1"/>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4466140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9C130-DFAF-38F9-E734-A0A7B0E091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C319C8-9062-9435-D75B-A561B5C1644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D6D7CCE-9D39-C79E-B6C2-38FF694661C6}"/>
              </a:ext>
            </a:extLst>
          </p:cNvPr>
          <p:cNvSpPr>
            <a:spLocks noGrp="1"/>
          </p:cNvSpPr>
          <p:nvPr>
            <p:ph idx="1"/>
          </p:nvPr>
        </p:nvSpPr>
        <p:spPr/>
        <p:txBody>
          <a:bodyPr/>
          <a:lstStyle/>
          <a:p>
            <a:endParaRPr lang="en-US"/>
          </a:p>
        </p:txBody>
      </p:sp>
      <p:sp>
        <p:nvSpPr>
          <p:cNvPr id="4" name="Rectangle 3">
            <a:extLst>
              <a:ext uri="{FF2B5EF4-FFF2-40B4-BE49-F238E27FC236}">
                <a16:creationId xmlns:a16="http://schemas.microsoft.com/office/drawing/2014/main" id="{C662DF13-607E-BBF8-7954-22AC3219B111}"/>
              </a:ext>
            </a:extLst>
          </p:cNvPr>
          <p:cNvSpPr/>
          <p:nvPr/>
        </p:nvSpPr>
        <p:spPr>
          <a:xfrm>
            <a:off x="228600" y="514350"/>
            <a:ext cx="8763000" cy="31242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sz="1800" b="0" i="0" dirty="0">
                <a:solidFill>
                  <a:schemeClr val="tx1"/>
                </a:solidFill>
                <a:effectLst/>
                <a:latin typeface="Courier New" panose="02070309020205020404" pitchFamily="49" charset="0"/>
                <a:cs typeface="Courier New" panose="02070309020205020404" pitchFamily="49" charset="0"/>
              </a:rPr>
              <a:t>import re</a:t>
            </a:r>
          </a:p>
          <a:p>
            <a:endParaRPr lang="en-US" sz="1800" b="0" i="0" dirty="0">
              <a:solidFill>
                <a:schemeClr val="tx1"/>
              </a:solidFill>
              <a:effectLst/>
              <a:latin typeface="Courier New" panose="02070309020205020404" pitchFamily="49" charset="0"/>
              <a:cs typeface="Courier New" panose="02070309020205020404" pitchFamily="49" charset="0"/>
            </a:endParaRPr>
          </a:p>
          <a:p>
            <a:r>
              <a:rPr lang="en-US" sz="1800" b="0" i="0" dirty="0">
                <a:solidFill>
                  <a:schemeClr val="tx1"/>
                </a:solidFill>
                <a:effectLst/>
                <a:latin typeface="Courier New" panose="02070309020205020404" pitchFamily="49" charset="0"/>
                <a:cs typeface="Courier New" panose="02070309020205020404" pitchFamily="49" charset="0"/>
              </a:rPr>
              <a:t>text = """American International University-Bangladesh commonly known by its acronym AIUB, is a private research university in Dhaka, Bangladesh. This university was established in 1994. It offers several degree programs at the undergraduate and graduate levels from its five faculties."""</a:t>
            </a:r>
          </a:p>
          <a:p>
            <a:endParaRPr lang="en-US" sz="1800" b="0" i="0" dirty="0">
              <a:solidFill>
                <a:schemeClr val="tx1"/>
              </a:solidFill>
              <a:effectLst/>
              <a:latin typeface="Courier New" panose="02070309020205020404" pitchFamily="49" charset="0"/>
              <a:cs typeface="Courier New" panose="02070309020205020404" pitchFamily="49" charset="0"/>
            </a:endParaRPr>
          </a:p>
          <a:p>
            <a:r>
              <a:rPr lang="en-US" sz="1800" b="0" i="0" dirty="0" err="1">
                <a:solidFill>
                  <a:schemeClr val="tx1"/>
                </a:solidFill>
                <a:effectLst/>
                <a:latin typeface="Courier New" panose="02070309020205020404" pitchFamily="49" charset="0"/>
                <a:cs typeface="Courier New" panose="02070309020205020404" pitchFamily="49" charset="0"/>
              </a:rPr>
              <a:t>capitalized_word_list</a:t>
            </a:r>
            <a:r>
              <a:rPr lang="en-US" sz="1800" b="0" i="0" dirty="0">
                <a:solidFill>
                  <a:schemeClr val="tx1"/>
                </a:solidFill>
                <a:effectLst/>
                <a:latin typeface="Courier New" panose="02070309020205020404" pitchFamily="49" charset="0"/>
                <a:cs typeface="Courier New" panose="02070309020205020404" pitchFamily="49" charset="0"/>
              </a:rPr>
              <a:t> = </a:t>
            </a:r>
            <a:r>
              <a:rPr lang="en-US" sz="1800" b="0" i="0" dirty="0" err="1">
                <a:solidFill>
                  <a:schemeClr val="tx1"/>
                </a:solidFill>
                <a:effectLst/>
                <a:latin typeface="Courier New" panose="02070309020205020404" pitchFamily="49" charset="0"/>
                <a:cs typeface="Courier New" panose="02070309020205020404" pitchFamily="49" charset="0"/>
              </a:rPr>
              <a:t>re.</a:t>
            </a:r>
            <a:r>
              <a:rPr lang="en-US" sz="1800" b="1" i="0" dirty="0" err="1">
                <a:solidFill>
                  <a:schemeClr val="tx1"/>
                </a:solidFill>
                <a:effectLst/>
                <a:latin typeface="Courier New" panose="02070309020205020404" pitchFamily="49" charset="0"/>
                <a:cs typeface="Courier New" panose="02070309020205020404" pitchFamily="49" charset="0"/>
              </a:rPr>
              <a:t>findall</a:t>
            </a:r>
            <a:r>
              <a:rPr lang="en-US" sz="1800" b="0" i="0" dirty="0">
                <a:solidFill>
                  <a:schemeClr val="tx1"/>
                </a:solidFill>
                <a:effectLst/>
                <a:latin typeface="Courier New" panose="02070309020205020404" pitchFamily="49" charset="0"/>
                <a:cs typeface="Courier New" panose="02070309020205020404" pitchFamily="49" charset="0"/>
              </a:rPr>
              <a:t>(r"[A-Z]\w+", text)</a:t>
            </a:r>
          </a:p>
          <a:p>
            <a:r>
              <a:rPr lang="en-US" sz="1800" b="0" i="0" dirty="0">
                <a:solidFill>
                  <a:schemeClr val="tx1"/>
                </a:solidFill>
                <a:effectLst/>
                <a:latin typeface="Courier New" panose="02070309020205020404" pitchFamily="49" charset="0"/>
                <a:cs typeface="Courier New" panose="02070309020205020404" pitchFamily="49" charset="0"/>
              </a:rPr>
              <a:t>print(</a:t>
            </a:r>
            <a:r>
              <a:rPr lang="en-US" sz="1800" b="0" i="0" dirty="0" err="1">
                <a:solidFill>
                  <a:schemeClr val="tx1"/>
                </a:solidFill>
                <a:effectLst/>
                <a:latin typeface="Courier New" panose="02070309020205020404" pitchFamily="49" charset="0"/>
                <a:cs typeface="Courier New" panose="02070309020205020404" pitchFamily="49" charset="0"/>
              </a:rPr>
              <a:t>capitalized_word_list</a:t>
            </a:r>
            <a:r>
              <a:rPr lang="en-US" sz="1800" b="0" i="0" dirty="0">
                <a:solidFill>
                  <a:schemeClr val="tx1"/>
                </a:solidFill>
                <a:effectLst/>
                <a:latin typeface="Courier New" panose="02070309020205020404" pitchFamily="49" charset="0"/>
                <a:cs typeface="Courier New" panose="02070309020205020404" pitchFamily="49" charset="0"/>
              </a:rPr>
              <a:t>)</a:t>
            </a:r>
            <a:endParaRPr lang="en-AU" sz="1800" dirty="0">
              <a:solidFill>
                <a:schemeClr val="tx1"/>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7907885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362CF-5646-1685-C763-4A513821D7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EF0B5F-6E75-2D71-D29A-497A39D10A9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D7217D6-F14F-8FC6-14C8-E392F61B5C78}"/>
              </a:ext>
            </a:extLst>
          </p:cNvPr>
          <p:cNvSpPr>
            <a:spLocks noGrp="1"/>
          </p:cNvSpPr>
          <p:nvPr>
            <p:ph idx="1"/>
          </p:nvPr>
        </p:nvSpPr>
        <p:spPr/>
        <p:txBody>
          <a:bodyPr/>
          <a:lstStyle/>
          <a:p>
            <a:endParaRPr lang="en-US"/>
          </a:p>
        </p:txBody>
      </p:sp>
      <p:sp>
        <p:nvSpPr>
          <p:cNvPr id="4" name="Rectangle 3">
            <a:extLst>
              <a:ext uri="{FF2B5EF4-FFF2-40B4-BE49-F238E27FC236}">
                <a16:creationId xmlns:a16="http://schemas.microsoft.com/office/drawing/2014/main" id="{13030631-7C54-E977-5CD9-141009B9C1FE}"/>
              </a:ext>
            </a:extLst>
          </p:cNvPr>
          <p:cNvSpPr/>
          <p:nvPr/>
        </p:nvSpPr>
        <p:spPr>
          <a:xfrm>
            <a:off x="228600" y="514350"/>
            <a:ext cx="8763000" cy="31242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sz="1800" b="0" i="0" dirty="0">
                <a:solidFill>
                  <a:schemeClr val="tx1"/>
                </a:solidFill>
                <a:effectLst/>
                <a:latin typeface="Courier New" panose="02070309020205020404" pitchFamily="49" charset="0"/>
                <a:cs typeface="Courier New" panose="02070309020205020404" pitchFamily="49" charset="0"/>
              </a:rPr>
              <a:t>import re</a:t>
            </a:r>
          </a:p>
          <a:p>
            <a:endParaRPr lang="en-US" sz="1800" b="0" i="0" dirty="0">
              <a:solidFill>
                <a:schemeClr val="tx1"/>
              </a:solidFill>
              <a:effectLst/>
              <a:latin typeface="Courier New" panose="02070309020205020404" pitchFamily="49" charset="0"/>
              <a:cs typeface="Courier New" panose="02070309020205020404" pitchFamily="49" charset="0"/>
            </a:endParaRPr>
          </a:p>
          <a:p>
            <a:r>
              <a:rPr lang="en-US" sz="1800" b="0" i="0" dirty="0">
                <a:solidFill>
                  <a:schemeClr val="tx1"/>
                </a:solidFill>
                <a:effectLst/>
                <a:latin typeface="Courier New" panose="02070309020205020404" pitchFamily="49" charset="0"/>
                <a:cs typeface="Courier New" panose="02070309020205020404" pitchFamily="49" charset="0"/>
              </a:rPr>
              <a:t>text = """American International University-Bangladesh commonly known by its acronym AIUB, is a private research university in Dhaka, Bangladesh. This university was established in 1994. It offers several degree programs at the undergraduate and graduate levels from its five faculties."""</a:t>
            </a:r>
          </a:p>
          <a:p>
            <a:endParaRPr lang="en-US" sz="1800" b="0" i="0" dirty="0">
              <a:solidFill>
                <a:schemeClr val="tx1"/>
              </a:solidFill>
              <a:effectLst/>
              <a:latin typeface="Courier New" panose="02070309020205020404" pitchFamily="49" charset="0"/>
              <a:cs typeface="Courier New" panose="02070309020205020404" pitchFamily="49" charset="0"/>
            </a:endParaRPr>
          </a:p>
          <a:p>
            <a:r>
              <a:rPr lang="en-US" sz="1800" b="0" i="0" dirty="0" err="1">
                <a:solidFill>
                  <a:schemeClr val="tx1"/>
                </a:solidFill>
                <a:effectLst/>
                <a:latin typeface="Courier New" panose="02070309020205020404" pitchFamily="49" charset="0"/>
                <a:cs typeface="Courier New" panose="02070309020205020404" pitchFamily="49" charset="0"/>
              </a:rPr>
              <a:t>capitalized_word_list</a:t>
            </a:r>
            <a:r>
              <a:rPr lang="en-US" sz="1800" b="0" i="0" dirty="0">
                <a:solidFill>
                  <a:schemeClr val="tx1"/>
                </a:solidFill>
                <a:effectLst/>
                <a:latin typeface="Courier New" panose="02070309020205020404" pitchFamily="49" charset="0"/>
                <a:cs typeface="Courier New" panose="02070309020205020404" pitchFamily="49" charset="0"/>
              </a:rPr>
              <a:t> = </a:t>
            </a:r>
            <a:r>
              <a:rPr lang="en-US" sz="1800" b="0" i="0" dirty="0" err="1">
                <a:solidFill>
                  <a:schemeClr val="tx1"/>
                </a:solidFill>
                <a:effectLst/>
                <a:latin typeface="Courier New" panose="02070309020205020404" pitchFamily="49" charset="0"/>
                <a:cs typeface="Courier New" panose="02070309020205020404" pitchFamily="49" charset="0"/>
              </a:rPr>
              <a:t>re.</a:t>
            </a:r>
            <a:r>
              <a:rPr lang="en-US" sz="1800" b="1" i="0" dirty="0" err="1">
                <a:solidFill>
                  <a:schemeClr val="tx1"/>
                </a:solidFill>
                <a:effectLst/>
                <a:latin typeface="Courier New" panose="02070309020205020404" pitchFamily="49" charset="0"/>
                <a:cs typeface="Courier New" panose="02070309020205020404" pitchFamily="49" charset="0"/>
              </a:rPr>
              <a:t>findall</a:t>
            </a:r>
            <a:r>
              <a:rPr lang="en-US" sz="1800" b="0" i="0" dirty="0">
                <a:solidFill>
                  <a:schemeClr val="tx1"/>
                </a:solidFill>
                <a:effectLst/>
                <a:latin typeface="Courier New" panose="02070309020205020404" pitchFamily="49" charset="0"/>
                <a:cs typeface="Courier New" panose="02070309020205020404" pitchFamily="49" charset="0"/>
              </a:rPr>
              <a:t>(r"[A-Z]\w+", text)</a:t>
            </a:r>
          </a:p>
          <a:p>
            <a:r>
              <a:rPr lang="en-US" sz="1800" b="0" i="0" dirty="0">
                <a:solidFill>
                  <a:schemeClr val="tx1"/>
                </a:solidFill>
                <a:effectLst/>
                <a:latin typeface="Courier New" panose="02070309020205020404" pitchFamily="49" charset="0"/>
                <a:cs typeface="Courier New" panose="02070309020205020404" pitchFamily="49" charset="0"/>
              </a:rPr>
              <a:t>print(</a:t>
            </a:r>
            <a:r>
              <a:rPr lang="en-US" sz="1800" b="0" i="0" dirty="0" err="1">
                <a:solidFill>
                  <a:schemeClr val="tx1"/>
                </a:solidFill>
                <a:effectLst/>
                <a:latin typeface="Courier New" panose="02070309020205020404" pitchFamily="49" charset="0"/>
                <a:cs typeface="Courier New" panose="02070309020205020404" pitchFamily="49" charset="0"/>
              </a:rPr>
              <a:t>capitalized_word_list</a:t>
            </a:r>
            <a:r>
              <a:rPr lang="en-US" sz="1800" b="0" i="0" dirty="0">
                <a:solidFill>
                  <a:schemeClr val="tx1"/>
                </a:solidFill>
                <a:effectLst/>
                <a:latin typeface="Courier New" panose="02070309020205020404" pitchFamily="49" charset="0"/>
                <a:cs typeface="Courier New" panose="02070309020205020404" pitchFamily="49" charset="0"/>
              </a:rPr>
              <a:t>)</a:t>
            </a:r>
            <a:endParaRPr lang="en-AU" sz="1800" dirty="0">
              <a:solidFill>
                <a:schemeClr val="tx1"/>
              </a:solidFill>
              <a:latin typeface="Courier New" panose="02070309020205020404" pitchFamily="49" charset="0"/>
              <a:cs typeface="Courier New" panose="02070309020205020404" pitchFamily="49" charset="0"/>
            </a:endParaRPr>
          </a:p>
        </p:txBody>
      </p:sp>
      <p:sp>
        <p:nvSpPr>
          <p:cNvPr id="5" name="Rectangle 4">
            <a:extLst>
              <a:ext uri="{FF2B5EF4-FFF2-40B4-BE49-F238E27FC236}">
                <a16:creationId xmlns:a16="http://schemas.microsoft.com/office/drawing/2014/main" id="{4367E35A-99F8-AEA1-3FCF-34EFFE76A209}"/>
              </a:ext>
            </a:extLst>
          </p:cNvPr>
          <p:cNvSpPr/>
          <p:nvPr/>
        </p:nvSpPr>
        <p:spPr>
          <a:xfrm>
            <a:off x="228600" y="3714751"/>
            <a:ext cx="8763000" cy="9906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AU" sz="1800" b="1" dirty="0">
                <a:solidFill>
                  <a:srgbClr val="0000FF"/>
                </a:solidFill>
                <a:latin typeface="Courier New" panose="02070309020205020404" pitchFamily="49" charset="0"/>
                <a:cs typeface="Courier New" panose="02070309020205020404" pitchFamily="49" charset="0"/>
              </a:rPr>
              <a:t>Output</a:t>
            </a:r>
            <a:r>
              <a:rPr lang="en-AU" sz="1800" dirty="0">
                <a:solidFill>
                  <a:schemeClr val="tx1"/>
                </a:solidFill>
                <a:latin typeface="Courier New" panose="02070309020205020404" pitchFamily="49" charset="0"/>
                <a:cs typeface="Courier New" panose="02070309020205020404" pitchFamily="49" charset="0"/>
              </a:rPr>
              <a:t> </a:t>
            </a:r>
          </a:p>
          <a:p>
            <a:r>
              <a:rPr lang="en-US" sz="1800" b="0" i="0" dirty="0">
                <a:solidFill>
                  <a:schemeClr val="tx1"/>
                </a:solidFill>
                <a:effectLst/>
                <a:latin typeface="Courier New" panose="02070309020205020404" pitchFamily="49" charset="0"/>
                <a:cs typeface="Courier New" panose="02070309020205020404" pitchFamily="49" charset="0"/>
              </a:rPr>
              <a:t>['American', 'International', 'University', 'Bangladesh', 'AIUB', 'Dhaka', 'Bangladesh', 'This', 'It']</a:t>
            </a:r>
          </a:p>
        </p:txBody>
      </p:sp>
    </p:spTree>
    <p:extLst>
      <p:ext uri="{BB962C8B-B14F-4D97-AF65-F5344CB8AC3E}">
        <p14:creationId xmlns:p14="http://schemas.microsoft.com/office/powerpoint/2010/main" val="20811309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B6F53-86F0-6C11-7EE2-83AB8758F3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57B368-DA8D-936E-48A1-3986A2CEB62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4914592-4112-3A40-FF90-C607C1CA7FA2}"/>
              </a:ext>
            </a:extLst>
          </p:cNvPr>
          <p:cNvSpPr>
            <a:spLocks noGrp="1"/>
          </p:cNvSpPr>
          <p:nvPr>
            <p:ph idx="1"/>
          </p:nvPr>
        </p:nvSpPr>
        <p:spPr/>
        <p:txBody>
          <a:bodyPr/>
          <a:lstStyle/>
          <a:p>
            <a:endParaRPr lang="en-US"/>
          </a:p>
        </p:txBody>
      </p:sp>
      <p:sp>
        <p:nvSpPr>
          <p:cNvPr id="4" name="Rectangle 3">
            <a:extLst>
              <a:ext uri="{FF2B5EF4-FFF2-40B4-BE49-F238E27FC236}">
                <a16:creationId xmlns:a16="http://schemas.microsoft.com/office/drawing/2014/main" id="{88D7E00D-42F7-1FE0-270A-61571B426906}"/>
              </a:ext>
            </a:extLst>
          </p:cNvPr>
          <p:cNvSpPr/>
          <p:nvPr/>
        </p:nvSpPr>
        <p:spPr>
          <a:xfrm>
            <a:off x="228600" y="209550"/>
            <a:ext cx="4227342" cy="32766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sz="1600" b="0" i="0" dirty="0">
                <a:solidFill>
                  <a:schemeClr val="tx1"/>
                </a:solidFill>
                <a:effectLst/>
                <a:latin typeface="Courier New" panose="02070309020205020404" pitchFamily="49" charset="0"/>
                <a:cs typeface="Courier New" panose="02070309020205020404" pitchFamily="49" charset="0"/>
              </a:rPr>
              <a:t>import re</a:t>
            </a:r>
          </a:p>
          <a:p>
            <a:endParaRPr lang="en-US" sz="1600" b="0" i="0" dirty="0">
              <a:solidFill>
                <a:schemeClr val="tx1"/>
              </a:solidFill>
              <a:effectLst/>
              <a:latin typeface="Courier New" panose="02070309020205020404" pitchFamily="49" charset="0"/>
              <a:cs typeface="Courier New" panose="02070309020205020404" pitchFamily="49" charset="0"/>
            </a:endParaRPr>
          </a:p>
          <a:p>
            <a:r>
              <a:rPr lang="en-US" sz="1600" b="0" i="0" dirty="0">
                <a:solidFill>
                  <a:schemeClr val="tx1"/>
                </a:solidFill>
                <a:effectLst/>
                <a:latin typeface="Courier New" panose="02070309020205020404" pitchFamily="49" charset="0"/>
                <a:cs typeface="Courier New" panose="02070309020205020404" pitchFamily="49" charset="0"/>
              </a:rPr>
              <a:t>text = 'Today Sehri time in Dhaka is 05:03 am. Today Iftar time in Dhaka is 6:03 PM.’</a:t>
            </a:r>
          </a:p>
          <a:p>
            <a:endParaRPr lang="en-US" sz="1600" b="0" i="0" dirty="0">
              <a:solidFill>
                <a:schemeClr val="tx1"/>
              </a:solidFill>
              <a:effectLst/>
              <a:latin typeface="Courier New" panose="02070309020205020404" pitchFamily="49" charset="0"/>
              <a:cs typeface="Courier New" panose="02070309020205020404" pitchFamily="49" charset="0"/>
            </a:endParaRPr>
          </a:p>
          <a:p>
            <a:r>
              <a:rPr lang="en-US" sz="1600" b="0" i="0" dirty="0">
                <a:solidFill>
                  <a:schemeClr val="tx1"/>
                </a:solidFill>
                <a:effectLst/>
                <a:latin typeface="Courier New" panose="02070309020205020404" pitchFamily="49" charset="0"/>
                <a:cs typeface="Courier New" panose="02070309020205020404" pitchFamily="49" charset="0"/>
              </a:rPr>
              <a:t>text = </a:t>
            </a:r>
            <a:r>
              <a:rPr lang="en-US" sz="1600" b="0" i="0" dirty="0" err="1">
                <a:solidFill>
                  <a:schemeClr val="tx1"/>
                </a:solidFill>
                <a:effectLst/>
                <a:latin typeface="Courier New" panose="02070309020205020404" pitchFamily="49" charset="0"/>
                <a:cs typeface="Courier New" panose="02070309020205020404" pitchFamily="49" charset="0"/>
              </a:rPr>
              <a:t>text.lower</a:t>
            </a:r>
            <a:r>
              <a:rPr lang="en-US" sz="1600" b="0" i="0" dirty="0">
                <a:solidFill>
                  <a:schemeClr val="tx1"/>
                </a:solidFill>
                <a:effectLst/>
                <a:latin typeface="Courier New" panose="02070309020205020404" pitchFamily="49" charset="0"/>
                <a:cs typeface="Courier New" panose="02070309020205020404" pitchFamily="49" charset="0"/>
              </a:rPr>
              <a:t>()</a:t>
            </a:r>
          </a:p>
          <a:p>
            <a:r>
              <a:rPr lang="en-US" sz="1600" b="0" i="0" dirty="0" err="1">
                <a:solidFill>
                  <a:schemeClr val="tx1"/>
                </a:solidFill>
                <a:effectLst/>
                <a:latin typeface="Courier New" panose="02070309020205020404" pitchFamily="49" charset="0"/>
                <a:cs typeface="Courier New" panose="02070309020205020404" pitchFamily="49" charset="0"/>
              </a:rPr>
              <a:t>sentence_pattern</a:t>
            </a:r>
            <a:r>
              <a:rPr lang="en-US" sz="1600" b="0" i="0" dirty="0">
                <a:solidFill>
                  <a:schemeClr val="tx1"/>
                </a:solidFill>
                <a:effectLst/>
                <a:latin typeface="Courier New" panose="02070309020205020404" pitchFamily="49" charset="0"/>
                <a:cs typeface="Courier New" panose="02070309020205020404" pitchFamily="49" charset="0"/>
              </a:rPr>
              <a:t> = r"[.]"</a:t>
            </a:r>
          </a:p>
          <a:p>
            <a:r>
              <a:rPr lang="en-US" sz="1600" b="0" i="0" dirty="0" err="1">
                <a:solidFill>
                  <a:schemeClr val="tx1"/>
                </a:solidFill>
                <a:effectLst/>
                <a:latin typeface="Courier New" panose="02070309020205020404" pitchFamily="49" charset="0"/>
                <a:cs typeface="Courier New" panose="02070309020205020404" pitchFamily="49" charset="0"/>
              </a:rPr>
              <a:t>sentence_list</a:t>
            </a:r>
            <a:r>
              <a:rPr lang="en-US" sz="1600" b="0" i="0" dirty="0">
                <a:solidFill>
                  <a:schemeClr val="tx1"/>
                </a:solidFill>
                <a:effectLst/>
                <a:latin typeface="Courier New" panose="02070309020205020404" pitchFamily="49" charset="0"/>
                <a:cs typeface="Courier New" panose="02070309020205020404" pitchFamily="49" charset="0"/>
              </a:rPr>
              <a:t> = </a:t>
            </a:r>
            <a:r>
              <a:rPr lang="en-US" sz="1600" b="0" i="0" dirty="0" err="1">
                <a:solidFill>
                  <a:schemeClr val="tx1"/>
                </a:solidFill>
                <a:effectLst/>
                <a:latin typeface="Courier New" panose="02070309020205020404" pitchFamily="49" charset="0"/>
                <a:cs typeface="Courier New" panose="02070309020205020404" pitchFamily="49" charset="0"/>
              </a:rPr>
              <a:t>re.split</a:t>
            </a:r>
            <a:r>
              <a:rPr lang="en-US" sz="1600" b="0" i="0" dirty="0">
                <a:solidFill>
                  <a:schemeClr val="tx1"/>
                </a:solidFill>
                <a:effectLst/>
                <a:latin typeface="Courier New" panose="02070309020205020404" pitchFamily="49" charset="0"/>
                <a:cs typeface="Courier New" panose="02070309020205020404" pitchFamily="49" charset="0"/>
              </a:rPr>
              <a:t>(</a:t>
            </a:r>
            <a:r>
              <a:rPr lang="en-US" sz="1600" b="0" i="0" dirty="0" err="1">
                <a:solidFill>
                  <a:schemeClr val="tx1"/>
                </a:solidFill>
                <a:effectLst/>
                <a:latin typeface="Courier New" panose="02070309020205020404" pitchFamily="49" charset="0"/>
                <a:cs typeface="Courier New" panose="02070309020205020404" pitchFamily="49" charset="0"/>
              </a:rPr>
              <a:t>sentence_pattern</a:t>
            </a:r>
            <a:r>
              <a:rPr lang="en-US" sz="1600" b="0" i="0" dirty="0">
                <a:solidFill>
                  <a:schemeClr val="tx1"/>
                </a:solidFill>
                <a:effectLst/>
                <a:latin typeface="Courier New" panose="02070309020205020404" pitchFamily="49" charset="0"/>
                <a:cs typeface="Courier New" panose="02070309020205020404" pitchFamily="49" charset="0"/>
              </a:rPr>
              <a:t>, text)</a:t>
            </a:r>
          </a:p>
          <a:p>
            <a:r>
              <a:rPr lang="en-US" sz="1600" b="0" i="0" dirty="0" err="1">
                <a:solidFill>
                  <a:schemeClr val="tx1"/>
                </a:solidFill>
                <a:effectLst/>
                <a:latin typeface="Courier New" panose="02070309020205020404" pitchFamily="49" charset="0"/>
                <a:cs typeface="Courier New" panose="02070309020205020404" pitchFamily="49" charset="0"/>
              </a:rPr>
              <a:t>sentence_list.remove</a:t>
            </a:r>
            <a:r>
              <a:rPr lang="en-US" sz="1600" b="0" i="0" dirty="0">
                <a:solidFill>
                  <a:schemeClr val="tx1"/>
                </a:solidFill>
                <a:effectLst/>
                <a:latin typeface="Courier New" panose="02070309020205020404" pitchFamily="49" charset="0"/>
                <a:cs typeface="Courier New" panose="02070309020205020404" pitchFamily="49" charset="0"/>
              </a:rPr>
              <a:t>('')</a:t>
            </a:r>
          </a:p>
          <a:p>
            <a:r>
              <a:rPr lang="en-US" sz="1600" b="0" i="0" dirty="0">
                <a:solidFill>
                  <a:schemeClr val="tx1"/>
                </a:solidFill>
                <a:effectLst/>
                <a:latin typeface="Courier New" panose="02070309020205020404" pitchFamily="49" charset="0"/>
                <a:cs typeface="Courier New" panose="02070309020205020404" pitchFamily="49" charset="0"/>
              </a:rPr>
              <a:t>print(</a:t>
            </a:r>
            <a:r>
              <a:rPr lang="en-US" sz="1600" b="0" i="0" dirty="0" err="1">
                <a:solidFill>
                  <a:schemeClr val="tx1"/>
                </a:solidFill>
                <a:effectLst/>
                <a:latin typeface="Courier New" panose="02070309020205020404" pitchFamily="49" charset="0"/>
                <a:cs typeface="Courier New" panose="02070309020205020404" pitchFamily="49" charset="0"/>
              </a:rPr>
              <a:t>sentence_list</a:t>
            </a:r>
            <a:r>
              <a:rPr lang="en-US" sz="1600" b="0" i="0" dirty="0">
                <a:solidFill>
                  <a:schemeClr val="tx1"/>
                </a:solidFill>
                <a:effectLst/>
                <a:latin typeface="Courier New" panose="02070309020205020404" pitchFamily="49" charset="0"/>
                <a:cs typeface="Courier New" panose="02070309020205020404" pitchFamily="49" charset="0"/>
              </a:rPr>
              <a:t>)</a:t>
            </a:r>
          </a:p>
          <a:p>
            <a:endParaRPr lang="en-US" sz="1600" b="0" i="0" dirty="0">
              <a:solidFill>
                <a:schemeClr val="tx1"/>
              </a:solidFill>
              <a:effectLst/>
              <a:latin typeface="Courier New" panose="02070309020205020404" pitchFamily="49" charset="0"/>
              <a:cs typeface="Courier New" panose="02070309020205020404" pitchFamily="49" charset="0"/>
            </a:endParaRPr>
          </a:p>
        </p:txBody>
      </p:sp>
      <p:sp>
        <p:nvSpPr>
          <p:cNvPr id="5" name="Rectangle 4">
            <a:extLst>
              <a:ext uri="{FF2B5EF4-FFF2-40B4-BE49-F238E27FC236}">
                <a16:creationId xmlns:a16="http://schemas.microsoft.com/office/drawing/2014/main" id="{391213D5-EFE8-6FBB-09A7-2EDBF154BE6F}"/>
              </a:ext>
            </a:extLst>
          </p:cNvPr>
          <p:cNvSpPr/>
          <p:nvPr/>
        </p:nvSpPr>
        <p:spPr>
          <a:xfrm>
            <a:off x="4556760" y="209550"/>
            <a:ext cx="4358640" cy="32766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sz="1600" b="0" i="0" dirty="0">
                <a:solidFill>
                  <a:schemeClr val="tx1"/>
                </a:solidFill>
                <a:effectLst/>
                <a:latin typeface="Courier New" panose="02070309020205020404" pitchFamily="49" charset="0"/>
                <a:cs typeface="Courier New" panose="02070309020205020404" pitchFamily="49" charset="0"/>
              </a:rPr>
              <a:t>for sentence in </a:t>
            </a:r>
            <a:r>
              <a:rPr lang="en-US" sz="1600" b="0" i="0" dirty="0" err="1">
                <a:solidFill>
                  <a:schemeClr val="tx1"/>
                </a:solidFill>
                <a:effectLst/>
                <a:latin typeface="Courier New" panose="02070309020205020404" pitchFamily="49" charset="0"/>
                <a:cs typeface="Courier New" panose="02070309020205020404" pitchFamily="49" charset="0"/>
              </a:rPr>
              <a:t>sentence_list</a:t>
            </a:r>
            <a:r>
              <a:rPr lang="en-US" sz="1600" b="0" i="0" dirty="0">
                <a:solidFill>
                  <a:schemeClr val="tx1"/>
                </a:solidFill>
                <a:effectLst/>
                <a:latin typeface="Courier New" panose="02070309020205020404" pitchFamily="49" charset="0"/>
                <a:cs typeface="Courier New" panose="02070309020205020404" pitchFamily="49" charset="0"/>
              </a:rPr>
              <a:t>:</a:t>
            </a:r>
          </a:p>
          <a:p>
            <a:r>
              <a:rPr lang="en-US" sz="1600" b="0" i="0" dirty="0">
                <a:solidFill>
                  <a:schemeClr val="tx1"/>
                </a:solidFill>
                <a:effectLst/>
                <a:latin typeface="Courier New" panose="02070309020205020404" pitchFamily="49" charset="0"/>
                <a:cs typeface="Courier New" panose="02070309020205020404" pitchFamily="49" charset="0"/>
              </a:rPr>
              <a:t>  sentence = </a:t>
            </a:r>
            <a:r>
              <a:rPr lang="en-US" sz="1600" b="0" i="0" dirty="0" err="1">
                <a:solidFill>
                  <a:schemeClr val="tx1"/>
                </a:solidFill>
                <a:effectLst/>
                <a:latin typeface="Courier New" panose="02070309020205020404" pitchFamily="49" charset="0"/>
                <a:cs typeface="Courier New" panose="02070309020205020404" pitchFamily="49" charset="0"/>
              </a:rPr>
              <a:t>sentence.strip</a:t>
            </a:r>
            <a:r>
              <a:rPr lang="en-US" sz="1600" b="0" i="0" dirty="0">
                <a:solidFill>
                  <a:schemeClr val="tx1"/>
                </a:solidFill>
                <a:effectLst/>
                <a:latin typeface="Courier New" panose="02070309020205020404" pitchFamily="49" charset="0"/>
                <a:cs typeface="Courier New" panose="02070309020205020404" pitchFamily="49" charset="0"/>
              </a:rPr>
              <a:t>()</a:t>
            </a:r>
          </a:p>
          <a:p>
            <a:r>
              <a:rPr lang="en-US" sz="1600" b="0" i="0" dirty="0">
                <a:solidFill>
                  <a:schemeClr val="tx1"/>
                </a:solidFill>
                <a:effectLst/>
                <a:latin typeface="Courier New" panose="02070309020205020404" pitchFamily="49" charset="0"/>
                <a:cs typeface="Courier New" panose="02070309020205020404" pitchFamily="49" charset="0"/>
              </a:rPr>
              <a:t>  </a:t>
            </a:r>
            <a:r>
              <a:rPr lang="en-US" sz="1600" b="0" i="0" dirty="0" err="1">
                <a:solidFill>
                  <a:schemeClr val="tx1"/>
                </a:solidFill>
                <a:effectLst/>
                <a:latin typeface="Courier New" panose="02070309020205020404" pitchFamily="49" charset="0"/>
                <a:cs typeface="Courier New" panose="02070309020205020404" pitchFamily="49" charset="0"/>
              </a:rPr>
              <a:t>time_pattern</a:t>
            </a:r>
            <a:r>
              <a:rPr lang="en-US" sz="1600" b="0" i="0" dirty="0">
                <a:solidFill>
                  <a:schemeClr val="tx1"/>
                </a:solidFill>
                <a:effectLst/>
                <a:latin typeface="Courier New" panose="02070309020205020404" pitchFamily="49" charset="0"/>
                <a:cs typeface="Courier New" panose="02070309020205020404" pitchFamily="49" charset="0"/>
              </a:rPr>
              <a:t> = r"\d+:\d+ [ap]m"</a:t>
            </a:r>
          </a:p>
          <a:p>
            <a:r>
              <a:rPr lang="en-US" sz="1600" b="0" i="0" dirty="0">
                <a:solidFill>
                  <a:schemeClr val="tx1"/>
                </a:solidFill>
                <a:effectLst/>
                <a:latin typeface="Courier New" panose="02070309020205020404" pitchFamily="49" charset="0"/>
                <a:cs typeface="Courier New" panose="02070309020205020404" pitchFamily="49" charset="0"/>
              </a:rPr>
              <a:t>  time = </a:t>
            </a:r>
            <a:r>
              <a:rPr lang="en-US" sz="1600" b="0" i="0" dirty="0" err="1">
                <a:solidFill>
                  <a:schemeClr val="tx1"/>
                </a:solidFill>
                <a:effectLst/>
                <a:latin typeface="Courier New" panose="02070309020205020404" pitchFamily="49" charset="0"/>
                <a:cs typeface="Courier New" panose="02070309020205020404" pitchFamily="49" charset="0"/>
              </a:rPr>
              <a:t>re.findall</a:t>
            </a:r>
            <a:r>
              <a:rPr lang="en-US" sz="1600" b="0" i="0" dirty="0">
                <a:solidFill>
                  <a:schemeClr val="tx1"/>
                </a:solidFill>
                <a:effectLst/>
                <a:latin typeface="Courier New" panose="02070309020205020404" pitchFamily="49" charset="0"/>
                <a:cs typeface="Courier New" panose="02070309020205020404" pitchFamily="49" charset="0"/>
              </a:rPr>
              <a:t>(</a:t>
            </a:r>
            <a:r>
              <a:rPr lang="en-US" sz="1600" b="0" i="0" dirty="0" err="1">
                <a:solidFill>
                  <a:schemeClr val="tx1"/>
                </a:solidFill>
                <a:effectLst/>
                <a:latin typeface="Courier New" panose="02070309020205020404" pitchFamily="49" charset="0"/>
                <a:cs typeface="Courier New" panose="02070309020205020404" pitchFamily="49" charset="0"/>
              </a:rPr>
              <a:t>time_pattern</a:t>
            </a:r>
            <a:r>
              <a:rPr lang="en-US" sz="1600" b="0" i="0" dirty="0">
                <a:solidFill>
                  <a:schemeClr val="tx1"/>
                </a:solidFill>
                <a:effectLst/>
                <a:latin typeface="Courier New" panose="02070309020205020404" pitchFamily="49" charset="0"/>
                <a:cs typeface="Courier New" panose="02070309020205020404" pitchFamily="49" charset="0"/>
              </a:rPr>
              <a:t>, sentence, </a:t>
            </a:r>
            <a:r>
              <a:rPr lang="en-US" sz="1600" b="0" i="0" dirty="0" err="1">
                <a:solidFill>
                  <a:schemeClr val="tx1"/>
                </a:solidFill>
                <a:effectLst/>
                <a:latin typeface="Courier New" panose="02070309020205020404" pitchFamily="49" charset="0"/>
                <a:cs typeface="Courier New" panose="02070309020205020404" pitchFamily="49" charset="0"/>
              </a:rPr>
              <a:t>re.IGNORECASE</a:t>
            </a:r>
            <a:r>
              <a:rPr lang="en-US" sz="1600" b="0" i="0" dirty="0">
                <a:solidFill>
                  <a:schemeClr val="tx1"/>
                </a:solidFill>
                <a:effectLst/>
                <a:latin typeface="Courier New" panose="02070309020205020404" pitchFamily="49" charset="0"/>
                <a:cs typeface="Courier New" panose="02070309020205020404" pitchFamily="49" charset="0"/>
              </a:rPr>
              <a:t>)</a:t>
            </a:r>
          </a:p>
          <a:p>
            <a:r>
              <a:rPr lang="en-US" sz="1600" b="0" i="0" dirty="0">
                <a:solidFill>
                  <a:schemeClr val="tx1"/>
                </a:solidFill>
                <a:effectLst/>
                <a:latin typeface="Courier New" panose="02070309020205020404" pitchFamily="49" charset="0"/>
                <a:cs typeface="Courier New" panose="02070309020205020404" pitchFamily="49" charset="0"/>
              </a:rPr>
              <a:t>  if time is not None:</a:t>
            </a:r>
          </a:p>
          <a:p>
            <a:r>
              <a:rPr lang="en-US" sz="1600" b="0" i="0" dirty="0">
                <a:solidFill>
                  <a:schemeClr val="tx1"/>
                </a:solidFill>
                <a:effectLst/>
                <a:latin typeface="Courier New" panose="02070309020205020404" pitchFamily="49" charset="0"/>
                <a:cs typeface="Courier New" panose="02070309020205020404" pitchFamily="49" charset="0"/>
              </a:rPr>
              <a:t>    print(sentence)</a:t>
            </a:r>
          </a:p>
          <a:p>
            <a:r>
              <a:rPr lang="en-US" sz="1600" b="0" i="0" dirty="0">
                <a:solidFill>
                  <a:schemeClr val="tx1"/>
                </a:solidFill>
                <a:effectLst/>
                <a:latin typeface="Courier New" panose="02070309020205020404" pitchFamily="49" charset="0"/>
                <a:cs typeface="Courier New" panose="02070309020205020404" pitchFamily="49" charset="0"/>
              </a:rPr>
              <a:t>    if "sehri" in sentence:</a:t>
            </a:r>
          </a:p>
          <a:p>
            <a:r>
              <a:rPr lang="en-US" sz="1600" b="0" i="0" dirty="0">
                <a:solidFill>
                  <a:schemeClr val="tx1"/>
                </a:solidFill>
                <a:effectLst/>
                <a:latin typeface="Courier New" panose="02070309020205020404" pitchFamily="49" charset="0"/>
                <a:cs typeface="Courier New" panose="02070309020205020404" pitchFamily="49" charset="0"/>
              </a:rPr>
              <a:t>      print("Sehri: ", time[0])</a:t>
            </a:r>
          </a:p>
          <a:p>
            <a:r>
              <a:rPr lang="en-US" sz="1600" b="0" i="0" dirty="0">
                <a:solidFill>
                  <a:schemeClr val="tx1"/>
                </a:solidFill>
                <a:effectLst/>
                <a:latin typeface="Courier New" panose="02070309020205020404" pitchFamily="49" charset="0"/>
                <a:cs typeface="Courier New" panose="02070309020205020404" pitchFamily="49" charset="0"/>
              </a:rPr>
              <a:t>    </a:t>
            </a:r>
            <a:r>
              <a:rPr lang="en-US" sz="1600" b="0" i="0" dirty="0" err="1">
                <a:solidFill>
                  <a:schemeClr val="tx1"/>
                </a:solidFill>
                <a:effectLst/>
                <a:latin typeface="Courier New" panose="02070309020205020404" pitchFamily="49" charset="0"/>
                <a:cs typeface="Courier New" panose="02070309020205020404" pitchFamily="49" charset="0"/>
              </a:rPr>
              <a:t>elif</a:t>
            </a:r>
            <a:r>
              <a:rPr lang="en-US" sz="1600" b="0" i="0" dirty="0">
                <a:solidFill>
                  <a:schemeClr val="tx1"/>
                </a:solidFill>
                <a:effectLst/>
                <a:latin typeface="Courier New" panose="02070309020205020404" pitchFamily="49" charset="0"/>
                <a:cs typeface="Courier New" panose="02070309020205020404" pitchFamily="49" charset="0"/>
              </a:rPr>
              <a:t> "iftar" in sentence:</a:t>
            </a:r>
          </a:p>
          <a:p>
            <a:r>
              <a:rPr lang="en-US" sz="1600" b="0" i="0" dirty="0">
                <a:solidFill>
                  <a:schemeClr val="tx1"/>
                </a:solidFill>
                <a:effectLst/>
                <a:latin typeface="Courier New" panose="02070309020205020404" pitchFamily="49" charset="0"/>
                <a:cs typeface="Courier New" panose="02070309020205020404" pitchFamily="49" charset="0"/>
              </a:rPr>
              <a:t>      print("</a:t>
            </a:r>
            <a:r>
              <a:rPr lang="en-US" sz="1600" b="0" i="0" dirty="0" err="1">
                <a:solidFill>
                  <a:schemeClr val="tx1"/>
                </a:solidFill>
                <a:effectLst/>
                <a:latin typeface="Courier New" panose="02070309020205020404" pitchFamily="49" charset="0"/>
                <a:cs typeface="Courier New" panose="02070309020205020404" pitchFamily="49" charset="0"/>
              </a:rPr>
              <a:t>Ifter</a:t>
            </a:r>
            <a:r>
              <a:rPr lang="en-US" sz="1600" b="0" i="0" dirty="0">
                <a:solidFill>
                  <a:schemeClr val="tx1"/>
                </a:solidFill>
                <a:effectLst/>
                <a:latin typeface="Courier New" panose="02070309020205020404" pitchFamily="49" charset="0"/>
                <a:cs typeface="Courier New" panose="02070309020205020404" pitchFamily="49" charset="0"/>
              </a:rPr>
              <a:t>: ", time[0])</a:t>
            </a:r>
          </a:p>
          <a:p>
            <a:r>
              <a:rPr lang="en-US" sz="1600" b="0" i="0" dirty="0">
                <a:solidFill>
                  <a:schemeClr val="tx1"/>
                </a:solidFill>
                <a:effectLst/>
                <a:latin typeface="Courier New" panose="02070309020205020404" pitchFamily="49" charset="0"/>
                <a:cs typeface="Courier New" panose="02070309020205020404" pitchFamily="49" charset="0"/>
              </a:rPr>
              <a:t>    else:</a:t>
            </a:r>
          </a:p>
          <a:p>
            <a:r>
              <a:rPr lang="en-US" sz="1600" b="0" i="0" dirty="0">
                <a:solidFill>
                  <a:schemeClr val="tx1"/>
                </a:solidFill>
                <a:effectLst/>
                <a:latin typeface="Courier New" panose="02070309020205020404" pitchFamily="49" charset="0"/>
                <a:cs typeface="Courier New" panose="02070309020205020404" pitchFamily="49" charset="0"/>
              </a:rPr>
              <a:t>      print("Unknown: ", time[0])</a:t>
            </a:r>
            <a:endParaRPr lang="en-AU" sz="1600" dirty="0">
              <a:solidFill>
                <a:schemeClr val="tx1"/>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7206146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7C659-A14C-148D-6A9B-9D43DDC42D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558390-430F-10A3-0A51-F6785EE9399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6B562B7-4CCE-4CA4-9D85-F85E9A3AFA71}"/>
              </a:ext>
            </a:extLst>
          </p:cNvPr>
          <p:cNvSpPr>
            <a:spLocks noGrp="1"/>
          </p:cNvSpPr>
          <p:nvPr>
            <p:ph idx="1"/>
          </p:nvPr>
        </p:nvSpPr>
        <p:spPr/>
        <p:txBody>
          <a:bodyPr/>
          <a:lstStyle/>
          <a:p>
            <a:endParaRPr lang="en-US"/>
          </a:p>
        </p:txBody>
      </p:sp>
      <p:sp>
        <p:nvSpPr>
          <p:cNvPr id="4" name="Rectangle 3">
            <a:extLst>
              <a:ext uri="{FF2B5EF4-FFF2-40B4-BE49-F238E27FC236}">
                <a16:creationId xmlns:a16="http://schemas.microsoft.com/office/drawing/2014/main" id="{C2A87F05-2959-64F0-ED90-8292166BA026}"/>
              </a:ext>
            </a:extLst>
          </p:cNvPr>
          <p:cNvSpPr/>
          <p:nvPr/>
        </p:nvSpPr>
        <p:spPr>
          <a:xfrm>
            <a:off x="228600" y="209550"/>
            <a:ext cx="4227342" cy="32766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sz="1600" b="0" i="0" dirty="0">
                <a:solidFill>
                  <a:schemeClr val="tx1"/>
                </a:solidFill>
                <a:effectLst/>
                <a:latin typeface="Courier New" panose="02070309020205020404" pitchFamily="49" charset="0"/>
                <a:cs typeface="Courier New" panose="02070309020205020404" pitchFamily="49" charset="0"/>
              </a:rPr>
              <a:t>import re</a:t>
            </a:r>
          </a:p>
          <a:p>
            <a:endParaRPr lang="en-US" sz="1600" b="0" i="0" dirty="0">
              <a:solidFill>
                <a:schemeClr val="tx1"/>
              </a:solidFill>
              <a:effectLst/>
              <a:latin typeface="Courier New" panose="02070309020205020404" pitchFamily="49" charset="0"/>
              <a:cs typeface="Courier New" panose="02070309020205020404" pitchFamily="49" charset="0"/>
            </a:endParaRPr>
          </a:p>
          <a:p>
            <a:r>
              <a:rPr lang="en-US" sz="1600" b="0" i="0" dirty="0">
                <a:solidFill>
                  <a:schemeClr val="tx1"/>
                </a:solidFill>
                <a:effectLst/>
                <a:latin typeface="Courier New" panose="02070309020205020404" pitchFamily="49" charset="0"/>
                <a:cs typeface="Courier New" panose="02070309020205020404" pitchFamily="49" charset="0"/>
              </a:rPr>
              <a:t>text = ‘Today Sehri time in Dhaka is 05:03 am. Today Iftar time in Dhaka is 6:03 PM.’</a:t>
            </a:r>
          </a:p>
          <a:p>
            <a:endParaRPr lang="en-US" sz="1600" b="0" i="0" dirty="0">
              <a:solidFill>
                <a:schemeClr val="tx1"/>
              </a:solidFill>
              <a:effectLst/>
              <a:latin typeface="Courier New" panose="02070309020205020404" pitchFamily="49" charset="0"/>
              <a:cs typeface="Courier New" panose="02070309020205020404" pitchFamily="49" charset="0"/>
            </a:endParaRPr>
          </a:p>
          <a:p>
            <a:r>
              <a:rPr lang="en-US" sz="1600" b="0" i="0" dirty="0">
                <a:solidFill>
                  <a:schemeClr val="tx1"/>
                </a:solidFill>
                <a:effectLst/>
                <a:latin typeface="Courier New" panose="02070309020205020404" pitchFamily="49" charset="0"/>
                <a:cs typeface="Courier New" panose="02070309020205020404" pitchFamily="49" charset="0"/>
              </a:rPr>
              <a:t>text = </a:t>
            </a:r>
            <a:r>
              <a:rPr lang="en-US" sz="1600" b="0" i="0" dirty="0" err="1">
                <a:solidFill>
                  <a:schemeClr val="tx1"/>
                </a:solidFill>
                <a:effectLst/>
                <a:latin typeface="Courier New" panose="02070309020205020404" pitchFamily="49" charset="0"/>
                <a:cs typeface="Courier New" panose="02070309020205020404" pitchFamily="49" charset="0"/>
              </a:rPr>
              <a:t>text.lower</a:t>
            </a:r>
            <a:r>
              <a:rPr lang="en-US" sz="1600" b="0" i="0" dirty="0">
                <a:solidFill>
                  <a:schemeClr val="tx1"/>
                </a:solidFill>
                <a:effectLst/>
                <a:latin typeface="Courier New" panose="02070309020205020404" pitchFamily="49" charset="0"/>
                <a:cs typeface="Courier New" panose="02070309020205020404" pitchFamily="49" charset="0"/>
              </a:rPr>
              <a:t>()</a:t>
            </a:r>
          </a:p>
          <a:p>
            <a:r>
              <a:rPr lang="en-US" sz="1600" b="0" i="0" dirty="0" err="1">
                <a:solidFill>
                  <a:schemeClr val="tx1"/>
                </a:solidFill>
                <a:effectLst/>
                <a:latin typeface="Courier New" panose="02070309020205020404" pitchFamily="49" charset="0"/>
                <a:cs typeface="Courier New" panose="02070309020205020404" pitchFamily="49" charset="0"/>
              </a:rPr>
              <a:t>sentence_pattern</a:t>
            </a:r>
            <a:r>
              <a:rPr lang="en-US" sz="1600" b="0" i="0" dirty="0">
                <a:solidFill>
                  <a:schemeClr val="tx1"/>
                </a:solidFill>
                <a:effectLst/>
                <a:latin typeface="Courier New" panose="02070309020205020404" pitchFamily="49" charset="0"/>
                <a:cs typeface="Courier New" panose="02070309020205020404" pitchFamily="49" charset="0"/>
              </a:rPr>
              <a:t> = r"[.]"</a:t>
            </a:r>
          </a:p>
          <a:p>
            <a:r>
              <a:rPr lang="en-US" sz="1600" b="0" i="0" dirty="0" err="1">
                <a:solidFill>
                  <a:schemeClr val="tx1"/>
                </a:solidFill>
                <a:effectLst/>
                <a:latin typeface="Courier New" panose="02070309020205020404" pitchFamily="49" charset="0"/>
                <a:cs typeface="Courier New" panose="02070309020205020404" pitchFamily="49" charset="0"/>
              </a:rPr>
              <a:t>sentence_list</a:t>
            </a:r>
            <a:r>
              <a:rPr lang="en-US" sz="1600" b="0" i="0" dirty="0">
                <a:solidFill>
                  <a:schemeClr val="tx1"/>
                </a:solidFill>
                <a:effectLst/>
                <a:latin typeface="Courier New" panose="02070309020205020404" pitchFamily="49" charset="0"/>
                <a:cs typeface="Courier New" panose="02070309020205020404" pitchFamily="49" charset="0"/>
              </a:rPr>
              <a:t> = </a:t>
            </a:r>
            <a:r>
              <a:rPr lang="en-US" sz="1600" b="0" i="0" dirty="0" err="1">
                <a:solidFill>
                  <a:schemeClr val="tx1"/>
                </a:solidFill>
                <a:effectLst/>
                <a:latin typeface="Courier New" panose="02070309020205020404" pitchFamily="49" charset="0"/>
                <a:cs typeface="Courier New" panose="02070309020205020404" pitchFamily="49" charset="0"/>
              </a:rPr>
              <a:t>re.split</a:t>
            </a:r>
            <a:r>
              <a:rPr lang="en-US" sz="1600" b="0" i="0" dirty="0">
                <a:solidFill>
                  <a:schemeClr val="tx1"/>
                </a:solidFill>
                <a:effectLst/>
                <a:latin typeface="Courier New" panose="02070309020205020404" pitchFamily="49" charset="0"/>
                <a:cs typeface="Courier New" panose="02070309020205020404" pitchFamily="49" charset="0"/>
              </a:rPr>
              <a:t>(</a:t>
            </a:r>
            <a:r>
              <a:rPr lang="en-US" sz="1600" b="0" i="0" dirty="0" err="1">
                <a:solidFill>
                  <a:schemeClr val="tx1"/>
                </a:solidFill>
                <a:effectLst/>
                <a:latin typeface="Courier New" panose="02070309020205020404" pitchFamily="49" charset="0"/>
                <a:cs typeface="Courier New" panose="02070309020205020404" pitchFamily="49" charset="0"/>
              </a:rPr>
              <a:t>sentence_pattern</a:t>
            </a:r>
            <a:r>
              <a:rPr lang="en-US" sz="1600" b="0" i="0" dirty="0">
                <a:solidFill>
                  <a:schemeClr val="tx1"/>
                </a:solidFill>
                <a:effectLst/>
                <a:latin typeface="Courier New" panose="02070309020205020404" pitchFamily="49" charset="0"/>
                <a:cs typeface="Courier New" panose="02070309020205020404" pitchFamily="49" charset="0"/>
              </a:rPr>
              <a:t>, text)</a:t>
            </a:r>
          </a:p>
          <a:p>
            <a:r>
              <a:rPr lang="en-US" sz="1600" b="0" i="0" dirty="0" err="1">
                <a:solidFill>
                  <a:schemeClr val="tx1"/>
                </a:solidFill>
                <a:effectLst/>
                <a:latin typeface="Courier New" panose="02070309020205020404" pitchFamily="49" charset="0"/>
                <a:cs typeface="Courier New" panose="02070309020205020404" pitchFamily="49" charset="0"/>
              </a:rPr>
              <a:t>sentence_list.remove</a:t>
            </a:r>
            <a:r>
              <a:rPr lang="en-US" sz="1600" b="0" i="0" dirty="0">
                <a:solidFill>
                  <a:schemeClr val="tx1"/>
                </a:solidFill>
                <a:effectLst/>
                <a:latin typeface="Courier New" panose="02070309020205020404" pitchFamily="49" charset="0"/>
                <a:cs typeface="Courier New" panose="02070309020205020404" pitchFamily="49" charset="0"/>
              </a:rPr>
              <a:t>('')</a:t>
            </a:r>
          </a:p>
          <a:p>
            <a:r>
              <a:rPr lang="en-US" sz="1600" b="0" i="0" dirty="0">
                <a:solidFill>
                  <a:schemeClr val="tx1"/>
                </a:solidFill>
                <a:effectLst/>
                <a:latin typeface="Courier New" panose="02070309020205020404" pitchFamily="49" charset="0"/>
                <a:cs typeface="Courier New" panose="02070309020205020404" pitchFamily="49" charset="0"/>
              </a:rPr>
              <a:t>print(</a:t>
            </a:r>
            <a:r>
              <a:rPr lang="en-US" sz="1600" b="0" i="0" dirty="0" err="1">
                <a:solidFill>
                  <a:schemeClr val="tx1"/>
                </a:solidFill>
                <a:effectLst/>
                <a:latin typeface="Courier New" panose="02070309020205020404" pitchFamily="49" charset="0"/>
                <a:cs typeface="Courier New" panose="02070309020205020404" pitchFamily="49" charset="0"/>
              </a:rPr>
              <a:t>sentence_list</a:t>
            </a:r>
            <a:r>
              <a:rPr lang="en-US" sz="1600" b="0" i="0" dirty="0">
                <a:solidFill>
                  <a:schemeClr val="tx1"/>
                </a:solidFill>
                <a:effectLst/>
                <a:latin typeface="Courier New" panose="02070309020205020404" pitchFamily="49" charset="0"/>
                <a:cs typeface="Courier New" panose="02070309020205020404" pitchFamily="49" charset="0"/>
              </a:rPr>
              <a:t>)</a:t>
            </a:r>
          </a:p>
          <a:p>
            <a:endParaRPr lang="en-US" sz="1600" b="0" i="0" dirty="0">
              <a:solidFill>
                <a:schemeClr val="tx1"/>
              </a:solidFill>
              <a:effectLst/>
              <a:latin typeface="Courier New" panose="02070309020205020404" pitchFamily="49" charset="0"/>
              <a:cs typeface="Courier New" panose="02070309020205020404" pitchFamily="49" charset="0"/>
            </a:endParaRPr>
          </a:p>
        </p:txBody>
      </p:sp>
      <p:sp>
        <p:nvSpPr>
          <p:cNvPr id="5" name="Rectangle 4">
            <a:extLst>
              <a:ext uri="{FF2B5EF4-FFF2-40B4-BE49-F238E27FC236}">
                <a16:creationId xmlns:a16="http://schemas.microsoft.com/office/drawing/2014/main" id="{5C25DFED-FA29-B139-C50F-DFB9F16ED4C1}"/>
              </a:ext>
            </a:extLst>
          </p:cNvPr>
          <p:cNvSpPr/>
          <p:nvPr/>
        </p:nvSpPr>
        <p:spPr>
          <a:xfrm>
            <a:off x="4556760" y="209550"/>
            <a:ext cx="4358640" cy="32766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sz="1600" b="0" i="0" dirty="0">
                <a:solidFill>
                  <a:schemeClr val="tx1"/>
                </a:solidFill>
                <a:effectLst/>
                <a:latin typeface="Courier New" panose="02070309020205020404" pitchFamily="49" charset="0"/>
                <a:cs typeface="Courier New" panose="02070309020205020404" pitchFamily="49" charset="0"/>
              </a:rPr>
              <a:t>for sentence in </a:t>
            </a:r>
            <a:r>
              <a:rPr lang="en-US" sz="1600" b="0" i="0" dirty="0" err="1">
                <a:solidFill>
                  <a:schemeClr val="tx1"/>
                </a:solidFill>
                <a:effectLst/>
                <a:latin typeface="Courier New" panose="02070309020205020404" pitchFamily="49" charset="0"/>
                <a:cs typeface="Courier New" panose="02070309020205020404" pitchFamily="49" charset="0"/>
              </a:rPr>
              <a:t>sentence_list</a:t>
            </a:r>
            <a:r>
              <a:rPr lang="en-US" sz="1600" b="0" i="0" dirty="0">
                <a:solidFill>
                  <a:schemeClr val="tx1"/>
                </a:solidFill>
                <a:effectLst/>
                <a:latin typeface="Courier New" panose="02070309020205020404" pitchFamily="49" charset="0"/>
                <a:cs typeface="Courier New" panose="02070309020205020404" pitchFamily="49" charset="0"/>
              </a:rPr>
              <a:t>:</a:t>
            </a:r>
          </a:p>
          <a:p>
            <a:r>
              <a:rPr lang="en-US" sz="1600" b="0" i="0" dirty="0">
                <a:solidFill>
                  <a:schemeClr val="tx1"/>
                </a:solidFill>
                <a:effectLst/>
                <a:latin typeface="Courier New" panose="02070309020205020404" pitchFamily="49" charset="0"/>
                <a:cs typeface="Courier New" panose="02070309020205020404" pitchFamily="49" charset="0"/>
              </a:rPr>
              <a:t>  sentence = </a:t>
            </a:r>
            <a:r>
              <a:rPr lang="en-US" sz="1600" b="0" i="0" dirty="0" err="1">
                <a:solidFill>
                  <a:schemeClr val="tx1"/>
                </a:solidFill>
                <a:effectLst/>
                <a:latin typeface="Courier New" panose="02070309020205020404" pitchFamily="49" charset="0"/>
                <a:cs typeface="Courier New" panose="02070309020205020404" pitchFamily="49" charset="0"/>
              </a:rPr>
              <a:t>sentence.strip</a:t>
            </a:r>
            <a:r>
              <a:rPr lang="en-US" sz="1600" b="0" i="0" dirty="0">
                <a:solidFill>
                  <a:schemeClr val="tx1"/>
                </a:solidFill>
                <a:effectLst/>
                <a:latin typeface="Courier New" panose="02070309020205020404" pitchFamily="49" charset="0"/>
                <a:cs typeface="Courier New" panose="02070309020205020404" pitchFamily="49" charset="0"/>
              </a:rPr>
              <a:t>()</a:t>
            </a:r>
          </a:p>
          <a:p>
            <a:r>
              <a:rPr lang="en-US" sz="1600" b="0" i="0" dirty="0">
                <a:solidFill>
                  <a:schemeClr val="tx1"/>
                </a:solidFill>
                <a:effectLst/>
                <a:latin typeface="Courier New" panose="02070309020205020404" pitchFamily="49" charset="0"/>
                <a:cs typeface="Courier New" panose="02070309020205020404" pitchFamily="49" charset="0"/>
              </a:rPr>
              <a:t>  </a:t>
            </a:r>
            <a:r>
              <a:rPr lang="en-US" sz="1600" b="0" i="0" dirty="0" err="1">
                <a:solidFill>
                  <a:schemeClr val="tx1"/>
                </a:solidFill>
                <a:effectLst/>
                <a:latin typeface="Courier New" panose="02070309020205020404" pitchFamily="49" charset="0"/>
                <a:cs typeface="Courier New" panose="02070309020205020404" pitchFamily="49" charset="0"/>
              </a:rPr>
              <a:t>time_pattern</a:t>
            </a:r>
            <a:r>
              <a:rPr lang="en-US" sz="1600" b="0" i="0" dirty="0">
                <a:solidFill>
                  <a:schemeClr val="tx1"/>
                </a:solidFill>
                <a:effectLst/>
                <a:latin typeface="Courier New" panose="02070309020205020404" pitchFamily="49" charset="0"/>
                <a:cs typeface="Courier New" panose="02070309020205020404" pitchFamily="49" charset="0"/>
              </a:rPr>
              <a:t> = r"\d+:\d+ [ap]m"</a:t>
            </a:r>
          </a:p>
          <a:p>
            <a:r>
              <a:rPr lang="en-US" sz="1600" b="0" i="0" dirty="0">
                <a:solidFill>
                  <a:schemeClr val="tx1"/>
                </a:solidFill>
                <a:effectLst/>
                <a:latin typeface="Courier New" panose="02070309020205020404" pitchFamily="49" charset="0"/>
                <a:cs typeface="Courier New" panose="02070309020205020404" pitchFamily="49" charset="0"/>
              </a:rPr>
              <a:t>  time = </a:t>
            </a:r>
            <a:r>
              <a:rPr lang="en-US" sz="1600" b="0" i="0" dirty="0" err="1">
                <a:solidFill>
                  <a:schemeClr val="tx1"/>
                </a:solidFill>
                <a:effectLst/>
                <a:latin typeface="Courier New" panose="02070309020205020404" pitchFamily="49" charset="0"/>
                <a:cs typeface="Courier New" panose="02070309020205020404" pitchFamily="49" charset="0"/>
              </a:rPr>
              <a:t>re.findall</a:t>
            </a:r>
            <a:r>
              <a:rPr lang="en-US" sz="1600" b="0" i="0" dirty="0">
                <a:solidFill>
                  <a:schemeClr val="tx1"/>
                </a:solidFill>
                <a:effectLst/>
                <a:latin typeface="Courier New" panose="02070309020205020404" pitchFamily="49" charset="0"/>
                <a:cs typeface="Courier New" panose="02070309020205020404" pitchFamily="49" charset="0"/>
              </a:rPr>
              <a:t>(</a:t>
            </a:r>
            <a:r>
              <a:rPr lang="en-US" sz="1600" b="0" i="0" dirty="0" err="1">
                <a:solidFill>
                  <a:schemeClr val="tx1"/>
                </a:solidFill>
                <a:effectLst/>
                <a:latin typeface="Courier New" panose="02070309020205020404" pitchFamily="49" charset="0"/>
                <a:cs typeface="Courier New" panose="02070309020205020404" pitchFamily="49" charset="0"/>
              </a:rPr>
              <a:t>time_pattern</a:t>
            </a:r>
            <a:r>
              <a:rPr lang="en-US" sz="1600" b="0" i="0" dirty="0">
                <a:solidFill>
                  <a:schemeClr val="tx1"/>
                </a:solidFill>
                <a:effectLst/>
                <a:latin typeface="Courier New" panose="02070309020205020404" pitchFamily="49" charset="0"/>
                <a:cs typeface="Courier New" panose="02070309020205020404" pitchFamily="49" charset="0"/>
              </a:rPr>
              <a:t>, sentence, </a:t>
            </a:r>
            <a:r>
              <a:rPr lang="en-US" sz="1600" b="0" i="0" dirty="0" err="1">
                <a:solidFill>
                  <a:schemeClr val="tx1"/>
                </a:solidFill>
                <a:effectLst/>
                <a:latin typeface="Courier New" panose="02070309020205020404" pitchFamily="49" charset="0"/>
                <a:cs typeface="Courier New" panose="02070309020205020404" pitchFamily="49" charset="0"/>
              </a:rPr>
              <a:t>re.IGNORECASE</a:t>
            </a:r>
            <a:r>
              <a:rPr lang="en-US" sz="1600" b="0" i="0" dirty="0">
                <a:solidFill>
                  <a:schemeClr val="tx1"/>
                </a:solidFill>
                <a:effectLst/>
                <a:latin typeface="Courier New" panose="02070309020205020404" pitchFamily="49" charset="0"/>
                <a:cs typeface="Courier New" panose="02070309020205020404" pitchFamily="49" charset="0"/>
              </a:rPr>
              <a:t>)</a:t>
            </a:r>
          </a:p>
          <a:p>
            <a:r>
              <a:rPr lang="en-US" sz="1600" b="0" i="0" dirty="0">
                <a:solidFill>
                  <a:schemeClr val="tx1"/>
                </a:solidFill>
                <a:effectLst/>
                <a:latin typeface="Courier New" panose="02070309020205020404" pitchFamily="49" charset="0"/>
                <a:cs typeface="Courier New" panose="02070309020205020404" pitchFamily="49" charset="0"/>
              </a:rPr>
              <a:t>  if time is not None:</a:t>
            </a:r>
          </a:p>
          <a:p>
            <a:r>
              <a:rPr lang="en-US" sz="1600" b="0" i="0" dirty="0">
                <a:solidFill>
                  <a:schemeClr val="tx1"/>
                </a:solidFill>
                <a:effectLst/>
                <a:latin typeface="Courier New" panose="02070309020205020404" pitchFamily="49" charset="0"/>
                <a:cs typeface="Courier New" panose="02070309020205020404" pitchFamily="49" charset="0"/>
              </a:rPr>
              <a:t>    print(sentence)</a:t>
            </a:r>
          </a:p>
          <a:p>
            <a:r>
              <a:rPr lang="en-US" sz="1600" b="0" i="0" dirty="0">
                <a:solidFill>
                  <a:schemeClr val="tx1"/>
                </a:solidFill>
                <a:effectLst/>
                <a:latin typeface="Courier New" panose="02070309020205020404" pitchFamily="49" charset="0"/>
                <a:cs typeface="Courier New" panose="02070309020205020404" pitchFamily="49" charset="0"/>
              </a:rPr>
              <a:t>    if "sehri" in sentence:</a:t>
            </a:r>
          </a:p>
          <a:p>
            <a:r>
              <a:rPr lang="en-US" sz="1600" b="0" i="0" dirty="0">
                <a:solidFill>
                  <a:schemeClr val="tx1"/>
                </a:solidFill>
                <a:effectLst/>
                <a:latin typeface="Courier New" panose="02070309020205020404" pitchFamily="49" charset="0"/>
                <a:cs typeface="Courier New" panose="02070309020205020404" pitchFamily="49" charset="0"/>
              </a:rPr>
              <a:t>      print("Sehri: ", time[0])</a:t>
            </a:r>
          </a:p>
          <a:p>
            <a:r>
              <a:rPr lang="en-US" sz="1600" b="0" i="0" dirty="0">
                <a:solidFill>
                  <a:schemeClr val="tx1"/>
                </a:solidFill>
                <a:effectLst/>
                <a:latin typeface="Courier New" panose="02070309020205020404" pitchFamily="49" charset="0"/>
                <a:cs typeface="Courier New" panose="02070309020205020404" pitchFamily="49" charset="0"/>
              </a:rPr>
              <a:t>    </a:t>
            </a:r>
            <a:r>
              <a:rPr lang="en-US" sz="1600" b="0" i="0" dirty="0" err="1">
                <a:solidFill>
                  <a:schemeClr val="tx1"/>
                </a:solidFill>
                <a:effectLst/>
                <a:latin typeface="Courier New" panose="02070309020205020404" pitchFamily="49" charset="0"/>
                <a:cs typeface="Courier New" panose="02070309020205020404" pitchFamily="49" charset="0"/>
              </a:rPr>
              <a:t>elif</a:t>
            </a:r>
            <a:r>
              <a:rPr lang="en-US" sz="1600" b="0" i="0" dirty="0">
                <a:solidFill>
                  <a:schemeClr val="tx1"/>
                </a:solidFill>
                <a:effectLst/>
                <a:latin typeface="Courier New" panose="02070309020205020404" pitchFamily="49" charset="0"/>
                <a:cs typeface="Courier New" panose="02070309020205020404" pitchFamily="49" charset="0"/>
              </a:rPr>
              <a:t> "iftar" in sentence:</a:t>
            </a:r>
          </a:p>
          <a:p>
            <a:r>
              <a:rPr lang="en-US" sz="1600" b="0" i="0" dirty="0">
                <a:solidFill>
                  <a:schemeClr val="tx1"/>
                </a:solidFill>
                <a:effectLst/>
                <a:latin typeface="Courier New" panose="02070309020205020404" pitchFamily="49" charset="0"/>
                <a:cs typeface="Courier New" panose="02070309020205020404" pitchFamily="49" charset="0"/>
              </a:rPr>
              <a:t>      print("</a:t>
            </a:r>
            <a:r>
              <a:rPr lang="en-US" sz="1600" b="0" i="0" dirty="0" err="1">
                <a:solidFill>
                  <a:schemeClr val="tx1"/>
                </a:solidFill>
                <a:effectLst/>
                <a:latin typeface="Courier New" panose="02070309020205020404" pitchFamily="49" charset="0"/>
                <a:cs typeface="Courier New" panose="02070309020205020404" pitchFamily="49" charset="0"/>
              </a:rPr>
              <a:t>Ifter</a:t>
            </a:r>
            <a:r>
              <a:rPr lang="en-US" sz="1600" b="0" i="0" dirty="0">
                <a:solidFill>
                  <a:schemeClr val="tx1"/>
                </a:solidFill>
                <a:effectLst/>
                <a:latin typeface="Courier New" panose="02070309020205020404" pitchFamily="49" charset="0"/>
                <a:cs typeface="Courier New" panose="02070309020205020404" pitchFamily="49" charset="0"/>
              </a:rPr>
              <a:t>: ", time[0])</a:t>
            </a:r>
          </a:p>
          <a:p>
            <a:r>
              <a:rPr lang="en-US" sz="1600" b="0" i="0" dirty="0">
                <a:solidFill>
                  <a:schemeClr val="tx1"/>
                </a:solidFill>
                <a:effectLst/>
                <a:latin typeface="Courier New" panose="02070309020205020404" pitchFamily="49" charset="0"/>
                <a:cs typeface="Courier New" panose="02070309020205020404" pitchFamily="49" charset="0"/>
              </a:rPr>
              <a:t>    else:</a:t>
            </a:r>
          </a:p>
          <a:p>
            <a:r>
              <a:rPr lang="en-US" sz="1600" b="0" i="0" dirty="0">
                <a:solidFill>
                  <a:schemeClr val="tx1"/>
                </a:solidFill>
                <a:effectLst/>
                <a:latin typeface="Courier New" panose="02070309020205020404" pitchFamily="49" charset="0"/>
                <a:cs typeface="Courier New" panose="02070309020205020404" pitchFamily="49" charset="0"/>
              </a:rPr>
              <a:t>      print("Unknown: ", time[0])</a:t>
            </a:r>
            <a:endParaRPr lang="en-AU" sz="1600" dirty="0">
              <a:solidFill>
                <a:schemeClr val="tx1"/>
              </a:solidFill>
              <a:latin typeface="Courier New" panose="02070309020205020404" pitchFamily="49" charset="0"/>
              <a:cs typeface="Courier New" panose="02070309020205020404" pitchFamily="49" charset="0"/>
            </a:endParaRPr>
          </a:p>
        </p:txBody>
      </p:sp>
      <p:sp>
        <p:nvSpPr>
          <p:cNvPr id="6" name="Rectangle 5">
            <a:extLst>
              <a:ext uri="{FF2B5EF4-FFF2-40B4-BE49-F238E27FC236}">
                <a16:creationId xmlns:a16="http://schemas.microsoft.com/office/drawing/2014/main" id="{B65FB7BC-6AD4-0B4A-507F-65E6AD8EAB5B}"/>
              </a:ext>
            </a:extLst>
          </p:cNvPr>
          <p:cNvSpPr/>
          <p:nvPr/>
        </p:nvSpPr>
        <p:spPr>
          <a:xfrm>
            <a:off x="228600" y="3562350"/>
            <a:ext cx="8686800" cy="144779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AU" sz="1400" b="1" dirty="0">
                <a:solidFill>
                  <a:srgbClr val="0000FF"/>
                </a:solidFill>
                <a:latin typeface="Courier New" panose="02070309020205020404" pitchFamily="49" charset="0"/>
                <a:cs typeface="Courier New" panose="02070309020205020404" pitchFamily="49" charset="0"/>
              </a:rPr>
              <a:t>Output</a:t>
            </a:r>
            <a:r>
              <a:rPr lang="en-AU" sz="1400" dirty="0">
                <a:solidFill>
                  <a:schemeClr val="tx1"/>
                </a:solidFill>
                <a:latin typeface="Courier New" panose="02070309020205020404" pitchFamily="49" charset="0"/>
                <a:cs typeface="Courier New" panose="02070309020205020404" pitchFamily="49" charset="0"/>
              </a:rPr>
              <a:t> </a:t>
            </a:r>
          </a:p>
          <a:p>
            <a:r>
              <a:rPr lang="en-US" sz="1400" b="0" i="0" dirty="0">
                <a:solidFill>
                  <a:schemeClr val="tx1"/>
                </a:solidFill>
                <a:effectLst/>
                <a:latin typeface="Courier New" panose="02070309020205020404" pitchFamily="49" charset="0"/>
                <a:cs typeface="Courier New" panose="02070309020205020404" pitchFamily="49" charset="0"/>
              </a:rPr>
              <a:t>['today sehri time in </a:t>
            </a:r>
            <a:r>
              <a:rPr lang="en-US" sz="1400" b="0" i="0" dirty="0" err="1">
                <a:solidFill>
                  <a:schemeClr val="tx1"/>
                </a:solidFill>
                <a:effectLst/>
                <a:latin typeface="Courier New" panose="02070309020205020404" pitchFamily="49" charset="0"/>
                <a:cs typeface="Courier New" panose="02070309020205020404" pitchFamily="49" charset="0"/>
              </a:rPr>
              <a:t>dhaka</a:t>
            </a:r>
            <a:r>
              <a:rPr lang="en-US" sz="1400" b="0" i="0" dirty="0">
                <a:solidFill>
                  <a:schemeClr val="tx1"/>
                </a:solidFill>
                <a:effectLst/>
                <a:latin typeface="Courier New" panose="02070309020205020404" pitchFamily="49" charset="0"/>
                <a:cs typeface="Courier New" panose="02070309020205020404" pitchFamily="49" charset="0"/>
              </a:rPr>
              <a:t> is 05:03 am', ' today iftar time in </a:t>
            </a:r>
            <a:r>
              <a:rPr lang="en-US" sz="1400" b="0" i="0" dirty="0" err="1">
                <a:solidFill>
                  <a:schemeClr val="tx1"/>
                </a:solidFill>
                <a:effectLst/>
                <a:latin typeface="Courier New" panose="02070309020205020404" pitchFamily="49" charset="0"/>
                <a:cs typeface="Courier New" panose="02070309020205020404" pitchFamily="49" charset="0"/>
              </a:rPr>
              <a:t>dhaka</a:t>
            </a:r>
            <a:r>
              <a:rPr lang="en-US" sz="1400" b="0" i="0" dirty="0">
                <a:solidFill>
                  <a:schemeClr val="tx1"/>
                </a:solidFill>
                <a:effectLst/>
                <a:latin typeface="Courier New" panose="02070309020205020404" pitchFamily="49" charset="0"/>
                <a:cs typeface="Courier New" panose="02070309020205020404" pitchFamily="49" charset="0"/>
              </a:rPr>
              <a:t> is 6:03 pm']</a:t>
            </a:r>
          </a:p>
          <a:p>
            <a:r>
              <a:rPr lang="en-US" sz="1400" b="0" i="0" dirty="0">
                <a:solidFill>
                  <a:schemeClr val="tx1"/>
                </a:solidFill>
                <a:effectLst/>
                <a:latin typeface="Courier New" panose="02070309020205020404" pitchFamily="49" charset="0"/>
                <a:cs typeface="Courier New" panose="02070309020205020404" pitchFamily="49" charset="0"/>
              </a:rPr>
              <a:t>today sehri time in </a:t>
            </a:r>
            <a:r>
              <a:rPr lang="en-US" sz="1400" b="0" i="0" dirty="0" err="1">
                <a:solidFill>
                  <a:schemeClr val="tx1"/>
                </a:solidFill>
                <a:effectLst/>
                <a:latin typeface="Courier New" panose="02070309020205020404" pitchFamily="49" charset="0"/>
                <a:cs typeface="Courier New" panose="02070309020205020404" pitchFamily="49" charset="0"/>
              </a:rPr>
              <a:t>dhaka</a:t>
            </a:r>
            <a:r>
              <a:rPr lang="en-US" sz="1400" b="0" i="0" dirty="0">
                <a:solidFill>
                  <a:schemeClr val="tx1"/>
                </a:solidFill>
                <a:effectLst/>
                <a:latin typeface="Courier New" panose="02070309020205020404" pitchFamily="49" charset="0"/>
                <a:cs typeface="Courier New" panose="02070309020205020404" pitchFamily="49" charset="0"/>
              </a:rPr>
              <a:t> is 05:03 am</a:t>
            </a:r>
          </a:p>
          <a:p>
            <a:r>
              <a:rPr lang="en-US" sz="1400" b="0" i="0" dirty="0">
                <a:solidFill>
                  <a:schemeClr val="tx1"/>
                </a:solidFill>
                <a:effectLst/>
                <a:latin typeface="Courier New" panose="02070309020205020404" pitchFamily="49" charset="0"/>
                <a:cs typeface="Courier New" panose="02070309020205020404" pitchFamily="49" charset="0"/>
              </a:rPr>
              <a:t>Sehri:  05:03 am</a:t>
            </a:r>
          </a:p>
          <a:p>
            <a:r>
              <a:rPr lang="en-US" sz="1400" b="0" i="0" dirty="0">
                <a:solidFill>
                  <a:schemeClr val="tx1"/>
                </a:solidFill>
                <a:effectLst/>
                <a:latin typeface="Courier New" panose="02070309020205020404" pitchFamily="49" charset="0"/>
                <a:cs typeface="Courier New" panose="02070309020205020404" pitchFamily="49" charset="0"/>
              </a:rPr>
              <a:t>today iftar time in </a:t>
            </a:r>
            <a:r>
              <a:rPr lang="en-US" sz="1400" b="0" i="0" dirty="0" err="1">
                <a:solidFill>
                  <a:schemeClr val="tx1"/>
                </a:solidFill>
                <a:effectLst/>
                <a:latin typeface="Courier New" panose="02070309020205020404" pitchFamily="49" charset="0"/>
                <a:cs typeface="Courier New" panose="02070309020205020404" pitchFamily="49" charset="0"/>
              </a:rPr>
              <a:t>dhaka</a:t>
            </a:r>
            <a:r>
              <a:rPr lang="en-US" sz="1400" b="0" i="0" dirty="0">
                <a:solidFill>
                  <a:schemeClr val="tx1"/>
                </a:solidFill>
                <a:effectLst/>
                <a:latin typeface="Courier New" panose="02070309020205020404" pitchFamily="49" charset="0"/>
                <a:cs typeface="Courier New" panose="02070309020205020404" pitchFamily="49" charset="0"/>
              </a:rPr>
              <a:t> is 6:03 pm</a:t>
            </a:r>
          </a:p>
          <a:p>
            <a:r>
              <a:rPr lang="en-US" sz="1400" b="0" i="0" dirty="0" err="1">
                <a:solidFill>
                  <a:schemeClr val="tx1"/>
                </a:solidFill>
                <a:effectLst/>
                <a:latin typeface="Courier New" panose="02070309020205020404" pitchFamily="49" charset="0"/>
                <a:cs typeface="Courier New" panose="02070309020205020404" pitchFamily="49" charset="0"/>
              </a:rPr>
              <a:t>Ifter</a:t>
            </a:r>
            <a:r>
              <a:rPr lang="en-US" sz="1400" b="0" i="0" dirty="0">
                <a:solidFill>
                  <a:schemeClr val="tx1"/>
                </a:solidFill>
                <a:effectLst/>
                <a:latin typeface="Courier New" panose="02070309020205020404" pitchFamily="49" charset="0"/>
                <a:cs typeface="Courier New" panose="02070309020205020404" pitchFamily="49" charset="0"/>
              </a:rPr>
              <a:t>:  6:03 pm</a:t>
            </a:r>
          </a:p>
        </p:txBody>
      </p:sp>
    </p:spTree>
    <p:extLst>
      <p:ext uri="{BB962C8B-B14F-4D97-AF65-F5344CB8AC3E}">
        <p14:creationId xmlns:p14="http://schemas.microsoft.com/office/powerpoint/2010/main" val="41744157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A3739F-A1D6-3BAE-0033-1C557C0EBD5E}"/>
              </a:ext>
            </a:extLst>
          </p:cNvPr>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References</a:t>
            </a:r>
            <a:endParaRPr lang="en-AU" dirty="0"/>
          </a:p>
        </p:txBody>
      </p:sp>
      <p:sp>
        <p:nvSpPr>
          <p:cNvPr id="3" name="Content Placeholder 2">
            <a:extLst>
              <a:ext uri="{FF2B5EF4-FFF2-40B4-BE49-F238E27FC236}">
                <a16:creationId xmlns:a16="http://schemas.microsoft.com/office/drawing/2014/main" id="{46C7B734-F6F3-66ED-CBFC-A4D577776763}"/>
              </a:ext>
            </a:extLst>
          </p:cNvPr>
          <p:cNvSpPr>
            <a:spLocks noGrp="1"/>
          </p:cNvSpPr>
          <p:nvPr>
            <p:ph idx="1"/>
          </p:nvPr>
        </p:nvSpPr>
        <p:spPr/>
        <p:txBody>
          <a:bodyPr>
            <a:normAutofit/>
          </a:bodyPr>
          <a:lstStyle/>
          <a:p>
            <a:pPr algn="just">
              <a:buFont typeface="Wingdings" panose="05000000000000000000" pitchFamily="2" charset="2"/>
              <a:buChar char="§"/>
            </a:pPr>
            <a:r>
              <a:rPr lang="en-US" sz="2200" dirty="0"/>
              <a:t>Daniel </a:t>
            </a:r>
            <a:r>
              <a:rPr lang="en-US" sz="2200" dirty="0" err="1"/>
              <a:t>Jurafsky</a:t>
            </a:r>
            <a:r>
              <a:rPr lang="en-US" sz="2200" dirty="0"/>
              <a:t> and James H. Martin. 2024. Speech and Language Processing: An Introduction to Natural Language Processing, Computational Linguistics, and Speech Recognition with Language Models, 3rd edition.</a:t>
            </a:r>
            <a:endParaRPr lang="en-AU" sz="2200" dirty="0"/>
          </a:p>
        </p:txBody>
      </p:sp>
    </p:spTree>
    <p:extLst>
      <p:ext uri="{BB962C8B-B14F-4D97-AF65-F5344CB8AC3E}">
        <p14:creationId xmlns:p14="http://schemas.microsoft.com/office/powerpoint/2010/main" val="955525312"/>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14911</TotalTime>
  <Words>2551</Words>
  <Application>Microsoft Office PowerPoint</Application>
  <PresentationFormat>On-screen Show (16:9)</PresentationFormat>
  <Paragraphs>291</Paragraphs>
  <Slides>21</Slides>
  <Notes>13</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21</vt:i4>
      </vt:variant>
    </vt:vector>
  </HeadingPairs>
  <TitlesOfParts>
    <vt:vector size="34" baseType="lpstr">
      <vt:lpstr>Arial</vt:lpstr>
      <vt:lpstr>Calibri</vt:lpstr>
      <vt:lpstr>Calibri (Headings)</vt:lpstr>
      <vt:lpstr>Calibri Light</vt:lpstr>
      <vt:lpstr>Courier</vt:lpstr>
      <vt:lpstr>Courier New</vt:lpstr>
      <vt:lpstr>Lucida Sans</vt:lpstr>
      <vt:lpstr>Monaco</vt:lpstr>
      <vt:lpstr>Tahoma</vt:lpstr>
      <vt:lpstr>Times</vt:lpstr>
      <vt:lpstr>Times New Roman</vt:lpstr>
      <vt:lpstr>Wingdings</vt:lpstr>
      <vt:lpstr>Retrospect</vt:lpstr>
      <vt:lpstr>Basic Text Processing</vt:lpstr>
      <vt:lpstr>Regular expressions are used everywhere</vt:lpstr>
      <vt:lpstr>Regular expressions</vt:lpstr>
      <vt:lpstr>Regular Expressions: Disjunctions</vt:lpstr>
      <vt:lpstr>Regular Expressions: Negation in Disjunction</vt:lpstr>
      <vt:lpstr>Regular Expressions: Convenient aliases</vt:lpstr>
      <vt:lpstr>Regular Expressions: More Disjunction</vt:lpstr>
      <vt:lpstr>Wildcards, optionality, repetition: . ? * +</vt:lpstr>
      <vt:lpstr>Regular Expressions: Anchors  ^   $</vt:lpstr>
      <vt:lpstr>A note about Python regular expressions</vt:lpstr>
      <vt:lpstr>The iterative process of writing regex's</vt:lpstr>
      <vt:lpstr>False positives and false negatives</vt:lpstr>
      <vt:lpstr>Characterizing work on NLP</vt:lpstr>
      <vt:lpstr>Regular expressions play a surprisingly large role</vt:lpstr>
      <vt:lpstr>PowerPoint Presentation</vt:lpstr>
      <vt:lpstr>PowerPoint Presentation</vt:lpstr>
      <vt:lpstr>PowerPoint Presentation</vt:lpstr>
      <vt:lpstr>PowerPoint Presentation</vt:lpstr>
      <vt:lpstr>PowerPoint Presentation</vt:lpstr>
      <vt:lpstr>PowerPoint Presentation</vt:lpstr>
      <vt:lpstr>References</vt:lpstr>
    </vt:vector>
  </TitlesOfParts>
  <Company>Stanford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Extraction</dc:title>
  <dc:creator>Christopher Manning</dc:creator>
  <cp:lastModifiedBy>Abdus Salam</cp:lastModifiedBy>
  <cp:revision>184</cp:revision>
  <cp:lastPrinted>2011-11-15T22:45:48Z</cp:lastPrinted>
  <dcterms:created xsi:type="dcterms:W3CDTF">2010-04-19T15:31:24Z</dcterms:created>
  <dcterms:modified xsi:type="dcterms:W3CDTF">2026-06-10T11:00:25Z</dcterms:modified>
</cp:coreProperties>
</file>