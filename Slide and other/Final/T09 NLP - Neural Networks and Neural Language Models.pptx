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3" r:id="rId17"/>
    <p:sldId id="272"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315" r:id="rId44"/>
    <p:sldId id="336" r:id="rId45"/>
    <p:sldId id="337" r:id="rId46"/>
    <p:sldId id="338" r:id="rId47"/>
    <p:sldId id="339" r:id="rId48"/>
    <p:sldId id="340" r:id="rId49"/>
    <p:sldId id="341" r:id="rId50"/>
    <p:sldId id="342" r:id="rId51"/>
    <p:sldId id="343" r:id="rId52"/>
    <p:sldId id="344" r:id="rId53"/>
    <p:sldId id="345" r:id="rId54"/>
    <p:sldId id="346" r:id="rId55"/>
    <p:sldId id="347" r:id="rId56"/>
    <p:sldId id="348" r:id="rId57"/>
    <p:sldId id="328" r:id="rId58"/>
    <p:sldId id="329" r:id="rId59"/>
    <p:sldId id="330" r:id="rId60"/>
    <p:sldId id="333" r:id="rId61"/>
    <p:sldId id="332" r:id="rId62"/>
    <p:sldId id="334" r:id="rId63"/>
    <p:sldId id="335"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3660" autoAdjust="0"/>
  </p:normalViewPr>
  <p:slideViewPr>
    <p:cSldViewPr snapToGrid="0">
      <p:cViewPr varScale="1">
        <p:scale>
          <a:sx n="82" d="100"/>
          <a:sy n="82" d="100"/>
        </p:scale>
        <p:origin x="691" y="72"/>
      </p:cViewPr>
      <p:guideLst>
        <p:guide orient="horz" pos="2160"/>
        <p:guide pos="3840"/>
      </p:guideLst>
    </p:cSldViewPr>
  </p:slideViewPr>
  <p:notesTextViewPr>
    <p:cViewPr>
      <p:scale>
        <a:sx n="3" d="2"/>
        <a:sy n="3" d="2"/>
      </p:scale>
      <p:origin x="-38" y="-24"/>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s Salam" userId="0e2b1981-3d04-4857-a4cb-b2b53ead0854" providerId="ADAL" clId="{16B60A86-52C5-46BF-BAF2-CF3758CA0A33}"/>
    <pc:docChg chg="modSld">
      <pc:chgData name="Abdus Salam" userId="0e2b1981-3d04-4857-a4cb-b2b53ead0854" providerId="ADAL" clId="{16B60A86-52C5-46BF-BAF2-CF3758CA0A33}" dt="2025-05-17T06:35:35.384" v="0"/>
      <pc:docMkLst>
        <pc:docMk/>
      </pc:docMkLst>
      <pc:sldChg chg="modNotesTx">
        <pc:chgData name="Abdus Salam" userId="0e2b1981-3d04-4857-a4cb-b2b53ead0854" providerId="ADAL" clId="{16B60A86-52C5-46BF-BAF2-CF3758CA0A33}" dt="2025-05-17T06:35:35.384" v="0"/>
        <pc:sldMkLst>
          <pc:docMk/>
          <pc:sldMk cId="3286266439"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59E94A-69B5-4EB2-946B-9F0B55C854A2}" type="datetimeFigureOut">
              <a:rPr lang="en-GB" smtClean="0"/>
              <a:t>17/05/2025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C8108C-7A65-4E29-BB97-0193868182BE}" type="slidenum">
              <a:rPr lang="en-GB" smtClean="0"/>
              <a:t>‹#›</a:t>
            </a:fld>
            <a:endParaRPr lang="en-GB"/>
          </a:p>
        </p:txBody>
      </p:sp>
    </p:spTree>
    <p:extLst>
      <p:ext uri="{BB962C8B-B14F-4D97-AF65-F5344CB8AC3E}">
        <p14:creationId xmlns:p14="http://schemas.microsoft.com/office/powerpoint/2010/main" val="1583788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C8108C-7A65-4E29-BB97-0193868182BE}" type="slidenum">
              <a:rPr lang="en-GB" smtClean="0"/>
              <a:t>7</a:t>
            </a:fld>
            <a:endParaRPr lang="en-GB"/>
          </a:p>
        </p:txBody>
      </p:sp>
    </p:spTree>
    <p:extLst>
      <p:ext uri="{BB962C8B-B14F-4D97-AF65-F5344CB8AC3E}">
        <p14:creationId xmlns:p14="http://schemas.microsoft.com/office/powerpoint/2010/main" val="660967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ctr">
              <a:spcAft>
                <a:spcPts val="1500"/>
              </a:spcAft>
              <a:buNone/>
            </a:pPr>
            <a:r>
              <a:rPr lang="en-US" b="0" i="0" dirty="0">
                <a:solidFill>
                  <a:srgbClr val="001D35"/>
                </a:solidFill>
                <a:effectLst/>
                <a:latin typeface="Google Sans"/>
              </a:rPr>
              <a:t>The vanishing gradient problem, particularly with sigmoid activation functions, occurs when gradients shrink exponentially as they propagate backward through a deep neural network during training. This makes it difficult for the early layers to learn effectively, hindering the overall training process and potentially preventing convergence. </a:t>
            </a:r>
          </a:p>
          <a:p>
            <a:pPr algn="l" fontAlgn="ctr">
              <a:spcBef>
                <a:spcPts val="750"/>
              </a:spcBef>
              <a:spcAft>
                <a:spcPts val="1500"/>
              </a:spcAft>
              <a:buNone/>
            </a:pPr>
            <a:r>
              <a:rPr lang="en-US" b="0" i="0" dirty="0">
                <a:solidFill>
                  <a:srgbClr val="001D35"/>
                </a:solidFill>
                <a:effectLst/>
                <a:latin typeface="Google Sans"/>
              </a:rPr>
              <a:t>Here's a more detailed explanation:</a:t>
            </a:r>
            <a:endParaRPr lang="en-US" b="0" i="0" dirty="0">
              <a:solidFill>
                <a:srgbClr val="0B57D0"/>
              </a:solidFill>
              <a:effectLst/>
              <a:latin typeface="Google Sans"/>
            </a:endParaRPr>
          </a:p>
          <a:p>
            <a:pPr algn="l">
              <a:lnSpc>
                <a:spcPts val="1950"/>
              </a:lnSpc>
              <a:spcBef>
                <a:spcPts val="1500"/>
              </a:spcBef>
              <a:spcAft>
                <a:spcPts val="750"/>
              </a:spcAft>
              <a:buNone/>
            </a:pPr>
            <a:r>
              <a:rPr lang="en-US" b="0" i="0" dirty="0">
                <a:solidFill>
                  <a:srgbClr val="001D35"/>
                </a:solidFill>
                <a:effectLst/>
                <a:latin typeface="Google Sans"/>
              </a:rPr>
              <a:t>Why does it happen?</a:t>
            </a:r>
          </a:p>
          <a:p>
            <a:pPr algn="l">
              <a:lnSpc>
                <a:spcPts val="1650"/>
              </a:lnSpc>
              <a:spcBef>
                <a:spcPts val="750"/>
              </a:spcBef>
              <a:spcAft>
                <a:spcPts val="600"/>
              </a:spcAft>
              <a:buFont typeface="+mj-lt"/>
              <a:buAutoNum type="arabicPeriod"/>
            </a:pPr>
            <a:r>
              <a:rPr lang="en-US" b="1" i="0" dirty="0">
                <a:solidFill>
                  <a:srgbClr val="001D35"/>
                </a:solidFill>
                <a:effectLst/>
                <a:latin typeface="Google Sans"/>
              </a:rPr>
              <a:t>1. </a:t>
            </a:r>
            <a:r>
              <a:rPr lang="en-US" b="1" i="0" dirty="0" err="1">
                <a:solidFill>
                  <a:srgbClr val="001D35"/>
                </a:solidFill>
                <a:effectLst/>
                <a:latin typeface="Google Sans"/>
              </a:rPr>
              <a:t>Sigmoid's</a:t>
            </a:r>
            <a:r>
              <a:rPr lang="en-US" b="1" i="0" dirty="0">
                <a:solidFill>
                  <a:srgbClr val="001D35"/>
                </a:solidFill>
                <a:effectLst/>
                <a:latin typeface="Google Sans"/>
              </a:rPr>
              <a:t> Derivative:</a:t>
            </a:r>
            <a:endParaRPr lang="en-US" b="0" i="0" dirty="0">
              <a:solidFill>
                <a:srgbClr val="001D35"/>
              </a:solidFill>
              <a:effectLst/>
              <a:latin typeface="Google Sans"/>
            </a:endParaRPr>
          </a:p>
          <a:p>
            <a:pPr algn="l" fontAlgn="ctr">
              <a:lnSpc>
                <a:spcPts val="1650"/>
              </a:lnSpc>
              <a:spcBef>
                <a:spcPts val="750"/>
              </a:spcBef>
              <a:spcAft>
                <a:spcPts val="600"/>
              </a:spcAft>
              <a:buFont typeface="+mj-lt"/>
              <a:buAutoNum type="arabicPeriod"/>
            </a:pPr>
            <a:r>
              <a:rPr lang="en-US" b="0" i="0" dirty="0">
                <a:solidFill>
                  <a:srgbClr val="545D7E"/>
                </a:solidFill>
                <a:effectLst/>
                <a:latin typeface="Google Sans"/>
              </a:rPr>
              <a:t>The derivative of the sigmoid function, which is used to update weights during backpropagation, is between 0 and 0.25. </a:t>
            </a:r>
            <a:endParaRPr lang="en-US" b="0" i="0" dirty="0">
              <a:solidFill>
                <a:srgbClr val="0B57D0"/>
              </a:solidFill>
              <a:effectLst/>
              <a:latin typeface="Google Sans"/>
            </a:endParaRPr>
          </a:p>
          <a:p>
            <a:pPr algn="l">
              <a:lnSpc>
                <a:spcPts val="1650"/>
              </a:lnSpc>
              <a:spcBef>
                <a:spcPts val="750"/>
              </a:spcBef>
              <a:spcAft>
                <a:spcPts val="600"/>
              </a:spcAft>
              <a:buFont typeface="+mj-lt"/>
              <a:buAutoNum type="arabicPeriod"/>
            </a:pPr>
            <a:r>
              <a:rPr lang="en-US" b="1" i="0" dirty="0">
                <a:solidFill>
                  <a:srgbClr val="001D35"/>
                </a:solidFill>
                <a:effectLst/>
                <a:latin typeface="Google Sans"/>
              </a:rPr>
              <a:t>2. Multiplication in Deep Networks:</a:t>
            </a:r>
            <a:endParaRPr lang="en-US" b="0" i="0" dirty="0">
              <a:solidFill>
                <a:srgbClr val="001D35"/>
              </a:solidFill>
              <a:effectLst/>
              <a:latin typeface="Google Sans"/>
            </a:endParaRPr>
          </a:p>
          <a:p>
            <a:pPr algn="l" fontAlgn="ctr">
              <a:lnSpc>
                <a:spcPts val="1650"/>
              </a:lnSpc>
              <a:spcBef>
                <a:spcPts val="750"/>
              </a:spcBef>
              <a:spcAft>
                <a:spcPts val="600"/>
              </a:spcAft>
              <a:buFont typeface="+mj-lt"/>
              <a:buAutoNum type="arabicPeriod"/>
            </a:pPr>
            <a:r>
              <a:rPr lang="en-US" b="0" i="0" dirty="0">
                <a:solidFill>
                  <a:srgbClr val="545D7E"/>
                </a:solidFill>
                <a:effectLst/>
                <a:latin typeface="Google Sans"/>
              </a:rPr>
              <a:t>When you have many layers in a network, the gradients from the output layer are multiplied by the derivatives of each layer as they go back. This multiplication of small numbers (between 0 and 0.25) leads to an exponential decrease in the gradient's magnitude. </a:t>
            </a:r>
            <a:endParaRPr lang="en-US" b="0" i="0" dirty="0">
              <a:solidFill>
                <a:srgbClr val="0B57D0"/>
              </a:solidFill>
              <a:effectLst/>
              <a:latin typeface="Google Sans"/>
            </a:endParaRPr>
          </a:p>
          <a:p>
            <a:pPr algn="l">
              <a:lnSpc>
                <a:spcPts val="1650"/>
              </a:lnSpc>
              <a:spcBef>
                <a:spcPts val="750"/>
              </a:spcBef>
              <a:spcAft>
                <a:spcPts val="600"/>
              </a:spcAft>
              <a:buFont typeface="+mj-lt"/>
              <a:buAutoNum type="arabicPeriod"/>
            </a:pPr>
            <a:r>
              <a:rPr lang="en-US" b="1" i="0" dirty="0">
                <a:solidFill>
                  <a:srgbClr val="001D35"/>
                </a:solidFill>
                <a:effectLst/>
                <a:latin typeface="Google Sans"/>
              </a:rPr>
              <a:t>3. Impact on Early Layers:</a:t>
            </a:r>
            <a:endParaRPr lang="en-US" b="0" i="0" dirty="0">
              <a:solidFill>
                <a:srgbClr val="001D35"/>
              </a:solidFill>
              <a:effectLst/>
              <a:latin typeface="Google Sans"/>
            </a:endParaRPr>
          </a:p>
          <a:p>
            <a:pPr algn="l" fontAlgn="ctr">
              <a:lnSpc>
                <a:spcPts val="1650"/>
              </a:lnSpc>
              <a:spcBef>
                <a:spcPts val="750"/>
              </a:spcBef>
              <a:spcAft>
                <a:spcPts val="600"/>
              </a:spcAft>
              <a:buFont typeface="+mj-lt"/>
              <a:buAutoNum type="arabicPeriod"/>
            </a:pPr>
            <a:r>
              <a:rPr lang="en-US" b="0" i="0" dirty="0">
                <a:solidFill>
                  <a:srgbClr val="545D7E"/>
                </a:solidFill>
                <a:effectLst/>
                <a:latin typeface="Google Sans"/>
              </a:rPr>
              <a:t>By the time the gradients reach the earlier layers, their magnitude has often become so small that the weights in those layers are hardly updated, even with a large learning rate. </a:t>
            </a:r>
            <a:endParaRPr lang="en-US" b="0" i="0" dirty="0">
              <a:solidFill>
                <a:srgbClr val="0B57D0"/>
              </a:solidFill>
              <a:effectLst/>
              <a:latin typeface="Google Sans"/>
            </a:endParaRPr>
          </a:p>
          <a:p>
            <a:pPr algn="l">
              <a:lnSpc>
                <a:spcPts val="1650"/>
              </a:lnSpc>
              <a:spcBef>
                <a:spcPts val="750"/>
              </a:spcBef>
              <a:spcAft>
                <a:spcPts val="1500"/>
              </a:spcAft>
              <a:buFont typeface="+mj-lt"/>
              <a:buAutoNum type="arabicPeriod"/>
            </a:pPr>
            <a:r>
              <a:rPr lang="en-US" b="1" i="0" dirty="0">
                <a:solidFill>
                  <a:srgbClr val="001D35"/>
                </a:solidFill>
                <a:effectLst/>
                <a:latin typeface="Google Sans"/>
              </a:rPr>
              <a:t>4. Saturated Neurons:</a:t>
            </a:r>
            <a:endParaRPr lang="en-US" b="0" i="0" dirty="0">
              <a:solidFill>
                <a:srgbClr val="001D35"/>
              </a:solidFill>
              <a:effectLst/>
              <a:latin typeface="Google Sans"/>
            </a:endParaRPr>
          </a:p>
          <a:p>
            <a:pPr algn="l">
              <a:lnSpc>
                <a:spcPts val="1650"/>
              </a:lnSpc>
              <a:spcBef>
                <a:spcPts val="750"/>
              </a:spcBef>
              <a:spcAft>
                <a:spcPts val="1500"/>
              </a:spcAft>
              <a:buFont typeface="+mj-lt"/>
              <a:buAutoNum type="arabicPeriod"/>
            </a:pPr>
            <a:r>
              <a:rPr lang="en-US" b="0" i="0" dirty="0">
                <a:solidFill>
                  <a:srgbClr val="545D7E"/>
                </a:solidFill>
                <a:effectLst/>
                <a:latin typeface="Google Sans"/>
              </a:rPr>
              <a:t>The sigmoid function "saturates" at the extremes (very high or very low inputs), where the output is close to 1 or 0, and the derivative is very close to zero. This further contributes to the vanishing gradient problem, especially in deep networks. </a:t>
            </a:r>
          </a:p>
          <a:p>
            <a:endParaRPr lang="en-US" dirty="0"/>
          </a:p>
        </p:txBody>
      </p:sp>
      <p:sp>
        <p:nvSpPr>
          <p:cNvPr id="4" name="Slide Number Placeholder 3"/>
          <p:cNvSpPr>
            <a:spLocks noGrp="1"/>
          </p:cNvSpPr>
          <p:nvPr>
            <p:ph type="sldNum" sz="quarter" idx="5"/>
          </p:nvPr>
        </p:nvSpPr>
        <p:spPr/>
        <p:txBody>
          <a:bodyPr/>
          <a:lstStyle/>
          <a:p>
            <a:fld id="{C1C8108C-7A65-4E29-BB97-0193868182BE}" type="slidenum">
              <a:rPr lang="en-GB" smtClean="0"/>
              <a:t>12</a:t>
            </a:fld>
            <a:endParaRPr lang="en-GB"/>
          </a:p>
        </p:txBody>
      </p:sp>
    </p:spTree>
    <p:extLst>
      <p:ext uri="{BB962C8B-B14F-4D97-AF65-F5344CB8AC3E}">
        <p14:creationId xmlns:p14="http://schemas.microsoft.com/office/powerpoint/2010/main" val="1152772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3938C-8F81-3D5D-A68B-687E886D15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F562337-6598-760D-36F7-210803857A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572FA32-C95B-1D5A-5835-79FE0A565ED3}"/>
              </a:ext>
            </a:extLst>
          </p:cNvPr>
          <p:cNvSpPr>
            <a:spLocks noGrp="1"/>
          </p:cNvSpPr>
          <p:nvPr>
            <p:ph type="dt" sz="half" idx="10"/>
          </p:nvPr>
        </p:nvSpPr>
        <p:spPr/>
        <p:txBody>
          <a:bodyPr/>
          <a:lstStyle/>
          <a:p>
            <a:fld id="{41072699-F9A0-4DBF-879E-04983D165F60}" type="datetime1">
              <a:rPr lang="en-GB" smtClean="0"/>
              <a:t>17/05/2025</a:t>
            </a:fld>
            <a:endParaRPr lang="en-GB"/>
          </a:p>
        </p:txBody>
      </p:sp>
      <p:sp>
        <p:nvSpPr>
          <p:cNvPr id="5" name="Footer Placeholder 4">
            <a:extLst>
              <a:ext uri="{FF2B5EF4-FFF2-40B4-BE49-F238E27FC236}">
                <a16:creationId xmlns:a16="http://schemas.microsoft.com/office/drawing/2014/main" id="{A96455D4-0924-D2D4-E888-E7B4B7D9D79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E9CD86-F23D-678D-FA2B-7BB29D39D6BD}"/>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2127209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65B08-8561-61ED-8D29-B4DF9D4641A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4D27719-5230-5CC9-82F8-853EC98246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0D580D-A327-AEB5-736C-F67DDB89D60B}"/>
              </a:ext>
            </a:extLst>
          </p:cNvPr>
          <p:cNvSpPr>
            <a:spLocks noGrp="1"/>
          </p:cNvSpPr>
          <p:nvPr>
            <p:ph type="dt" sz="half" idx="10"/>
          </p:nvPr>
        </p:nvSpPr>
        <p:spPr/>
        <p:txBody>
          <a:bodyPr/>
          <a:lstStyle/>
          <a:p>
            <a:fld id="{24DBBE25-9A02-4FF7-A819-4B8DA2236554}" type="datetime1">
              <a:rPr lang="en-GB" smtClean="0"/>
              <a:t>17/05/2025</a:t>
            </a:fld>
            <a:endParaRPr lang="en-GB"/>
          </a:p>
        </p:txBody>
      </p:sp>
      <p:sp>
        <p:nvSpPr>
          <p:cNvPr id="5" name="Footer Placeholder 4">
            <a:extLst>
              <a:ext uri="{FF2B5EF4-FFF2-40B4-BE49-F238E27FC236}">
                <a16:creationId xmlns:a16="http://schemas.microsoft.com/office/drawing/2014/main" id="{29D3FD59-BFA9-1FCF-A3A4-0E4A024349E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C6F8E46-0853-4D9E-CBF3-A5036F19E489}"/>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2509262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B1863-8805-5EFF-D344-F78E83DB5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B745185-D480-E9ED-A637-4202B33491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092654-9C79-EBBB-B732-80055C58A381}"/>
              </a:ext>
            </a:extLst>
          </p:cNvPr>
          <p:cNvSpPr>
            <a:spLocks noGrp="1"/>
          </p:cNvSpPr>
          <p:nvPr>
            <p:ph type="dt" sz="half" idx="10"/>
          </p:nvPr>
        </p:nvSpPr>
        <p:spPr/>
        <p:txBody>
          <a:bodyPr/>
          <a:lstStyle/>
          <a:p>
            <a:fld id="{95029D94-3476-4183-85D7-AB20F6999429}" type="datetime1">
              <a:rPr lang="en-GB" smtClean="0"/>
              <a:t>17/05/2025</a:t>
            </a:fld>
            <a:endParaRPr lang="en-GB"/>
          </a:p>
        </p:txBody>
      </p:sp>
      <p:sp>
        <p:nvSpPr>
          <p:cNvPr id="5" name="Footer Placeholder 4">
            <a:extLst>
              <a:ext uri="{FF2B5EF4-FFF2-40B4-BE49-F238E27FC236}">
                <a16:creationId xmlns:a16="http://schemas.microsoft.com/office/drawing/2014/main" id="{4FF935E1-BBE3-47F9-7F23-84899768CA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ACE038A-2782-2B9B-42DF-8AA0F6D1CE52}"/>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4045973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71520-2C7F-4694-5459-63466ACD74F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A8549BC-942B-2827-FBFE-40B0630A40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CFBD812-DA53-4BF0-4962-51B2752238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8931AEE-0B4B-592C-706C-BA15C5D389C0}"/>
              </a:ext>
            </a:extLst>
          </p:cNvPr>
          <p:cNvSpPr>
            <a:spLocks noGrp="1"/>
          </p:cNvSpPr>
          <p:nvPr>
            <p:ph type="dt" sz="half" idx="10"/>
          </p:nvPr>
        </p:nvSpPr>
        <p:spPr/>
        <p:txBody>
          <a:bodyPr/>
          <a:lstStyle/>
          <a:p>
            <a:fld id="{657043C2-D694-4B73-A769-AAC359184494}" type="datetime1">
              <a:rPr lang="en-GB" smtClean="0"/>
              <a:t>17/05/2025</a:t>
            </a:fld>
            <a:endParaRPr lang="en-GB"/>
          </a:p>
        </p:txBody>
      </p:sp>
      <p:sp>
        <p:nvSpPr>
          <p:cNvPr id="6" name="Footer Placeholder 5">
            <a:extLst>
              <a:ext uri="{FF2B5EF4-FFF2-40B4-BE49-F238E27FC236}">
                <a16:creationId xmlns:a16="http://schemas.microsoft.com/office/drawing/2014/main" id="{4AD8DD22-91F8-5FAB-18B6-1ACDC90D9F5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FB9EE26-C96D-E9DA-889A-D6FC08F75C3E}"/>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850505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92EA3-25A0-A693-6155-126326CAA56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0AAFBE6-AC51-DE29-D337-80E728B24D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8B329B-2558-6BF4-9EF2-D9BE02C1C5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55A92BB-F1F8-E0C4-8EE4-B1FD8655AB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3AAD05-9A1B-2550-FC90-6A25EA34CE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857C881-0E30-6577-3C33-3AD260701418}"/>
              </a:ext>
            </a:extLst>
          </p:cNvPr>
          <p:cNvSpPr>
            <a:spLocks noGrp="1"/>
          </p:cNvSpPr>
          <p:nvPr>
            <p:ph type="dt" sz="half" idx="10"/>
          </p:nvPr>
        </p:nvSpPr>
        <p:spPr/>
        <p:txBody>
          <a:bodyPr/>
          <a:lstStyle/>
          <a:p>
            <a:fld id="{42A77C7F-D740-49AD-8117-A25BD322793F}" type="datetime1">
              <a:rPr lang="en-GB" smtClean="0"/>
              <a:t>17/05/2025</a:t>
            </a:fld>
            <a:endParaRPr lang="en-GB"/>
          </a:p>
        </p:txBody>
      </p:sp>
      <p:sp>
        <p:nvSpPr>
          <p:cNvPr id="8" name="Footer Placeholder 7">
            <a:extLst>
              <a:ext uri="{FF2B5EF4-FFF2-40B4-BE49-F238E27FC236}">
                <a16:creationId xmlns:a16="http://schemas.microsoft.com/office/drawing/2014/main" id="{889CAB12-1BA8-5C68-A92E-7A3E488E144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C4A99E9-C3DE-CFE3-2196-CA581D6A66EB}"/>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370512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801EE-6ADD-3E9B-8B37-AC6E54034E7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E5985D4-5970-DB26-F8B7-B8163D35DB60}"/>
              </a:ext>
            </a:extLst>
          </p:cNvPr>
          <p:cNvSpPr>
            <a:spLocks noGrp="1"/>
          </p:cNvSpPr>
          <p:nvPr>
            <p:ph type="dt" sz="half" idx="10"/>
          </p:nvPr>
        </p:nvSpPr>
        <p:spPr/>
        <p:txBody>
          <a:bodyPr/>
          <a:lstStyle/>
          <a:p>
            <a:fld id="{4CAB3330-D013-4F53-99EE-FA4E14EED1ED}" type="datetime1">
              <a:rPr lang="en-GB" smtClean="0"/>
              <a:t>17/05/2025</a:t>
            </a:fld>
            <a:endParaRPr lang="en-GB"/>
          </a:p>
        </p:txBody>
      </p:sp>
      <p:sp>
        <p:nvSpPr>
          <p:cNvPr id="4" name="Footer Placeholder 3">
            <a:extLst>
              <a:ext uri="{FF2B5EF4-FFF2-40B4-BE49-F238E27FC236}">
                <a16:creationId xmlns:a16="http://schemas.microsoft.com/office/drawing/2014/main" id="{F56595F7-DD79-9A92-5A3A-DD0F38D61AA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55B2B0D-E795-F021-6AEF-59A6C3075948}"/>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3597241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1908CA-6D52-3801-3691-15A5E378755F}"/>
              </a:ext>
            </a:extLst>
          </p:cNvPr>
          <p:cNvSpPr>
            <a:spLocks noGrp="1"/>
          </p:cNvSpPr>
          <p:nvPr>
            <p:ph type="dt" sz="half" idx="10"/>
          </p:nvPr>
        </p:nvSpPr>
        <p:spPr/>
        <p:txBody>
          <a:bodyPr/>
          <a:lstStyle/>
          <a:p>
            <a:fld id="{2448AEA6-1D6A-481D-A3DF-29ABD4449136}" type="datetime1">
              <a:rPr lang="en-GB" smtClean="0"/>
              <a:t>17/05/2025</a:t>
            </a:fld>
            <a:endParaRPr lang="en-GB"/>
          </a:p>
        </p:txBody>
      </p:sp>
      <p:sp>
        <p:nvSpPr>
          <p:cNvPr id="3" name="Footer Placeholder 2">
            <a:extLst>
              <a:ext uri="{FF2B5EF4-FFF2-40B4-BE49-F238E27FC236}">
                <a16:creationId xmlns:a16="http://schemas.microsoft.com/office/drawing/2014/main" id="{1CA4128B-0FE0-AB9E-B1F7-48B26482461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5E793DE-E275-EA62-1BE3-FB7514554552}"/>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2228730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1317C-B077-2002-E4AA-4E13B8F55C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208615D-D7CA-7791-6BEA-3D226FA41B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84211E0-4D0D-93F2-6DAF-B1B501C11A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721300-1760-B0AD-C7B6-3E336BD89A5B}"/>
              </a:ext>
            </a:extLst>
          </p:cNvPr>
          <p:cNvSpPr>
            <a:spLocks noGrp="1"/>
          </p:cNvSpPr>
          <p:nvPr>
            <p:ph type="dt" sz="half" idx="10"/>
          </p:nvPr>
        </p:nvSpPr>
        <p:spPr/>
        <p:txBody>
          <a:bodyPr/>
          <a:lstStyle/>
          <a:p>
            <a:fld id="{952F8788-F4F7-4ECE-B95F-DDA15E37A402}" type="datetime1">
              <a:rPr lang="en-GB" smtClean="0"/>
              <a:t>17/05/2025</a:t>
            </a:fld>
            <a:endParaRPr lang="en-GB"/>
          </a:p>
        </p:txBody>
      </p:sp>
      <p:sp>
        <p:nvSpPr>
          <p:cNvPr id="6" name="Footer Placeholder 5">
            <a:extLst>
              <a:ext uri="{FF2B5EF4-FFF2-40B4-BE49-F238E27FC236}">
                <a16:creationId xmlns:a16="http://schemas.microsoft.com/office/drawing/2014/main" id="{5226476F-3829-2A6E-1E4E-3801A5187F3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3BEB21F-32F8-DAE6-87FE-79AAE24B28C1}"/>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4134474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614ED-1BFB-1D46-4B62-546D213028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A9DE307-882C-3AE0-ECA4-70D7753C2F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99156ED-D3E2-6F44-27BC-756E3A0A5F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2EB767-F564-E55D-4782-54527BD737F4}"/>
              </a:ext>
            </a:extLst>
          </p:cNvPr>
          <p:cNvSpPr>
            <a:spLocks noGrp="1"/>
          </p:cNvSpPr>
          <p:nvPr>
            <p:ph type="dt" sz="half" idx="10"/>
          </p:nvPr>
        </p:nvSpPr>
        <p:spPr/>
        <p:txBody>
          <a:bodyPr/>
          <a:lstStyle/>
          <a:p>
            <a:fld id="{051608DD-13F8-4DD5-A802-E746736570A8}" type="datetime1">
              <a:rPr lang="en-GB" smtClean="0"/>
              <a:t>17/05/2025</a:t>
            </a:fld>
            <a:endParaRPr lang="en-GB"/>
          </a:p>
        </p:txBody>
      </p:sp>
      <p:sp>
        <p:nvSpPr>
          <p:cNvPr id="6" name="Footer Placeholder 5">
            <a:extLst>
              <a:ext uri="{FF2B5EF4-FFF2-40B4-BE49-F238E27FC236}">
                <a16:creationId xmlns:a16="http://schemas.microsoft.com/office/drawing/2014/main" id="{6DFC5156-CD80-EEA0-8AC3-01D10C4A4CD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A8BE35-752A-A73C-C06F-2D6DCE3527A3}"/>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21461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D19B9-4D55-DD67-BAD5-A151882DA7F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17ECC40-8D0F-280F-7DFA-D7D16D0260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734CC6A-7BD5-0672-A128-565046700D8C}"/>
              </a:ext>
            </a:extLst>
          </p:cNvPr>
          <p:cNvSpPr>
            <a:spLocks noGrp="1"/>
          </p:cNvSpPr>
          <p:nvPr>
            <p:ph type="dt" sz="half" idx="10"/>
          </p:nvPr>
        </p:nvSpPr>
        <p:spPr/>
        <p:txBody>
          <a:bodyPr/>
          <a:lstStyle/>
          <a:p>
            <a:fld id="{A9F3733E-F508-4315-A759-93080B87757E}" type="datetime1">
              <a:rPr lang="en-GB" smtClean="0"/>
              <a:t>17/05/2025</a:t>
            </a:fld>
            <a:endParaRPr lang="en-GB"/>
          </a:p>
        </p:txBody>
      </p:sp>
      <p:sp>
        <p:nvSpPr>
          <p:cNvPr id="5" name="Footer Placeholder 4">
            <a:extLst>
              <a:ext uri="{FF2B5EF4-FFF2-40B4-BE49-F238E27FC236}">
                <a16:creationId xmlns:a16="http://schemas.microsoft.com/office/drawing/2014/main" id="{50C2BE23-92D8-9407-6F57-359C415C30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A34E3DC-82A1-A272-9175-6273C8741023}"/>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2992086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417E13-1C81-20AF-E23A-AB51E93EA01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2B81EC3-94C5-E734-4F3B-D9F42595DE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0ADA3B-6C04-0094-974B-8E44C9EB8414}"/>
              </a:ext>
            </a:extLst>
          </p:cNvPr>
          <p:cNvSpPr>
            <a:spLocks noGrp="1"/>
          </p:cNvSpPr>
          <p:nvPr>
            <p:ph type="dt" sz="half" idx="10"/>
          </p:nvPr>
        </p:nvSpPr>
        <p:spPr/>
        <p:txBody>
          <a:bodyPr/>
          <a:lstStyle/>
          <a:p>
            <a:fld id="{58822343-4584-4574-9ECC-E033E0065FF1}" type="datetime1">
              <a:rPr lang="en-GB" smtClean="0"/>
              <a:t>17/05/2025</a:t>
            </a:fld>
            <a:endParaRPr lang="en-GB"/>
          </a:p>
        </p:txBody>
      </p:sp>
      <p:sp>
        <p:nvSpPr>
          <p:cNvPr id="5" name="Footer Placeholder 4">
            <a:extLst>
              <a:ext uri="{FF2B5EF4-FFF2-40B4-BE49-F238E27FC236}">
                <a16:creationId xmlns:a16="http://schemas.microsoft.com/office/drawing/2014/main" id="{AC17C18A-6CE4-6638-893A-089CF71BC7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F6D4ED-DDA4-BC09-19AA-387A41AB829B}"/>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3417361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325DA4-B586-1380-F465-5A40A3F75C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F52EA88-2189-D5C9-0818-5C30B49C27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BB4113-C1A6-5AB5-8826-84C201CAD4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A8B93C-9DB8-40BB-95C5-F8284A0B6BFD}" type="datetime1">
              <a:rPr lang="en-GB" smtClean="0"/>
              <a:t>17/05/2025</a:t>
            </a:fld>
            <a:endParaRPr lang="en-GB"/>
          </a:p>
        </p:txBody>
      </p:sp>
      <p:sp>
        <p:nvSpPr>
          <p:cNvPr id="5" name="Footer Placeholder 4">
            <a:extLst>
              <a:ext uri="{FF2B5EF4-FFF2-40B4-BE49-F238E27FC236}">
                <a16:creationId xmlns:a16="http://schemas.microsoft.com/office/drawing/2014/main" id="{82985A94-ECE6-CD19-4349-272AB6ADAF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020C6FC-9EC1-BD61-7E98-2B22B458D3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B654D-6898-4783-8329-E1EB680B937A}" type="slidenum">
              <a:rPr lang="en-GB" smtClean="0"/>
              <a:t>‹#›</a:t>
            </a:fld>
            <a:endParaRPr lang="en-GB"/>
          </a:p>
        </p:txBody>
      </p:sp>
    </p:spTree>
    <p:extLst>
      <p:ext uri="{BB962C8B-B14F-4D97-AF65-F5344CB8AC3E}">
        <p14:creationId xmlns:p14="http://schemas.microsoft.com/office/powerpoint/2010/main" val="1787892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0.png"/><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0.png"/><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0.png"/><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D3FEE6-28D3-ED86-5D96-6B7F0EF263B3}"/>
              </a:ext>
            </a:extLst>
          </p:cNvPr>
          <p:cNvSpPr txBox="1"/>
          <p:nvPr/>
        </p:nvSpPr>
        <p:spPr>
          <a:xfrm>
            <a:off x="1899557" y="1734391"/>
            <a:ext cx="8392886" cy="1754326"/>
          </a:xfrm>
          <a:prstGeom prst="rect">
            <a:avLst/>
          </a:prstGeom>
          <a:noFill/>
        </p:spPr>
        <p:txBody>
          <a:bodyPr wrap="square">
            <a:spAutoFit/>
          </a:bodyPr>
          <a:lstStyle/>
          <a:p>
            <a:pPr algn="ctr"/>
            <a:r>
              <a:rPr lang="en-US" sz="5400" dirty="0">
                <a:latin typeface="Times New Roman" panose="02020603050405020304" pitchFamily="18" charset="0"/>
                <a:cs typeface="Times New Roman" panose="02020603050405020304" pitchFamily="18" charset="0"/>
              </a:rPr>
              <a:t>Neural Networks and Neural Language Models</a:t>
            </a:r>
          </a:p>
        </p:txBody>
      </p:sp>
      <p:sp>
        <p:nvSpPr>
          <p:cNvPr id="4" name="Slide Number Placeholder 3">
            <a:extLst>
              <a:ext uri="{FF2B5EF4-FFF2-40B4-BE49-F238E27FC236}">
                <a16:creationId xmlns:a16="http://schemas.microsoft.com/office/drawing/2014/main" id="{C7A5DE63-FECD-BAD9-05E8-4AD6ED7D4624}"/>
              </a:ext>
            </a:extLst>
          </p:cNvPr>
          <p:cNvSpPr>
            <a:spLocks noGrp="1"/>
          </p:cNvSpPr>
          <p:nvPr>
            <p:ph type="sldNum" sz="quarter" idx="12"/>
          </p:nvPr>
        </p:nvSpPr>
        <p:spPr/>
        <p:txBody>
          <a:bodyPr/>
          <a:lstStyle/>
          <a:p>
            <a:fld id="{008B654D-6898-4783-8329-E1EB680B937A}" type="slidenum">
              <a:rPr lang="en-GB" smtClean="0"/>
              <a:t>1</a:t>
            </a:fld>
            <a:endParaRPr lang="en-GB"/>
          </a:p>
        </p:txBody>
      </p:sp>
    </p:spTree>
    <p:extLst>
      <p:ext uri="{BB962C8B-B14F-4D97-AF65-F5344CB8AC3E}">
        <p14:creationId xmlns:p14="http://schemas.microsoft.com/office/powerpoint/2010/main" val="3230743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011949"/>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A modern </a:t>
            </a:r>
            <a:r>
              <a:rPr lang="en-US" sz="2400" b="1" dirty="0">
                <a:latin typeface="Times New Roman" panose="02020603050405020304" pitchFamily="18" charset="0"/>
                <a:cs typeface="Times New Roman" panose="02020603050405020304" pitchFamily="18" charset="0"/>
              </a:rPr>
              <a:t>neural network </a:t>
            </a:r>
            <a:r>
              <a:rPr lang="en-US" sz="2400" dirty="0">
                <a:latin typeface="Times New Roman" panose="02020603050405020304" pitchFamily="18" charset="0"/>
                <a:cs typeface="Times New Roman" panose="02020603050405020304" pitchFamily="18" charset="0"/>
              </a:rPr>
              <a:t>is a network of small computing units, each of which takes a </a:t>
            </a:r>
            <a:r>
              <a:rPr lang="en-US" sz="2400" b="1" dirty="0">
                <a:latin typeface="Times New Roman" panose="02020603050405020304" pitchFamily="18" charset="0"/>
                <a:cs typeface="Times New Roman" panose="02020603050405020304" pitchFamily="18" charset="0"/>
              </a:rPr>
              <a:t>vector of input </a:t>
            </a:r>
            <a:r>
              <a:rPr lang="en-US" sz="2400" dirty="0">
                <a:latin typeface="Times New Roman" panose="02020603050405020304" pitchFamily="18" charset="0"/>
                <a:cs typeface="Times New Roman" panose="02020603050405020304" pitchFamily="18" charset="0"/>
              </a:rPr>
              <a:t>values and produces a </a:t>
            </a:r>
            <a:r>
              <a:rPr lang="en-US" sz="2400" b="1" dirty="0">
                <a:latin typeface="Times New Roman" panose="02020603050405020304" pitchFamily="18" charset="0"/>
                <a:cs typeface="Times New Roman" panose="02020603050405020304" pitchFamily="18" charset="0"/>
              </a:rPr>
              <a:t>single output value</a:t>
            </a:r>
            <a:r>
              <a:rPr lang="en-US" sz="2400" dirty="0">
                <a:latin typeface="Times New Roman" panose="02020603050405020304" pitchFamily="18" charset="0"/>
                <a:cs typeface="Times New Roman" panose="02020603050405020304" pitchFamily="18" charset="0"/>
              </a:rPr>
              <a:t>. </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Here, we introduce the neural net applied to classification. The architecture we</a:t>
            </a:r>
          </a:p>
          <a:p>
            <a:pPr algn="just">
              <a:lnSpc>
                <a:spcPct val="150000"/>
              </a:lnSpc>
            </a:pPr>
            <a:r>
              <a:rPr lang="en-US" sz="2400" dirty="0">
                <a:latin typeface="Times New Roman" panose="02020603050405020304" pitchFamily="18" charset="0"/>
                <a:cs typeface="Times New Roman" panose="02020603050405020304" pitchFamily="18" charset="0"/>
              </a:rPr>
              <a:t>introduce is called a </a:t>
            </a:r>
            <a:r>
              <a:rPr lang="en-US" sz="2400" b="1" dirty="0">
                <a:latin typeface="Times New Roman" panose="02020603050405020304" pitchFamily="18" charset="0"/>
                <a:cs typeface="Times New Roman" panose="02020603050405020304" pitchFamily="18" charset="0"/>
              </a:rPr>
              <a:t>feedforward network </a:t>
            </a:r>
            <a:r>
              <a:rPr lang="en-US" sz="2400" dirty="0">
                <a:latin typeface="Times New Roman" panose="02020603050405020304" pitchFamily="18" charset="0"/>
                <a:cs typeface="Times New Roman" panose="02020603050405020304" pitchFamily="18" charset="0"/>
              </a:rPr>
              <a:t>because the computation proceeds iteratively from one layer of units to the next. </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The use of modern neural nets is often called </a:t>
            </a:r>
            <a:r>
              <a:rPr lang="en-US" sz="2400" b="1" dirty="0">
                <a:latin typeface="Times New Roman" panose="02020603050405020304" pitchFamily="18" charset="0"/>
                <a:cs typeface="Times New Roman" panose="02020603050405020304" pitchFamily="18" charset="0"/>
              </a:rPr>
              <a:t>deep learning</a:t>
            </a:r>
            <a:r>
              <a:rPr lang="en-US" sz="2400" dirty="0">
                <a:latin typeface="Times New Roman" panose="02020603050405020304" pitchFamily="18" charset="0"/>
                <a:cs typeface="Times New Roman" panose="02020603050405020304" pitchFamily="18" charset="0"/>
              </a:rPr>
              <a:t>, because modern networks are often deep (have many layers).</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a:t>
            </a:fld>
            <a:endParaRPr lang="en-GB"/>
          </a:p>
        </p:txBody>
      </p:sp>
    </p:spTree>
    <p:extLst>
      <p:ext uri="{BB962C8B-B14F-4D97-AF65-F5344CB8AC3E}">
        <p14:creationId xmlns:p14="http://schemas.microsoft.com/office/powerpoint/2010/main" val="552860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022978"/>
          </a:xfrm>
          <a:prstGeom prst="rect">
            <a:avLst/>
          </a:prstGeom>
          <a:noFill/>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Neural networks </a:t>
            </a:r>
            <a:r>
              <a:rPr lang="en-US" sz="2400" dirty="0">
                <a:latin typeface="Times New Roman" panose="02020603050405020304" pitchFamily="18" charset="0"/>
                <a:cs typeface="Times New Roman" panose="02020603050405020304" pitchFamily="18" charset="0"/>
              </a:rPr>
              <a:t>share much of the same mathematics as </a:t>
            </a:r>
            <a:r>
              <a:rPr lang="en-US" sz="2400" b="1" dirty="0">
                <a:latin typeface="Times New Roman" panose="02020603050405020304" pitchFamily="18" charset="0"/>
                <a:cs typeface="Times New Roman" panose="02020603050405020304" pitchFamily="18" charset="0"/>
              </a:rPr>
              <a:t>logistic regression</a:t>
            </a:r>
            <a:r>
              <a:rPr lang="en-US" sz="2400" dirty="0">
                <a:latin typeface="Times New Roman" panose="02020603050405020304" pitchFamily="18" charset="0"/>
                <a:cs typeface="Times New Roman" panose="02020603050405020304" pitchFamily="18" charset="0"/>
              </a:rPr>
              <a:t>. But neural networks are a more powerful classifier than logistic regression, and indeed a minimal neural network (technically one with a single ‘hidden layer’) can be shown to learn any function.</a:t>
            </a:r>
          </a:p>
          <a:p>
            <a:pPr algn="just">
              <a:lnSpc>
                <a:spcPct val="150000"/>
              </a:lnSpc>
            </a:pPr>
            <a:r>
              <a:rPr lang="en-US" sz="2000" dirty="0">
                <a:latin typeface="Times New Roman" panose="02020603050405020304" pitchFamily="18" charset="0"/>
                <a:cs typeface="Times New Roman" panose="02020603050405020304" pitchFamily="18" charset="0"/>
              </a:rPr>
              <a:t>Neural net classifiers are different from logistic regression in another way. With </a:t>
            </a:r>
            <a:r>
              <a:rPr lang="en-US" sz="2000" b="1" dirty="0">
                <a:latin typeface="Times New Roman" panose="02020603050405020304" pitchFamily="18" charset="0"/>
                <a:cs typeface="Times New Roman" panose="02020603050405020304" pitchFamily="18" charset="0"/>
              </a:rPr>
              <a:t>logistic regression</a:t>
            </a:r>
            <a:r>
              <a:rPr lang="en-US" sz="2000" dirty="0">
                <a:latin typeface="Times New Roman" panose="02020603050405020304" pitchFamily="18" charset="0"/>
                <a:cs typeface="Times New Roman" panose="02020603050405020304" pitchFamily="18" charset="0"/>
              </a:rPr>
              <a:t>, we applied the regression classifier to many different tasks by developing many rich kinds of feature templates based on domain knowledge. When working with </a:t>
            </a:r>
            <a:r>
              <a:rPr lang="en-US" sz="2000" b="1" dirty="0">
                <a:latin typeface="Times New Roman" panose="02020603050405020304" pitchFamily="18" charset="0"/>
                <a:cs typeface="Times New Roman" panose="02020603050405020304" pitchFamily="18" charset="0"/>
              </a:rPr>
              <a:t>neural networks</a:t>
            </a:r>
            <a:r>
              <a:rPr lang="en-US" sz="2000" dirty="0">
                <a:latin typeface="Times New Roman" panose="02020603050405020304" pitchFamily="18" charset="0"/>
                <a:cs typeface="Times New Roman" panose="02020603050405020304" pitchFamily="18" charset="0"/>
              </a:rPr>
              <a:t>, it is more common to avoid most uses of rich hand derived features, instead building neural networks that take </a:t>
            </a:r>
            <a:r>
              <a:rPr lang="en-US" sz="2000" b="1" dirty="0">
                <a:latin typeface="Times New Roman" panose="02020603050405020304" pitchFamily="18" charset="0"/>
                <a:cs typeface="Times New Roman" panose="02020603050405020304" pitchFamily="18" charset="0"/>
              </a:rPr>
              <a:t>raw words </a:t>
            </a:r>
            <a:r>
              <a:rPr lang="en-US" sz="2000" dirty="0">
                <a:latin typeface="Times New Roman" panose="02020603050405020304" pitchFamily="18" charset="0"/>
                <a:cs typeface="Times New Roman" panose="02020603050405020304" pitchFamily="18" charset="0"/>
              </a:rPr>
              <a:t>as inputs and learn to induce features as part of the process of learning to classify.</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3</a:t>
            </a:fld>
            <a:endParaRPr lang="en-GB"/>
          </a:p>
        </p:txBody>
      </p:sp>
    </p:spTree>
    <p:extLst>
      <p:ext uri="{BB962C8B-B14F-4D97-AF65-F5344CB8AC3E}">
        <p14:creationId xmlns:p14="http://schemas.microsoft.com/office/powerpoint/2010/main" val="1062080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3903954"/>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We’ll introduce </a:t>
            </a:r>
            <a:r>
              <a:rPr lang="en-US" sz="2400" b="1" dirty="0">
                <a:latin typeface="Times New Roman" panose="02020603050405020304" pitchFamily="18" charset="0"/>
                <a:cs typeface="Times New Roman" panose="02020603050405020304" pitchFamily="18" charset="0"/>
              </a:rPr>
              <a:t>feedforward networks </a:t>
            </a:r>
            <a:r>
              <a:rPr lang="en-US" sz="2400" dirty="0">
                <a:latin typeface="Times New Roman" panose="02020603050405020304" pitchFamily="18" charset="0"/>
                <a:cs typeface="Times New Roman" panose="02020603050405020304" pitchFamily="18" charset="0"/>
              </a:rPr>
              <a:t>as classifiers, and also apply them to the simple task of </a:t>
            </a:r>
            <a:r>
              <a:rPr lang="en-US" sz="2400" b="1" dirty="0">
                <a:latin typeface="Times New Roman" panose="02020603050405020304" pitchFamily="18" charset="0"/>
                <a:cs typeface="Times New Roman" panose="02020603050405020304" pitchFamily="18" charset="0"/>
              </a:rPr>
              <a:t>language modeling</a:t>
            </a:r>
            <a:r>
              <a:rPr lang="en-US" sz="2400" dirty="0">
                <a:latin typeface="Times New Roman" panose="02020603050405020304" pitchFamily="18" charset="0"/>
                <a:cs typeface="Times New Roman" panose="02020603050405020304" pitchFamily="18" charset="0"/>
              </a:rPr>
              <a:t>: assigning probabilities to word sequences and predicting upcoming words. </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In subsequent lectures we’ll introduce many other aspects of neural models, such as </a:t>
            </a:r>
            <a:r>
              <a:rPr lang="en-US" sz="2400" b="1" dirty="0">
                <a:latin typeface="Times New Roman" panose="02020603050405020304" pitchFamily="18" charset="0"/>
                <a:cs typeface="Times New Roman" panose="02020603050405020304" pitchFamily="18" charset="0"/>
              </a:rPr>
              <a:t>recurrent neural networks </a:t>
            </a:r>
            <a:r>
              <a:rPr lang="en-US" sz="2400" dirty="0">
                <a:latin typeface="Times New Roman" panose="02020603050405020304" pitchFamily="18" charset="0"/>
                <a:cs typeface="Times New Roman" panose="02020603050405020304" pitchFamily="18" charset="0"/>
              </a:rPr>
              <a:t>and </a:t>
            </a:r>
            <a:r>
              <a:rPr lang="en-US" sz="2400" b="1" dirty="0">
                <a:latin typeface="Times New Roman" panose="02020603050405020304" pitchFamily="18" charset="0"/>
                <a:cs typeface="Times New Roman" panose="02020603050405020304" pitchFamily="18" charset="0"/>
              </a:rPr>
              <a:t>the Transformer</a:t>
            </a:r>
            <a:r>
              <a:rPr lang="en-US" sz="2400" dirty="0">
                <a:latin typeface="Times New Roman" panose="02020603050405020304" pitchFamily="18" charset="0"/>
                <a:cs typeface="Times New Roman" panose="02020603050405020304" pitchFamily="18" charset="0"/>
              </a:rPr>
              <a:t>, contextual embeddings like </a:t>
            </a:r>
            <a:r>
              <a:rPr lang="en-US" sz="2400" b="1" dirty="0">
                <a:latin typeface="Times New Roman" panose="02020603050405020304" pitchFamily="18" charset="0"/>
                <a:cs typeface="Times New Roman" panose="02020603050405020304" pitchFamily="18" charset="0"/>
              </a:rPr>
              <a:t>BERT</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encoder-decoder</a:t>
            </a:r>
            <a:r>
              <a:rPr lang="en-US" sz="2400" dirty="0">
                <a:latin typeface="Times New Roman" panose="02020603050405020304" pitchFamily="18" charset="0"/>
                <a:cs typeface="Times New Roman" panose="02020603050405020304" pitchFamily="18" charset="0"/>
              </a:rPr>
              <a:t> models and </a:t>
            </a:r>
            <a:r>
              <a:rPr lang="en-US" sz="2400" b="1" dirty="0">
                <a:latin typeface="Times New Roman" panose="02020603050405020304" pitchFamily="18" charset="0"/>
                <a:cs typeface="Times New Roman" panose="02020603050405020304" pitchFamily="18" charset="0"/>
              </a:rPr>
              <a:t>attention</a:t>
            </a:r>
            <a:r>
              <a:rPr lang="en-US" sz="24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4</a:t>
            </a:fld>
            <a:endParaRPr lang="en-GB"/>
          </a:p>
        </p:txBody>
      </p:sp>
    </p:spTree>
    <p:extLst>
      <p:ext uri="{BB962C8B-B14F-4D97-AF65-F5344CB8AC3E}">
        <p14:creationId xmlns:p14="http://schemas.microsoft.com/office/powerpoint/2010/main" val="2650633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Units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868338"/>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building block of a neural network is a single computational unit. A unit takes a set of real valued numbers as input, performs some computation on them, and produces an output.</a:t>
                </a:r>
              </a:p>
              <a:p>
                <a:pPr algn="just">
                  <a:lnSpc>
                    <a:spcPct val="150000"/>
                  </a:lnSpc>
                </a:pPr>
                <a:r>
                  <a:rPr lang="en-US" sz="2400" dirty="0">
                    <a:latin typeface="Times New Roman" panose="02020603050405020304" pitchFamily="18" charset="0"/>
                    <a:cs typeface="Times New Roman" panose="02020603050405020304" pitchFamily="18" charset="0"/>
                  </a:rPr>
                  <a:t>At its heart, a neural unit is taking a weighted sum of its inputs, with one additional term in the sum called a </a:t>
                </a:r>
                <a:r>
                  <a:rPr lang="en-US" sz="2400" b="1" dirty="0">
                    <a:latin typeface="Times New Roman" panose="02020603050405020304" pitchFamily="18" charset="0"/>
                    <a:cs typeface="Times New Roman" panose="02020603050405020304" pitchFamily="18" charset="0"/>
                  </a:rPr>
                  <a:t>bias term</a:t>
                </a:r>
                <a:r>
                  <a:rPr lang="en-US" sz="2400" dirty="0">
                    <a:latin typeface="Times New Roman" panose="02020603050405020304" pitchFamily="18" charset="0"/>
                    <a:cs typeface="Times New Roman" panose="02020603050405020304" pitchFamily="18" charset="0"/>
                  </a:rPr>
                  <a:t>. </a:t>
                </a:r>
              </a:p>
              <a:p>
                <a:pPr algn="just">
                  <a:lnSpc>
                    <a:spcPct val="150000"/>
                  </a:lnSpc>
                </a:pPr>
                <a:r>
                  <a:rPr lang="en-US" sz="2400" dirty="0">
                    <a:latin typeface="Times New Roman" panose="02020603050405020304" pitchFamily="18" charset="0"/>
                    <a:cs typeface="Times New Roman" panose="02020603050405020304" pitchFamily="18" charset="0"/>
                  </a:rPr>
                  <a:t>Given a set of inputs </a:t>
                </a:r>
                <a14:m>
                  <m:oMath xmlns:m="http://schemas.openxmlformats.org/officeDocument/2006/math">
                    <m:sSub>
                      <m:sSubPr>
                        <m:ctrlPr>
                          <a:rPr lang="en-US" sz="2400" b="1" i="1" smtClean="0">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𝒙</m:t>
                        </m:r>
                      </m:e>
                      <m:sub>
                        <m:r>
                          <a:rPr lang="en-US" sz="2400" b="1" i="1" smtClean="0">
                            <a:latin typeface="Cambria Math" panose="02040503050406030204" pitchFamily="18" charset="0"/>
                            <a:cs typeface="Times New Roman" panose="02020603050405020304" pitchFamily="18" charset="0"/>
                          </a:rPr>
                          <m:t>𝟏</m:t>
                        </m:r>
                      </m:sub>
                    </m:sSub>
                    <m:r>
                      <a:rPr lang="en-US" sz="2400" b="1" i="1" smtClean="0">
                        <a:latin typeface="Cambria Math" panose="02040503050406030204" pitchFamily="18" charset="0"/>
                        <a:cs typeface="Times New Roman" panose="02020603050405020304" pitchFamily="18" charset="0"/>
                      </a:rPr>
                      <m:t>…</m:t>
                    </m:r>
                    <m:sSub>
                      <m:sSubPr>
                        <m:ctrlPr>
                          <a:rPr lang="en-US" sz="2400" b="1" i="1" smtClean="0">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𝒙</m:t>
                        </m:r>
                      </m:e>
                      <m:sub>
                        <m:r>
                          <a:rPr lang="en-US" sz="2400" b="1" i="1" smtClean="0">
                            <a:latin typeface="Cambria Math" panose="02040503050406030204" pitchFamily="18" charset="0"/>
                            <a:cs typeface="Times New Roman" panose="02020603050405020304" pitchFamily="18" charset="0"/>
                          </a:rPr>
                          <m:t>𝒏</m:t>
                        </m:r>
                      </m:sub>
                    </m:sSub>
                  </m:oMath>
                </a14:m>
                <a:r>
                  <a:rPr lang="en-US" sz="2400" dirty="0">
                    <a:latin typeface="Times New Roman" panose="02020603050405020304" pitchFamily="18" charset="0"/>
                    <a:cs typeface="Times New Roman" panose="02020603050405020304" pitchFamily="18" charset="0"/>
                  </a:rPr>
                  <a:t>, a unit has a set of corresponding weights </a:t>
                </a:r>
                <a14:m>
                  <m:oMath xmlns:m="http://schemas.openxmlformats.org/officeDocument/2006/math">
                    <m:sSub>
                      <m:sSubPr>
                        <m:ctrlPr>
                          <a:rPr lang="en-US" sz="2400" b="1" i="1">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𝒘</m:t>
                        </m:r>
                      </m:e>
                      <m:sub>
                        <m:r>
                          <a:rPr lang="en-US" sz="2400" b="1" i="1">
                            <a:latin typeface="Cambria Math" panose="02040503050406030204" pitchFamily="18" charset="0"/>
                            <a:cs typeface="Times New Roman" panose="02020603050405020304" pitchFamily="18" charset="0"/>
                          </a:rPr>
                          <m:t>𝟏</m:t>
                        </m:r>
                      </m:sub>
                    </m:sSub>
                    <m:r>
                      <a:rPr lang="en-US" sz="2400" b="1" i="1">
                        <a:latin typeface="Cambria Math" panose="02040503050406030204" pitchFamily="18" charset="0"/>
                        <a:cs typeface="Times New Roman" panose="02020603050405020304" pitchFamily="18" charset="0"/>
                      </a:rPr>
                      <m:t>…</m:t>
                    </m:r>
                    <m:sSub>
                      <m:sSubPr>
                        <m:ctrlPr>
                          <a:rPr lang="en-US" sz="2400" b="1" i="1">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𝒘</m:t>
                        </m:r>
                      </m:e>
                      <m:sub>
                        <m:r>
                          <a:rPr lang="en-US" sz="2400" b="1" i="1">
                            <a:latin typeface="Cambria Math" panose="02040503050406030204" pitchFamily="18" charset="0"/>
                            <a:cs typeface="Times New Roman" panose="02020603050405020304" pitchFamily="18" charset="0"/>
                          </a:rPr>
                          <m:t>𝒏</m:t>
                        </m:r>
                      </m:sub>
                    </m:sSub>
                  </m:oMath>
                </a14:m>
                <a:r>
                  <a:rPr lang="en-US" sz="2400" dirty="0">
                    <a:latin typeface="Times New Roman" panose="02020603050405020304" pitchFamily="18" charset="0"/>
                    <a:cs typeface="Times New Roman" panose="02020603050405020304" pitchFamily="18" charset="0"/>
                  </a:rPr>
                  <a:t> and a bias </a:t>
                </a:r>
                <a:r>
                  <a:rPr lang="en-US" sz="2400" b="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so the weighted sum </a:t>
                </a:r>
                <a:r>
                  <a:rPr lang="en-US" sz="2400" b="1" dirty="0">
                    <a:latin typeface="Times New Roman" panose="02020603050405020304" pitchFamily="18" charset="0"/>
                    <a:cs typeface="Times New Roman" panose="02020603050405020304" pitchFamily="18" charset="0"/>
                  </a:rPr>
                  <a:t>z</a:t>
                </a:r>
                <a:r>
                  <a:rPr lang="en-US" sz="2400" dirty="0">
                    <a:latin typeface="Times New Roman" panose="02020603050405020304" pitchFamily="18" charset="0"/>
                    <a:cs typeface="Times New Roman" panose="02020603050405020304" pitchFamily="18" charset="0"/>
                  </a:rPr>
                  <a:t> can be represented as:</a:t>
                </a:r>
              </a:p>
              <a:p>
                <a:pPr algn="just">
                  <a:lnSpc>
                    <a:spcPct val="150000"/>
                  </a:lnSpc>
                </a:pPr>
                <a14:m>
                  <m:oMathPara xmlns:m="http://schemas.openxmlformats.org/officeDocument/2006/math">
                    <m:oMathParaPr>
                      <m:jc m:val="centerGroup"/>
                    </m:oMathParaPr>
                    <m:oMath xmlns:m="http://schemas.openxmlformats.org/officeDocument/2006/math">
                      <m:r>
                        <a:rPr lang="en-US" sz="2400">
                          <a:latin typeface="Cambria Math" panose="02040503050406030204" pitchFamily="18" charset="0"/>
                          <a:cs typeface="Times New Roman" panose="02020603050405020304" pitchFamily="18" charset="0"/>
                        </a:rPr>
                        <m:t>𝑧</m:t>
                      </m:r>
                      <m:r>
                        <a:rPr lang="en-US" sz="2400">
                          <a:latin typeface="Cambria Math" panose="02040503050406030204" pitchFamily="18" charset="0"/>
                          <a:cs typeface="Times New Roman" panose="02020603050405020304" pitchFamily="18" charset="0"/>
                        </a:rPr>
                        <m:t>=</m:t>
                      </m:r>
                      <m:r>
                        <a:rPr lang="en-US" sz="2400">
                          <a:latin typeface="Cambria Math" panose="02040503050406030204" pitchFamily="18" charset="0"/>
                          <a:cs typeface="Times New Roman" panose="02020603050405020304" pitchFamily="18" charset="0"/>
                        </a:rPr>
                        <m:t>𝑏</m:t>
                      </m:r>
                      <m:r>
                        <a:rPr lang="en-US" sz="2400">
                          <a:latin typeface="Cambria Math" panose="02040503050406030204" pitchFamily="18" charset="0"/>
                          <a:cs typeface="Times New Roman" panose="02020603050405020304" pitchFamily="18" charset="0"/>
                        </a:rPr>
                        <m:t>+</m:t>
                      </m:r>
                      <m:nary>
                        <m:naryPr>
                          <m:chr m:val="∑"/>
                          <m:supHide m:val="on"/>
                          <m:ctrlPr>
                            <a:rPr lang="en-US" sz="2400" i="1">
                              <a:latin typeface="Cambria Math" panose="02040503050406030204" pitchFamily="18" charset="0"/>
                              <a:cs typeface="Times New Roman" panose="02020603050405020304" pitchFamily="18" charset="0"/>
                            </a:rPr>
                          </m:ctrlPr>
                        </m:naryPr>
                        <m:sub>
                          <m:r>
                            <m:rPr>
                              <m:brk m:alnAt="7"/>
                            </m:rPr>
                            <a:rPr lang="en-US" sz="2400">
                              <a:latin typeface="Cambria Math" panose="02040503050406030204" pitchFamily="18" charset="0"/>
                              <a:cs typeface="Times New Roman" panose="02020603050405020304" pitchFamily="18" charset="0"/>
                            </a:rPr>
                            <m:t>𝑖</m:t>
                          </m:r>
                        </m:sub>
                        <m:sup/>
                        <m:e>
                          <m:sSub>
                            <m:sSubPr>
                              <m:ctrlPr>
                                <a:rPr lang="en-US" sz="2400" i="1">
                                  <a:latin typeface="Cambria Math" panose="02040503050406030204" pitchFamily="18" charset="0"/>
                                  <a:cs typeface="Times New Roman" panose="02020603050405020304" pitchFamily="18" charset="0"/>
                                </a:rPr>
                              </m:ctrlPr>
                            </m:sSubPr>
                            <m:e>
                              <m:r>
                                <a:rPr lang="en-US" sz="2400">
                                  <a:latin typeface="Cambria Math" panose="02040503050406030204" pitchFamily="18" charset="0"/>
                                  <a:cs typeface="Times New Roman" panose="02020603050405020304" pitchFamily="18" charset="0"/>
                                </a:rPr>
                                <m:t>𝑤</m:t>
                              </m:r>
                            </m:e>
                            <m:sub>
                              <m:r>
                                <a:rPr lang="en-US" sz="2400">
                                  <a:latin typeface="Cambria Math" panose="02040503050406030204" pitchFamily="18" charset="0"/>
                                  <a:cs typeface="Times New Roman" panose="02020603050405020304" pitchFamily="18" charset="0"/>
                                </a:rPr>
                                <m:t>𝑖</m:t>
                              </m:r>
                            </m:sub>
                          </m:sSub>
                          <m:sSub>
                            <m:sSubPr>
                              <m:ctrlPr>
                                <a:rPr lang="en-US" sz="2400" i="1">
                                  <a:latin typeface="Cambria Math" panose="02040503050406030204" pitchFamily="18" charset="0"/>
                                  <a:cs typeface="Times New Roman" panose="02020603050405020304" pitchFamily="18" charset="0"/>
                                </a:rPr>
                              </m:ctrlPr>
                            </m:sSubPr>
                            <m:e>
                              <m:r>
                                <a:rPr lang="en-US" sz="2400">
                                  <a:latin typeface="Cambria Math" panose="02040503050406030204" pitchFamily="18" charset="0"/>
                                  <a:cs typeface="Times New Roman" panose="02020603050405020304" pitchFamily="18" charset="0"/>
                                </a:rPr>
                                <m:t>𝑥</m:t>
                              </m:r>
                            </m:e>
                            <m:sub>
                              <m:r>
                                <a:rPr lang="en-US" sz="2400">
                                  <a:latin typeface="Cambria Math" panose="02040503050406030204" pitchFamily="18" charset="0"/>
                                  <a:cs typeface="Times New Roman" panose="02020603050405020304" pitchFamily="18" charset="0"/>
                                </a:rPr>
                                <m:t>𝑖</m:t>
                              </m:r>
                            </m:sub>
                          </m:sSub>
                        </m:e>
                      </m:nary>
                    </m:oMath>
                  </m:oMathPara>
                </a14:m>
                <a:endParaRPr lang="en-US" sz="2400" dirty="0">
                  <a:latin typeface="Times New Roman" panose="02020603050405020304" pitchFamily="18" charset="0"/>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en-US" sz="2400">
                          <a:latin typeface="Cambria Math" panose="02040503050406030204" pitchFamily="18" charset="0"/>
                          <a:cs typeface="Times New Roman" panose="02020603050405020304" pitchFamily="18" charset="0"/>
                        </a:rPr>
                        <m:t>𝑧</m:t>
                      </m:r>
                      <m:r>
                        <a:rPr lang="en-US" sz="2400">
                          <a:latin typeface="Cambria Math" panose="02040503050406030204" pitchFamily="18" charset="0"/>
                          <a:cs typeface="Times New Roman" panose="02020603050405020304" pitchFamily="18" charset="0"/>
                        </a:rPr>
                        <m:t>=</m:t>
                      </m:r>
                      <m:r>
                        <a:rPr lang="en-US" sz="2400" smtClean="0">
                          <a:latin typeface="Cambria Math" panose="02040503050406030204" pitchFamily="18" charset="0"/>
                          <a:cs typeface="Times New Roman" panose="02020603050405020304" pitchFamily="18" charset="0"/>
                        </a:rPr>
                        <m:t>𝑾</m:t>
                      </m:r>
                      <m:r>
                        <a:rPr lang="en-US" sz="2400" smtClean="0">
                          <a:latin typeface="Cambria Math" panose="02040503050406030204" pitchFamily="18" charset="0"/>
                          <a:cs typeface="Times New Roman" panose="02020603050405020304" pitchFamily="18" charset="0"/>
                        </a:rPr>
                        <m:t>.</m:t>
                      </m:r>
                      <m:r>
                        <a:rPr lang="en-US" sz="2400" smtClean="0">
                          <a:latin typeface="Cambria Math" panose="02040503050406030204" pitchFamily="18" charset="0"/>
                          <a:cs typeface="Times New Roman" panose="02020603050405020304" pitchFamily="18" charset="0"/>
                        </a:rPr>
                        <m:t>𝑿</m:t>
                      </m:r>
                      <m:r>
                        <a:rPr lang="en-US" sz="2400">
                          <a:latin typeface="Cambria Math" panose="02040503050406030204" pitchFamily="18" charset="0"/>
                          <a:cs typeface="Times New Roman" panose="02020603050405020304" pitchFamily="18" charset="0"/>
                        </a:rPr>
                        <m:t>+</m:t>
                      </m:r>
                      <m:r>
                        <a:rPr lang="en-US" sz="2400">
                          <a:latin typeface="Cambria Math" panose="02040503050406030204" pitchFamily="18" charset="0"/>
                          <a:cs typeface="Times New Roman" panose="02020603050405020304" pitchFamily="18" charset="0"/>
                        </a:rPr>
                        <m:t>𝑏</m:t>
                      </m:r>
                    </m:oMath>
                  </m:oMathPara>
                </a14:m>
                <a:endParaRPr lang="en-US" sz="2400"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8" y="1095708"/>
                <a:ext cx="9949543" cy="5868338"/>
              </a:xfrm>
              <a:prstGeom prst="rect">
                <a:avLst/>
              </a:prstGeom>
              <a:blipFill>
                <a:blip r:embed="rId2"/>
                <a:stretch>
                  <a:fillRect l="-980" r="-919"/>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5</a:t>
            </a:fld>
            <a:endParaRPr lang="en-GB"/>
          </a:p>
        </p:txBody>
      </p:sp>
    </p:spTree>
    <p:extLst>
      <p:ext uri="{BB962C8B-B14F-4D97-AF65-F5344CB8AC3E}">
        <p14:creationId xmlns:p14="http://schemas.microsoft.com/office/powerpoint/2010/main" val="1424647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Activation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011949"/>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Instead of using </a:t>
                </a:r>
                <a:r>
                  <a:rPr lang="en-US" sz="2400" b="1" dirty="0">
                    <a:latin typeface="Times New Roman" panose="02020603050405020304" pitchFamily="18" charset="0"/>
                    <a:cs typeface="Times New Roman" panose="02020603050405020304" pitchFamily="18" charset="0"/>
                  </a:rPr>
                  <a:t>z</a:t>
                </a:r>
                <a:r>
                  <a:rPr lang="en-US" sz="2400" dirty="0">
                    <a:latin typeface="Times New Roman" panose="02020603050405020304" pitchFamily="18" charset="0"/>
                    <a:cs typeface="Times New Roman" panose="02020603050405020304" pitchFamily="18" charset="0"/>
                  </a:rPr>
                  <a:t>, a linear function of </a:t>
                </a:r>
                <a:r>
                  <a:rPr lang="en-US" sz="2400" b="1" dirty="0">
                    <a:latin typeface="Times New Roman" panose="02020603050405020304" pitchFamily="18" charset="0"/>
                    <a:cs typeface="Times New Roman" panose="02020603050405020304" pitchFamily="18" charset="0"/>
                  </a:rPr>
                  <a:t>x</a:t>
                </a:r>
                <a:r>
                  <a:rPr lang="en-US" sz="2400" dirty="0">
                    <a:latin typeface="Times New Roman" panose="02020603050405020304" pitchFamily="18" charset="0"/>
                    <a:cs typeface="Times New Roman" panose="02020603050405020304" pitchFamily="18" charset="0"/>
                  </a:rPr>
                  <a:t>, as the output, neural units apply a </a:t>
                </a:r>
                <a:r>
                  <a:rPr lang="en-US" sz="2400" b="1" dirty="0">
                    <a:latin typeface="Times New Roman" panose="02020603050405020304" pitchFamily="18" charset="0"/>
                    <a:cs typeface="Times New Roman" panose="02020603050405020304" pitchFamily="18" charset="0"/>
                  </a:rPr>
                  <a:t>non-linear function</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f</a:t>
                </a:r>
                <a:r>
                  <a:rPr lang="en-US" sz="2400" dirty="0">
                    <a:latin typeface="Times New Roman" panose="02020603050405020304" pitchFamily="18" charset="0"/>
                    <a:cs typeface="Times New Roman" panose="02020603050405020304" pitchFamily="18" charset="0"/>
                  </a:rPr>
                  <a:t> to </a:t>
                </a:r>
                <a:r>
                  <a:rPr lang="en-US" sz="2400" b="1" dirty="0">
                    <a:latin typeface="Times New Roman" panose="02020603050405020304" pitchFamily="18" charset="0"/>
                    <a:cs typeface="Times New Roman" panose="02020603050405020304" pitchFamily="18" charset="0"/>
                  </a:rPr>
                  <a:t>z</a:t>
                </a:r>
                <a:r>
                  <a:rPr lang="en-US" sz="2400" dirty="0">
                    <a:latin typeface="Times New Roman" panose="02020603050405020304" pitchFamily="18" charset="0"/>
                    <a:cs typeface="Times New Roman" panose="02020603050405020304" pitchFamily="18" charset="0"/>
                  </a:rPr>
                  <a:t>. We will refer to the output of this function as the </a:t>
                </a:r>
                <a:r>
                  <a:rPr lang="en-US" sz="2400" b="1" dirty="0">
                    <a:latin typeface="Times New Roman" panose="02020603050405020304" pitchFamily="18" charset="0"/>
                    <a:cs typeface="Times New Roman" panose="02020603050405020304" pitchFamily="18" charset="0"/>
                  </a:rPr>
                  <a:t>activation value </a:t>
                </a:r>
                <a:r>
                  <a:rPr lang="en-US" sz="2400" dirty="0">
                    <a:latin typeface="Times New Roman" panose="02020603050405020304" pitchFamily="18" charset="0"/>
                    <a:cs typeface="Times New Roman" panose="02020603050405020304" pitchFamily="18" charset="0"/>
                  </a:rPr>
                  <a:t>for the unit, </a:t>
                </a:r>
                <a:r>
                  <a:rPr lang="en-US" sz="2400" b="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a:t>
                </a:r>
              </a:p>
              <a:p>
                <a:pPr algn="just">
                  <a:lnSpc>
                    <a:spcPct val="150000"/>
                  </a:lnSpc>
                </a:pPr>
                <a:r>
                  <a:rPr lang="en-US" sz="2400" dirty="0">
                    <a:latin typeface="Times New Roman" panose="02020603050405020304" pitchFamily="18" charset="0"/>
                    <a:cs typeface="Times New Roman" panose="02020603050405020304" pitchFamily="18" charset="0"/>
                  </a:rPr>
                  <a:t>Since we are just modeling a single unit, the activation for the node is in fact the final output of the network, which we’ll generally call y. So, the value y is defined as:</a:t>
                </a:r>
                <a:endParaRPr lang="en-US" sz="2000" b="0" i="1" dirty="0">
                  <a:latin typeface="Cambria Math" panose="02040503050406030204" pitchFamily="18" charset="0"/>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en-US" sz="2400">
                          <a:latin typeface="Cambria Math" panose="02040503050406030204" pitchFamily="18" charset="0"/>
                          <a:cs typeface="Times New Roman" panose="02020603050405020304" pitchFamily="18" charset="0"/>
                        </a:rPr>
                        <m:t>𝑦</m:t>
                      </m:r>
                      <m:r>
                        <a:rPr lang="en-US" sz="2400">
                          <a:latin typeface="Cambria Math" panose="02040503050406030204" pitchFamily="18" charset="0"/>
                          <a:cs typeface="Times New Roman" panose="02020603050405020304" pitchFamily="18" charset="0"/>
                        </a:rPr>
                        <m:t>=</m:t>
                      </m:r>
                      <m:r>
                        <a:rPr lang="en-US" sz="2400">
                          <a:latin typeface="Cambria Math" panose="02040503050406030204" pitchFamily="18" charset="0"/>
                          <a:cs typeface="Times New Roman" panose="02020603050405020304" pitchFamily="18" charset="0"/>
                        </a:rPr>
                        <m:t>𝑎</m:t>
                      </m:r>
                      <m:r>
                        <a:rPr lang="en-US" sz="2400">
                          <a:latin typeface="Cambria Math" panose="02040503050406030204" pitchFamily="18" charset="0"/>
                          <a:cs typeface="Times New Roman" panose="02020603050405020304" pitchFamily="18" charset="0"/>
                        </a:rPr>
                        <m:t>=</m:t>
                      </m:r>
                      <m:r>
                        <a:rPr lang="en-US" sz="2400">
                          <a:latin typeface="Cambria Math" panose="02040503050406030204" pitchFamily="18" charset="0"/>
                          <a:cs typeface="Times New Roman" panose="02020603050405020304" pitchFamily="18" charset="0"/>
                        </a:rPr>
                        <m:t>𝑓</m:t>
                      </m:r>
                      <m:r>
                        <a:rPr lang="en-US" sz="2400">
                          <a:latin typeface="Cambria Math" panose="02040503050406030204" pitchFamily="18" charset="0"/>
                          <a:cs typeface="Times New Roman" panose="02020603050405020304" pitchFamily="18" charset="0"/>
                        </a:rPr>
                        <m:t>(</m:t>
                      </m:r>
                      <m:r>
                        <a:rPr lang="en-US" sz="2400">
                          <a:latin typeface="Cambria Math" panose="02040503050406030204" pitchFamily="18" charset="0"/>
                          <a:cs typeface="Times New Roman" panose="02020603050405020304" pitchFamily="18" charset="0"/>
                        </a:rPr>
                        <m:t>𝑧</m:t>
                      </m:r>
                      <m:r>
                        <a:rPr lang="en-US" sz="2400">
                          <a:latin typeface="Cambria Math" panose="02040503050406030204" pitchFamily="18" charset="0"/>
                          <a:cs typeface="Times New Roman" panose="02020603050405020304" pitchFamily="18" charset="0"/>
                        </a:rPr>
                        <m:t>)</m:t>
                      </m:r>
                    </m:oMath>
                  </m:oMathPara>
                </a14:m>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We’ll discuss three popular non-linear functions f() the sigmoid, the tanh, and the rectified linear unit or </a:t>
                </a:r>
                <a:r>
                  <a:rPr lang="en-US" sz="2400" dirty="0" err="1">
                    <a:latin typeface="Times New Roman" panose="02020603050405020304" pitchFamily="18" charset="0"/>
                    <a:cs typeface="Times New Roman" panose="02020603050405020304" pitchFamily="18" charset="0"/>
                  </a:rPr>
                  <a:t>ReLU</a:t>
                </a:r>
                <a:r>
                  <a:rPr lang="en-US" sz="2400" dirty="0">
                    <a:latin typeface="Times New Roman" panose="02020603050405020304" pitchFamily="18" charset="0"/>
                    <a:cs typeface="Times New Roman" panose="02020603050405020304" pitchFamily="18" charset="0"/>
                  </a:rPr>
                  <a:t>. </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8" y="1095708"/>
                <a:ext cx="9949543" cy="5011949"/>
              </a:xfrm>
              <a:prstGeom prst="rect">
                <a:avLst/>
              </a:prstGeom>
              <a:blipFill>
                <a:blip r:embed="rId2"/>
                <a:stretch>
                  <a:fillRect l="-980" r="-919" b="-1946"/>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6</a:t>
            </a:fld>
            <a:endParaRPr lang="en-GB"/>
          </a:p>
        </p:txBody>
      </p:sp>
    </p:spTree>
    <p:extLst>
      <p:ext uri="{BB962C8B-B14F-4D97-AF65-F5344CB8AC3E}">
        <p14:creationId xmlns:p14="http://schemas.microsoft.com/office/powerpoint/2010/main" val="1092046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Sigmoid function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2403478"/>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sigmoid has a number of advantages; it maps the output into the range [0,1], which is useful in squashing outliers toward </a:t>
                </a:r>
                <a:r>
                  <a:rPr lang="en-US" sz="2400" b="1" dirty="0">
                    <a:latin typeface="Times New Roman" panose="02020603050405020304" pitchFamily="18" charset="0"/>
                    <a:cs typeface="Times New Roman" panose="02020603050405020304" pitchFamily="18" charset="0"/>
                  </a:rPr>
                  <a:t>0 or 1</a:t>
                </a:r>
                <a:r>
                  <a:rPr lang="en-US" sz="2400" dirty="0">
                    <a:latin typeface="Times New Roman" panose="02020603050405020304" pitchFamily="18" charset="0"/>
                    <a:cs typeface="Times New Roman" panose="02020603050405020304" pitchFamily="18" charset="0"/>
                  </a:rPr>
                  <a:t>. And it’s </a:t>
                </a:r>
                <a:r>
                  <a:rPr lang="en-US" sz="2400" b="1" dirty="0">
                    <a:latin typeface="Times New Roman" panose="02020603050405020304" pitchFamily="18" charset="0"/>
                    <a:cs typeface="Times New Roman" panose="02020603050405020304" pitchFamily="18" charset="0"/>
                  </a:rPr>
                  <a:t>differentiable</a:t>
                </a:r>
                <a:r>
                  <a:rPr lang="en-US" sz="2400" dirty="0">
                    <a:latin typeface="Times New Roman" panose="02020603050405020304" pitchFamily="18" charset="0"/>
                    <a:cs typeface="Times New Roman" panose="02020603050405020304" pitchFamily="18" charset="0"/>
                  </a:rPr>
                  <a:t>, which will be handy for learning.</a:t>
                </a:r>
              </a:p>
              <a:p>
                <a:pPr algn="just">
                  <a:lnSpc>
                    <a:spcPct val="150000"/>
                  </a:lnSpc>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r>
                        <m:rPr>
                          <m:sty m:val="p"/>
                        </m:rPr>
                        <a:rPr lang="el-GR" sz="2400" b="0" i="1" smtClean="0">
                          <a:latin typeface="Cambria Math" panose="02040503050406030204" pitchFamily="18" charset="0"/>
                          <a:cs typeface="Times New Roman" panose="02020603050405020304" pitchFamily="18" charset="0"/>
                        </a:rPr>
                        <m:t>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𝑧</m:t>
                          </m:r>
                        </m:e>
                      </m:d>
                      <m:r>
                        <a:rPr lang="en-US" sz="2400" b="0" i="1" smtClean="0">
                          <a:latin typeface="Cambria Math" panose="02040503050406030204" pitchFamily="18" charset="0"/>
                          <a:cs typeface="Times New Roman" panose="02020603050405020304" pitchFamily="18" charset="0"/>
                        </a:rPr>
                        <m:t>= </m:t>
                      </m:r>
                      <m:box>
                        <m:boxPr>
                          <m:ctrlPr>
                            <a:rPr lang="en-US" sz="2400" b="0" i="1" smtClean="0">
                              <a:latin typeface="Cambria Math" panose="02040503050406030204" pitchFamily="18" charset="0"/>
                              <a:cs typeface="Times New Roman" panose="02020603050405020304" pitchFamily="18" charset="0"/>
                            </a:rPr>
                          </m:ctrlPr>
                        </m:boxPr>
                        <m:e>
                          <m:argPr>
                            <m:argSz m:val="-1"/>
                          </m:argP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1+</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𝑒</m:t>
                                  </m:r>
                                </m:e>
                                <m:sup>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𝑧</m:t>
                                  </m:r>
                                </m:sup>
                              </m:sSup>
                            </m:den>
                          </m:f>
                        </m:e>
                      </m:box>
                    </m:oMath>
                  </m:oMathPara>
                </a14:m>
                <a:endParaRPr lang="en-US" sz="2400"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8" y="1095708"/>
                <a:ext cx="9949543" cy="2403478"/>
              </a:xfrm>
              <a:prstGeom prst="rect">
                <a:avLst/>
              </a:prstGeom>
              <a:blipFill>
                <a:blip r:embed="rId3"/>
                <a:stretch>
                  <a:fillRect l="-980" r="-919"/>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7</a:t>
            </a:fld>
            <a:endParaRPr lang="en-GB"/>
          </a:p>
        </p:txBody>
      </p:sp>
      <p:pic>
        <p:nvPicPr>
          <p:cNvPr id="6" name="Picture 5">
            <a:extLst>
              <a:ext uri="{FF2B5EF4-FFF2-40B4-BE49-F238E27FC236}">
                <a16:creationId xmlns:a16="http://schemas.microsoft.com/office/drawing/2014/main" id="{876B462C-730F-6678-A2CE-855CC5707265}"/>
              </a:ext>
            </a:extLst>
          </p:cNvPr>
          <p:cNvPicPr>
            <a:picLocks noChangeAspect="1"/>
          </p:cNvPicPr>
          <p:nvPr/>
        </p:nvPicPr>
        <p:blipFill>
          <a:blip r:embed="rId4"/>
          <a:stretch>
            <a:fillRect/>
          </a:stretch>
        </p:blipFill>
        <p:spPr>
          <a:xfrm>
            <a:off x="3014661" y="3581816"/>
            <a:ext cx="6162675" cy="2409825"/>
          </a:xfrm>
          <a:prstGeom prst="rect">
            <a:avLst/>
          </a:prstGeom>
        </p:spPr>
      </p:pic>
      <p:pic>
        <p:nvPicPr>
          <p:cNvPr id="8" name="Picture 7">
            <a:extLst>
              <a:ext uri="{FF2B5EF4-FFF2-40B4-BE49-F238E27FC236}">
                <a16:creationId xmlns:a16="http://schemas.microsoft.com/office/drawing/2014/main" id="{F5DE0B5E-B859-3C9B-E2DF-DFCE046795C8}"/>
              </a:ext>
            </a:extLst>
          </p:cNvPr>
          <p:cNvPicPr>
            <a:picLocks noChangeAspect="1"/>
          </p:cNvPicPr>
          <p:nvPr/>
        </p:nvPicPr>
        <p:blipFill>
          <a:blip r:embed="rId5"/>
          <a:stretch>
            <a:fillRect/>
          </a:stretch>
        </p:blipFill>
        <p:spPr>
          <a:xfrm>
            <a:off x="4113001" y="6074271"/>
            <a:ext cx="4333875" cy="733425"/>
          </a:xfrm>
          <a:prstGeom prst="rect">
            <a:avLst/>
          </a:prstGeom>
        </p:spPr>
      </p:pic>
    </p:spTree>
    <p:extLst>
      <p:ext uri="{BB962C8B-B14F-4D97-AF65-F5344CB8AC3E}">
        <p14:creationId xmlns:p14="http://schemas.microsoft.com/office/powerpoint/2010/main" val="1767605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Sigmoid function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2795958"/>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Fig shows a final schematic of a basic neural unit. In this example the unit takes 3 input values</a:t>
                </a:r>
                <a14:m>
                  <m:oMath xmlns:m="http://schemas.openxmlformats.org/officeDocument/2006/math">
                    <m:r>
                      <a:rPr lang="en-US" sz="2400" b="0" i="0" smtClean="0">
                        <a:latin typeface="Cambria Math" panose="02040503050406030204" pitchFamily="18" charset="0"/>
                        <a:cs typeface="Times New Roman" panose="02020603050405020304" pitchFamily="18" charset="0"/>
                      </a:rPr>
                      <m:t> </m:t>
                    </m:r>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 </m:t>
                    </m:r>
                  </m:oMath>
                </a14:m>
                <a:r>
                  <a:rPr lang="en-US" sz="2400" dirty="0">
                    <a:latin typeface="Times New Roman" panose="02020603050405020304" pitchFamily="18" charset="0"/>
                    <a:cs typeface="Times New Roman" panose="02020603050405020304" pitchFamily="18" charset="0"/>
                  </a:rPr>
                  <a:t>and</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 </m:t>
                        </m:r>
                        <m:r>
                          <a:rPr lang="en-US" sz="2400" i="1">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oMath>
                </a14:m>
                <a:r>
                  <a:rPr lang="en-US" sz="2400" dirty="0">
                    <a:latin typeface="Times New Roman" panose="02020603050405020304" pitchFamily="18" charset="0"/>
                    <a:cs typeface="Times New Roman" panose="02020603050405020304" pitchFamily="18" charset="0"/>
                  </a:rPr>
                  <a:t>, and computes a weighted sum, multiplying each value by a weight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 </m:t>
                    </m:r>
                  </m:oMath>
                </a14:m>
                <a:r>
                  <a:rPr lang="en-US" sz="2400" dirty="0">
                    <a:latin typeface="Times New Roman" panose="02020603050405020304" pitchFamily="18" charset="0"/>
                    <a:cs typeface="Times New Roman" panose="02020603050405020304" pitchFamily="18" charset="0"/>
                  </a:rPr>
                  <a:t>and</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3</m:t>
                        </m:r>
                      </m:sub>
                    </m:sSub>
                  </m:oMath>
                </a14:m>
                <a:r>
                  <a:rPr lang="en-US" sz="2400" dirty="0">
                    <a:latin typeface="Times New Roman" panose="02020603050405020304" pitchFamily="18" charset="0"/>
                    <a:cs typeface="Times New Roman" panose="02020603050405020304" pitchFamily="18" charset="0"/>
                  </a:rPr>
                  <a:t>, respectively), adds them to a bias term </a:t>
                </a:r>
                <a:r>
                  <a:rPr lang="en-US" sz="2400" b="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and then passes the resulting sum through a </a:t>
                </a:r>
                <a:r>
                  <a:rPr lang="en-US" sz="2400" b="1" dirty="0">
                    <a:latin typeface="Times New Roman" panose="02020603050405020304" pitchFamily="18" charset="0"/>
                    <a:cs typeface="Times New Roman" panose="02020603050405020304" pitchFamily="18" charset="0"/>
                  </a:rPr>
                  <a:t>sigmoid function </a:t>
                </a:r>
                <a:r>
                  <a:rPr lang="en-US" sz="2400" dirty="0">
                    <a:latin typeface="Times New Roman" panose="02020603050405020304" pitchFamily="18" charset="0"/>
                    <a:cs typeface="Times New Roman" panose="02020603050405020304" pitchFamily="18" charset="0"/>
                  </a:rPr>
                  <a:t>to result in a number between 0 and 1.</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8" y="1095708"/>
                <a:ext cx="9949543" cy="2795958"/>
              </a:xfrm>
              <a:prstGeom prst="rect">
                <a:avLst/>
              </a:prstGeom>
              <a:blipFill>
                <a:blip r:embed="rId2"/>
                <a:stretch>
                  <a:fillRect l="-980" r="-919" b="-4367"/>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8</a:t>
            </a:fld>
            <a:endParaRPr lang="en-GB"/>
          </a:p>
        </p:txBody>
      </p:sp>
      <p:pic>
        <p:nvPicPr>
          <p:cNvPr id="7" name="Picture 6">
            <a:extLst>
              <a:ext uri="{FF2B5EF4-FFF2-40B4-BE49-F238E27FC236}">
                <a16:creationId xmlns:a16="http://schemas.microsoft.com/office/drawing/2014/main" id="{A2421599-BCF2-34B1-F444-C7D9DCF5D950}"/>
              </a:ext>
            </a:extLst>
          </p:cNvPr>
          <p:cNvPicPr>
            <a:picLocks noChangeAspect="1"/>
          </p:cNvPicPr>
          <p:nvPr/>
        </p:nvPicPr>
        <p:blipFill>
          <a:blip r:embed="rId3"/>
          <a:stretch>
            <a:fillRect/>
          </a:stretch>
        </p:blipFill>
        <p:spPr>
          <a:xfrm>
            <a:off x="4116510" y="3715767"/>
            <a:ext cx="3781425" cy="2533650"/>
          </a:xfrm>
          <a:prstGeom prst="rect">
            <a:avLst/>
          </a:prstGeom>
        </p:spPr>
      </p:pic>
    </p:spTree>
    <p:extLst>
      <p:ext uri="{BB962C8B-B14F-4D97-AF65-F5344CB8AC3E}">
        <p14:creationId xmlns:p14="http://schemas.microsoft.com/office/powerpoint/2010/main" val="3795986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Sigmoid function</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3903954"/>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Let’s walk through an example just to get an intuition. Let’s suppose we have a</a:t>
            </a:r>
          </a:p>
          <a:p>
            <a:pPr algn="just">
              <a:lnSpc>
                <a:spcPct val="150000"/>
              </a:lnSpc>
            </a:pPr>
            <a:r>
              <a:rPr lang="en-US" sz="2400" dirty="0">
                <a:latin typeface="Times New Roman" panose="02020603050405020304" pitchFamily="18" charset="0"/>
                <a:cs typeface="Times New Roman" panose="02020603050405020304" pitchFamily="18" charset="0"/>
              </a:rPr>
              <a:t>unit with the following weight vector and bias:</a:t>
            </a:r>
          </a:p>
          <a:p>
            <a:pPr algn="just">
              <a:lnSpc>
                <a:spcPct val="150000"/>
              </a:lnSpc>
            </a:pPr>
            <a:r>
              <a:rPr lang="en-US" sz="2400" dirty="0">
                <a:latin typeface="Times New Roman" panose="02020603050405020304" pitchFamily="18" charset="0"/>
                <a:cs typeface="Times New Roman" panose="02020603050405020304" pitchFamily="18" charset="0"/>
              </a:rPr>
              <a:t>w = [0.2, 0.3, 0.9]</a:t>
            </a:r>
          </a:p>
          <a:p>
            <a:pPr algn="just">
              <a:lnSpc>
                <a:spcPct val="150000"/>
              </a:lnSpc>
            </a:pPr>
            <a:r>
              <a:rPr lang="en-US" sz="2400" dirty="0">
                <a:latin typeface="Times New Roman" panose="02020603050405020304" pitchFamily="18" charset="0"/>
                <a:cs typeface="Times New Roman" panose="02020603050405020304" pitchFamily="18" charset="0"/>
              </a:rPr>
              <a:t>b = 0.5</a:t>
            </a:r>
          </a:p>
          <a:p>
            <a:pPr algn="just">
              <a:lnSpc>
                <a:spcPct val="150000"/>
              </a:lnSpc>
            </a:pPr>
            <a:r>
              <a:rPr lang="en-US" sz="2400" dirty="0">
                <a:latin typeface="Times New Roman" panose="02020603050405020304" pitchFamily="18" charset="0"/>
                <a:cs typeface="Times New Roman" panose="02020603050405020304" pitchFamily="18" charset="0"/>
              </a:rPr>
              <a:t>What would this unit do with the following input vector:</a:t>
            </a:r>
          </a:p>
          <a:p>
            <a:pPr algn="just">
              <a:lnSpc>
                <a:spcPct val="150000"/>
              </a:lnSpc>
            </a:pPr>
            <a:r>
              <a:rPr lang="en-US" sz="2400" dirty="0">
                <a:latin typeface="Times New Roman" panose="02020603050405020304" pitchFamily="18" charset="0"/>
                <a:cs typeface="Times New Roman" panose="02020603050405020304" pitchFamily="18" charset="0"/>
              </a:rPr>
              <a:t>x = [0.5, 0.6, 0,1]</a:t>
            </a:r>
          </a:p>
          <a:p>
            <a:pPr algn="just">
              <a:lnSpc>
                <a:spcPct val="150000"/>
              </a:lnSpc>
            </a:pPr>
            <a:r>
              <a:rPr lang="en-US" sz="2400" dirty="0">
                <a:latin typeface="Times New Roman" panose="02020603050405020304" pitchFamily="18" charset="0"/>
                <a:cs typeface="Times New Roman" panose="02020603050405020304" pitchFamily="18" charset="0"/>
              </a:rPr>
              <a:t>The resulting output y would be:</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9</a:t>
            </a:fld>
            <a:endParaRPr lang="en-GB"/>
          </a:p>
        </p:txBody>
      </p:sp>
      <p:pic>
        <p:nvPicPr>
          <p:cNvPr id="6" name="Picture 5">
            <a:extLst>
              <a:ext uri="{FF2B5EF4-FFF2-40B4-BE49-F238E27FC236}">
                <a16:creationId xmlns:a16="http://schemas.microsoft.com/office/drawing/2014/main" id="{6334F0BF-8A67-9245-D1FE-BE8CFA7AA25F}"/>
              </a:ext>
            </a:extLst>
          </p:cNvPr>
          <p:cNvPicPr>
            <a:picLocks noChangeAspect="1"/>
          </p:cNvPicPr>
          <p:nvPr/>
        </p:nvPicPr>
        <p:blipFill>
          <a:blip r:embed="rId2"/>
          <a:stretch>
            <a:fillRect/>
          </a:stretch>
        </p:blipFill>
        <p:spPr>
          <a:xfrm>
            <a:off x="1899557" y="5350318"/>
            <a:ext cx="8372475" cy="695325"/>
          </a:xfrm>
          <a:prstGeom prst="rect">
            <a:avLst/>
          </a:prstGeom>
        </p:spPr>
      </p:pic>
    </p:spTree>
    <p:extLst>
      <p:ext uri="{BB962C8B-B14F-4D97-AF65-F5344CB8AC3E}">
        <p14:creationId xmlns:p14="http://schemas.microsoft.com/office/powerpoint/2010/main" val="2776441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Tanh and </a:t>
            </a:r>
            <a:r>
              <a:rPr lang="en-GB" sz="4000" b="1" dirty="0" err="1">
                <a:latin typeface="Times New Roman" panose="02020603050405020304" pitchFamily="18" charset="0"/>
                <a:cs typeface="Times New Roman" panose="02020603050405020304" pitchFamily="18" charset="0"/>
              </a:rPr>
              <a:t>ReLU</a:t>
            </a:r>
            <a:r>
              <a:rPr lang="en-GB" sz="4000" b="1" dirty="0">
                <a:latin typeface="Times New Roman" panose="02020603050405020304" pitchFamily="18" charset="0"/>
                <a:cs typeface="Times New Roman" panose="02020603050405020304" pitchFamily="18" charset="0"/>
              </a:rPr>
              <a:t> function</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1687963"/>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In practice, the sigmoid is not commonly used as an activation function. A function that is very similar but almost always better is the </a:t>
            </a:r>
            <a:r>
              <a:rPr lang="en-US" sz="2400" b="1" dirty="0">
                <a:latin typeface="Times New Roman" panose="02020603050405020304" pitchFamily="18" charset="0"/>
                <a:cs typeface="Times New Roman" panose="02020603050405020304" pitchFamily="18" charset="0"/>
              </a:rPr>
              <a:t>tanh</a:t>
            </a:r>
            <a:r>
              <a:rPr lang="en-US" sz="2400" dirty="0">
                <a:latin typeface="Times New Roman" panose="02020603050405020304" pitchFamily="18" charset="0"/>
                <a:cs typeface="Times New Roman" panose="02020603050405020304" pitchFamily="18" charset="0"/>
              </a:rPr>
              <a:t> function shown in below. tanh is a variant of the sigmoid that ranges from -1 to +1:</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10</a:t>
            </a:fld>
            <a:endParaRPr lang="en-GB"/>
          </a:p>
        </p:txBody>
      </p:sp>
      <p:sp>
        <p:nvSpPr>
          <p:cNvPr id="4" name="TextBox 3">
            <a:extLst>
              <a:ext uri="{FF2B5EF4-FFF2-40B4-BE49-F238E27FC236}">
                <a16:creationId xmlns:a16="http://schemas.microsoft.com/office/drawing/2014/main" id="{CF73B1C6-E26A-CD3A-FD14-3DC432583D5B}"/>
              </a:ext>
            </a:extLst>
          </p:cNvPr>
          <p:cNvSpPr txBox="1"/>
          <p:nvPr/>
        </p:nvSpPr>
        <p:spPr>
          <a:xfrm>
            <a:off x="1032451" y="3560702"/>
            <a:ext cx="9949543" cy="1687963"/>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simplest activation function, and perhaps the most commonly used, is the rectified linear unit, also called the </a:t>
            </a:r>
            <a:r>
              <a:rPr lang="en-US" sz="2400" b="1" dirty="0" err="1">
                <a:latin typeface="Times New Roman" panose="02020603050405020304" pitchFamily="18" charset="0"/>
                <a:cs typeface="Times New Roman" panose="02020603050405020304" pitchFamily="18" charset="0"/>
              </a:rPr>
              <a:t>ReLU</a:t>
            </a:r>
            <a:r>
              <a:rPr lang="en-US" sz="2400" dirty="0">
                <a:latin typeface="Times New Roman" panose="02020603050405020304" pitchFamily="18" charset="0"/>
                <a:cs typeface="Times New Roman" panose="02020603050405020304" pitchFamily="18" charset="0"/>
              </a:rPr>
              <a:t>, shown in below. It’s just the same as </a:t>
            </a:r>
            <a:r>
              <a:rPr lang="en-US" sz="2400" b="1" dirty="0">
                <a:latin typeface="Times New Roman" panose="02020603050405020304" pitchFamily="18" charset="0"/>
                <a:cs typeface="Times New Roman" panose="02020603050405020304" pitchFamily="18" charset="0"/>
              </a:rPr>
              <a:t>z</a:t>
            </a:r>
            <a:r>
              <a:rPr lang="en-US" sz="2400" dirty="0">
                <a:latin typeface="Times New Roman" panose="02020603050405020304" pitchFamily="18" charset="0"/>
                <a:cs typeface="Times New Roman" panose="02020603050405020304" pitchFamily="18" charset="0"/>
              </a:rPr>
              <a:t> when </a:t>
            </a:r>
            <a:r>
              <a:rPr lang="en-US" sz="2400" b="1" dirty="0">
                <a:latin typeface="Times New Roman" panose="02020603050405020304" pitchFamily="18" charset="0"/>
                <a:cs typeface="Times New Roman" panose="02020603050405020304" pitchFamily="18" charset="0"/>
              </a:rPr>
              <a:t>z</a:t>
            </a:r>
            <a:r>
              <a:rPr lang="en-US" sz="2400" dirty="0">
                <a:latin typeface="Times New Roman" panose="02020603050405020304" pitchFamily="18" charset="0"/>
                <a:cs typeface="Times New Roman" panose="02020603050405020304" pitchFamily="18" charset="0"/>
              </a:rPr>
              <a:t> is positive, and </a:t>
            </a:r>
            <a:r>
              <a:rPr lang="en-US" sz="2400" b="1"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otherwise:</a:t>
            </a:r>
          </a:p>
        </p:txBody>
      </p:sp>
      <p:pic>
        <p:nvPicPr>
          <p:cNvPr id="8" name="Picture 7">
            <a:extLst>
              <a:ext uri="{FF2B5EF4-FFF2-40B4-BE49-F238E27FC236}">
                <a16:creationId xmlns:a16="http://schemas.microsoft.com/office/drawing/2014/main" id="{FA5DF9AD-7216-B3F1-1BB6-A02046863261}"/>
              </a:ext>
            </a:extLst>
          </p:cNvPr>
          <p:cNvPicPr>
            <a:picLocks noChangeAspect="1"/>
          </p:cNvPicPr>
          <p:nvPr/>
        </p:nvPicPr>
        <p:blipFill>
          <a:blip r:embed="rId2"/>
          <a:stretch>
            <a:fillRect/>
          </a:stretch>
        </p:blipFill>
        <p:spPr>
          <a:xfrm>
            <a:off x="4494413" y="2824524"/>
            <a:ext cx="2457450" cy="695325"/>
          </a:xfrm>
          <a:prstGeom prst="rect">
            <a:avLst/>
          </a:prstGeom>
        </p:spPr>
      </p:pic>
      <p:pic>
        <p:nvPicPr>
          <p:cNvPr id="10" name="Picture 9">
            <a:extLst>
              <a:ext uri="{FF2B5EF4-FFF2-40B4-BE49-F238E27FC236}">
                <a16:creationId xmlns:a16="http://schemas.microsoft.com/office/drawing/2014/main" id="{45C469C8-66E5-ACC3-4A97-9C4E6D96ED47}"/>
              </a:ext>
            </a:extLst>
          </p:cNvPr>
          <p:cNvPicPr>
            <a:picLocks noChangeAspect="1"/>
          </p:cNvPicPr>
          <p:nvPr/>
        </p:nvPicPr>
        <p:blipFill>
          <a:blip r:embed="rId3"/>
          <a:stretch>
            <a:fillRect/>
          </a:stretch>
        </p:blipFill>
        <p:spPr>
          <a:xfrm>
            <a:off x="4494413" y="5502305"/>
            <a:ext cx="2667000" cy="381000"/>
          </a:xfrm>
          <a:prstGeom prst="rect">
            <a:avLst/>
          </a:prstGeom>
        </p:spPr>
      </p:pic>
    </p:spTree>
    <p:extLst>
      <p:ext uri="{BB962C8B-B14F-4D97-AF65-F5344CB8AC3E}">
        <p14:creationId xmlns:p14="http://schemas.microsoft.com/office/powerpoint/2010/main" val="1062230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Tanh and </a:t>
            </a:r>
            <a:r>
              <a:rPr lang="en-GB" sz="4000" b="1" dirty="0" err="1">
                <a:latin typeface="Times New Roman" panose="02020603050405020304" pitchFamily="18" charset="0"/>
                <a:cs typeface="Times New Roman" panose="02020603050405020304" pitchFamily="18" charset="0"/>
              </a:rPr>
              <a:t>ReLU</a:t>
            </a:r>
            <a:r>
              <a:rPr lang="en-GB" sz="4000" b="1" dirty="0">
                <a:latin typeface="Times New Roman" panose="02020603050405020304" pitchFamily="18" charset="0"/>
                <a:cs typeface="Times New Roman" panose="02020603050405020304" pitchFamily="18" charset="0"/>
              </a:rPr>
              <a:t> function</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3349956"/>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These activation functions have different properties that make them useful for different language applications or network architectures. </a:t>
            </a:r>
          </a:p>
          <a:p>
            <a:pPr algn="just">
              <a:lnSpc>
                <a:spcPct val="150000"/>
              </a:lnSpc>
            </a:pPr>
            <a:r>
              <a:rPr lang="en-US" sz="2400" dirty="0">
                <a:latin typeface="Times New Roman" panose="02020603050405020304" pitchFamily="18" charset="0"/>
                <a:cs typeface="Times New Roman" panose="02020603050405020304" pitchFamily="18" charset="0"/>
              </a:rPr>
              <a:t>For example, the </a:t>
            </a:r>
            <a:r>
              <a:rPr lang="en-US" sz="2400" b="1" dirty="0">
                <a:latin typeface="Times New Roman" panose="02020603050405020304" pitchFamily="18" charset="0"/>
                <a:cs typeface="Times New Roman" panose="02020603050405020304" pitchFamily="18" charset="0"/>
              </a:rPr>
              <a:t>tanh</a:t>
            </a:r>
            <a:r>
              <a:rPr lang="en-US" sz="2400" dirty="0">
                <a:latin typeface="Times New Roman" panose="02020603050405020304" pitchFamily="18" charset="0"/>
                <a:cs typeface="Times New Roman" panose="02020603050405020304" pitchFamily="18" charset="0"/>
              </a:rPr>
              <a:t> function has the nice properties of being smoothly differentiable and mapping outlier values toward the mean. </a:t>
            </a:r>
          </a:p>
          <a:p>
            <a:pPr algn="just">
              <a:lnSpc>
                <a:spcPct val="150000"/>
              </a:lnSpc>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rectifier</a:t>
            </a:r>
            <a:r>
              <a:rPr lang="en-US" sz="2400" dirty="0">
                <a:latin typeface="Times New Roman" panose="02020603050405020304" pitchFamily="18" charset="0"/>
                <a:cs typeface="Times New Roman" panose="02020603050405020304" pitchFamily="18" charset="0"/>
              </a:rPr>
              <a:t> function, on the other hand has nice properties that result from it being very close to linear.</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11</a:t>
            </a:fld>
            <a:endParaRPr lang="en-GB"/>
          </a:p>
        </p:txBody>
      </p:sp>
      <p:pic>
        <p:nvPicPr>
          <p:cNvPr id="7" name="Picture 6">
            <a:extLst>
              <a:ext uri="{FF2B5EF4-FFF2-40B4-BE49-F238E27FC236}">
                <a16:creationId xmlns:a16="http://schemas.microsoft.com/office/drawing/2014/main" id="{E4DA6285-DB25-DAC8-43D0-1423E87CF025}"/>
              </a:ext>
            </a:extLst>
          </p:cNvPr>
          <p:cNvPicPr>
            <a:picLocks noChangeAspect="1"/>
          </p:cNvPicPr>
          <p:nvPr/>
        </p:nvPicPr>
        <p:blipFill>
          <a:blip r:embed="rId2"/>
          <a:stretch>
            <a:fillRect/>
          </a:stretch>
        </p:blipFill>
        <p:spPr>
          <a:xfrm>
            <a:off x="4643021" y="4133064"/>
            <a:ext cx="6890829" cy="2111262"/>
          </a:xfrm>
          <a:prstGeom prst="rect">
            <a:avLst/>
          </a:prstGeom>
        </p:spPr>
      </p:pic>
    </p:spTree>
    <p:extLst>
      <p:ext uri="{BB962C8B-B14F-4D97-AF65-F5344CB8AC3E}">
        <p14:creationId xmlns:p14="http://schemas.microsoft.com/office/powerpoint/2010/main" val="970289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Activation</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565947"/>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In the </a:t>
            </a:r>
            <a:r>
              <a:rPr lang="en-US" sz="2400" b="1" dirty="0">
                <a:latin typeface="Times New Roman" panose="02020603050405020304" pitchFamily="18" charset="0"/>
                <a:cs typeface="Times New Roman" panose="02020603050405020304" pitchFamily="18" charset="0"/>
              </a:rPr>
              <a:t>sigmoid or tanh </a:t>
            </a:r>
            <a:r>
              <a:rPr lang="en-US" sz="2400" dirty="0">
                <a:latin typeface="Times New Roman" panose="02020603050405020304" pitchFamily="18" charset="0"/>
                <a:cs typeface="Times New Roman" panose="02020603050405020304" pitchFamily="18" charset="0"/>
              </a:rPr>
              <a:t>functions, very high saturated values of z result in values of y that are saturated, i.e., extremely close to 1, and have derivatives very close to 0. </a:t>
            </a:r>
          </a:p>
          <a:p>
            <a:pPr algn="just">
              <a:lnSpc>
                <a:spcPct val="150000"/>
              </a:lnSpc>
            </a:pPr>
            <a:r>
              <a:rPr lang="en-US" sz="2400" b="1" dirty="0">
                <a:latin typeface="Times New Roman" panose="02020603050405020304" pitchFamily="18" charset="0"/>
                <a:cs typeface="Times New Roman" panose="02020603050405020304" pitchFamily="18" charset="0"/>
              </a:rPr>
              <a:t>Zero derivatives </a:t>
            </a:r>
            <a:r>
              <a:rPr lang="en-US" sz="2400" dirty="0">
                <a:latin typeface="Times New Roman" panose="02020603050405020304" pitchFamily="18" charset="0"/>
                <a:cs typeface="Times New Roman" panose="02020603050405020304" pitchFamily="18" charset="0"/>
              </a:rPr>
              <a:t>cause problems for learning, because as we’ll see, we’ll train networks by propagating an error signal backwards, multiplying gradients (partial derivatives) from each layer of the network; gradients that are almost 0 cause the error signal to get smaller and smaller until it is too small to be used for training, a problem called the </a:t>
            </a:r>
            <a:r>
              <a:rPr lang="en-US" sz="2400" b="1" dirty="0">
                <a:latin typeface="Times New Roman" panose="02020603050405020304" pitchFamily="18" charset="0"/>
                <a:cs typeface="Times New Roman" panose="02020603050405020304" pitchFamily="18" charset="0"/>
              </a:rPr>
              <a:t>vanishing gradient problem</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b="1" dirty="0">
                <a:latin typeface="Times New Roman" panose="02020603050405020304" pitchFamily="18" charset="0"/>
                <a:cs typeface="Times New Roman" panose="02020603050405020304" pitchFamily="18" charset="0"/>
              </a:rPr>
              <a:t>Rectifiers</a:t>
            </a:r>
            <a:r>
              <a:rPr lang="en-US" sz="2400" dirty="0">
                <a:latin typeface="Times New Roman" panose="02020603050405020304" pitchFamily="18" charset="0"/>
                <a:cs typeface="Times New Roman" panose="02020603050405020304" pitchFamily="18" charset="0"/>
              </a:rPr>
              <a:t> don’t have this problem, since the derivative of </a:t>
            </a:r>
            <a:r>
              <a:rPr lang="en-US" sz="2400" dirty="0" err="1">
                <a:latin typeface="Times New Roman" panose="02020603050405020304" pitchFamily="18" charset="0"/>
                <a:cs typeface="Times New Roman" panose="02020603050405020304" pitchFamily="18" charset="0"/>
              </a:rPr>
              <a:t>ReLU</a:t>
            </a:r>
            <a:r>
              <a:rPr lang="en-US" sz="2400" dirty="0">
                <a:latin typeface="Times New Roman" panose="02020603050405020304" pitchFamily="18" charset="0"/>
                <a:cs typeface="Times New Roman" panose="02020603050405020304" pitchFamily="18" charset="0"/>
              </a:rPr>
              <a:t> for high values of z is 1 rather than very close to 0.</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12</a:t>
            </a:fld>
            <a:endParaRPr lang="en-GB"/>
          </a:p>
        </p:txBody>
      </p:sp>
    </p:spTree>
    <p:extLst>
      <p:ext uri="{BB962C8B-B14F-4D97-AF65-F5344CB8AC3E}">
        <p14:creationId xmlns:p14="http://schemas.microsoft.com/office/powerpoint/2010/main" val="3286266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Perceptron to neural network: XOR</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1687963"/>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A single neural unit cannot compute some very simple functions of its input. Consider the task of computing elementary logical functions of two inputs, like AND, OR, and XOR.</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13</a:t>
            </a:fld>
            <a:endParaRPr lang="en-GB"/>
          </a:p>
        </p:txBody>
      </p:sp>
      <p:pic>
        <p:nvPicPr>
          <p:cNvPr id="6" name="Picture 5">
            <a:extLst>
              <a:ext uri="{FF2B5EF4-FFF2-40B4-BE49-F238E27FC236}">
                <a16:creationId xmlns:a16="http://schemas.microsoft.com/office/drawing/2014/main" id="{1B830454-DB35-A995-C9E7-3B6D45A8A676}"/>
              </a:ext>
            </a:extLst>
          </p:cNvPr>
          <p:cNvPicPr>
            <a:picLocks noChangeAspect="1"/>
          </p:cNvPicPr>
          <p:nvPr/>
        </p:nvPicPr>
        <p:blipFill>
          <a:blip r:embed="rId2"/>
          <a:stretch>
            <a:fillRect/>
          </a:stretch>
        </p:blipFill>
        <p:spPr>
          <a:xfrm>
            <a:off x="4524329" y="2370881"/>
            <a:ext cx="4581525" cy="1933575"/>
          </a:xfrm>
          <a:prstGeom prst="rect">
            <a:avLst/>
          </a:prstGeom>
        </p:spPr>
      </p:pic>
      <p:sp>
        <p:nvSpPr>
          <p:cNvPr id="7" name="TextBox 6">
            <a:extLst>
              <a:ext uri="{FF2B5EF4-FFF2-40B4-BE49-F238E27FC236}">
                <a16:creationId xmlns:a16="http://schemas.microsoft.com/office/drawing/2014/main" id="{2E2DF3B3-870B-3F04-4DE6-DDE882E96461}"/>
              </a:ext>
            </a:extLst>
          </p:cNvPr>
          <p:cNvSpPr txBox="1"/>
          <p:nvPr/>
        </p:nvSpPr>
        <p:spPr>
          <a:xfrm>
            <a:off x="1042809" y="4268582"/>
            <a:ext cx="9949543" cy="1687963"/>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This example was first shown for the perceptron, which is a very simple neural</a:t>
            </a:r>
          </a:p>
          <a:p>
            <a:pPr algn="just">
              <a:lnSpc>
                <a:spcPct val="150000"/>
              </a:lnSpc>
            </a:pPr>
            <a:r>
              <a:rPr lang="en-US" sz="2400" dirty="0">
                <a:latin typeface="Times New Roman" panose="02020603050405020304" pitchFamily="18" charset="0"/>
                <a:cs typeface="Times New Roman" panose="02020603050405020304" pitchFamily="18" charset="0"/>
              </a:rPr>
              <a:t>unit that has a binary output and does not have a </a:t>
            </a:r>
            <a:r>
              <a:rPr lang="en-US" sz="2400" b="1" dirty="0">
                <a:latin typeface="Times New Roman" panose="02020603050405020304" pitchFamily="18" charset="0"/>
                <a:cs typeface="Times New Roman" panose="02020603050405020304" pitchFamily="18" charset="0"/>
              </a:rPr>
              <a:t>non-linear activation </a:t>
            </a:r>
            <a:r>
              <a:rPr lang="en-US" sz="2400" dirty="0">
                <a:latin typeface="Times New Roman" panose="02020603050405020304" pitchFamily="18" charset="0"/>
                <a:cs typeface="Times New Roman" panose="02020603050405020304" pitchFamily="18" charset="0"/>
              </a:rPr>
              <a:t>function.</a:t>
            </a:r>
          </a:p>
        </p:txBody>
      </p:sp>
      <p:pic>
        <p:nvPicPr>
          <p:cNvPr id="9" name="Picture 8">
            <a:extLst>
              <a:ext uri="{FF2B5EF4-FFF2-40B4-BE49-F238E27FC236}">
                <a16:creationId xmlns:a16="http://schemas.microsoft.com/office/drawing/2014/main" id="{9CABD3C0-4D8F-23FA-1257-BBFE29262415}"/>
              </a:ext>
            </a:extLst>
          </p:cNvPr>
          <p:cNvPicPr>
            <a:picLocks noChangeAspect="1"/>
          </p:cNvPicPr>
          <p:nvPr/>
        </p:nvPicPr>
        <p:blipFill>
          <a:blip r:embed="rId3"/>
          <a:stretch>
            <a:fillRect/>
          </a:stretch>
        </p:blipFill>
        <p:spPr>
          <a:xfrm>
            <a:off x="4990083" y="5622925"/>
            <a:ext cx="2762250" cy="733425"/>
          </a:xfrm>
          <a:prstGeom prst="rect">
            <a:avLst/>
          </a:prstGeom>
        </p:spPr>
      </p:pic>
    </p:spTree>
    <p:extLst>
      <p:ext uri="{BB962C8B-B14F-4D97-AF65-F5344CB8AC3E}">
        <p14:creationId xmlns:p14="http://schemas.microsoft.com/office/powerpoint/2010/main" val="1773024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Perceptron to neural network: XOR</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1133965"/>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It’s very easy to build a perceptron that can compute the logical AND </a:t>
            </a:r>
            <a:r>
              <a:rPr lang="en-US" sz="2400" dirty="0" err="1">
                <a:latin typeface="Times New Roman" panose="02020603050405020304" pitchFamily="18" charset="0"/>
                <a:cs typeface="Times New Roman" panose="02020603050405020304" pitchFamily="18" charset="0"/>
              </a:rPr>
              <a:t>and</a:t>
            </a:r>
            <a:r>
              <a:rPr lang="en-US" sz="2400" dirty="0">
                <a:latin typeface="Times New Roman" panose="02020603050405020304" pitchFamily="18" charset="0"/>
                <a:cs typeface="Times New Roman" panose="02020603050405020304" pitchFamily="18" charset="0"/>
              </a:rPr>
              <a:t> OR</a:t>
            </a:r>
          </a:p>
          <a:p>
            <a:pPr algn="just">
              <a:lnSpc>
                <a:spcPct val="150000"/>
              </a:lnSpc>
            </a:pPr>
            <a:r>
              <a:rPr lang="en-US" sz="2400" dirty="0">
                <a:latin typeface="Times New Roman" panose="02020603050405020304" pitchFamily="18" charset="0"/>
                <a:cs typeface="Times New Roman" panose="02020603050405020304" pitchFamily="18" charset="0"/>
              </a:rPr>
              <a:t>functions of its binary inputs.</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14</a:t>
            </a:fld>
            <a:endParaRPr lang="en-GB"/>
          </a:p>
        </p:txBody>
      </p:sp>
      <p:sp>
        <p:nvSpPr>
          <p:cNvPr id="7" name="TextBox 6">
            <a:extLst>
              <a:ext uri="{FF2B5EF4-FFF2-40B4-BE49-F238E27FC236}">
                <a16:creationId xmlns:a16="http://schemas.microsoft.com/office/drawing/2014/main" id="{2E2DF3B3-870B-3F04-4DE6-DDE882E96461}"/>
              </a:ext>
            </a:extLst>
          </p:cNvPr>
          <p:cNvSpPr txBox="1"/>
          <p:nvPr/>
        </p:nvSpPr>
        <p:spPr>
          <a:xfrm>
            <a:off x="1121227" y="3998228"/>
            <a:ext cx="9949543" cy="1133965"/>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It turns out, however, that it’s not possible to build a perceptron to compute logical XOR! </a:t>
            </a:r>
          </a:p>
        </p:txBody>
      </p:sp>
      <p:pic>
        <p:nvPicPr>
          <p:cNvPr id="8" name="Picture 7">
            <a:extLst>
              <a:ext uri="{FF2B5EF4-FFF2-40B4-BE49-F238E27FC236}">
                <a16:creationId xmlns:a16="http://schemas.microsoft.com/office/drawing/2014/main" id="{60625991-C27E-5652-B766-5E93AE8461F9}"/>
              </a:ext>
            </a:extLst>
          </p:cNvPr>
          <p:cNvPicPr>
            <a:picLocks noChangeAspect="1"/>
          </p:cNvPicPr>
          <p:nvPr/>
        </p:nvPicPr>
        <p:blipFill>
          <a:blip r:embed="rId2"/>
          <a:stretch>
            <a:fillRect/>
          </a:stretch>
        </p:blipFill>
        <p:spPr>
          <a:xfrm>
            <a:off x="3230408" y="2312303"/>
            <a:ext cx="5038725" cy="1685925"/>
          </a:xfrm>
          <a:prstGeom prst="rect">
            <a:avLst/>
          </a:prstGeom>
        </p:spPr>
      </p:pic>
    </p:spTree>
    <p:extLst>
      <p:ext uri="{BB962C8B-B14F-4D97-AF65-F5344CB8AC3E}">
        <p14:creationId xmlns:p14="http://schemas.microsoft.com/office/powerpoint/2010/main" val="1956233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Perceptron to neural network: XOR</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011949"/>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intuition behind this important result relies on understanding that a perceptron is a </a:t>
                </a:r>
                <a:r>
                  <a:rPr lang="en-US" sz="2400" b="1" dirty="0">
                    <a:latin typeface="Times New Roman" panose="02020603050405020304" pitchFamily="18" charset="0"/>
                    <a:cs typeface="Times New Roman" panose="02020603050405020304" pitchFamily="18" charset="0"/>
                  </a:rPr>
                  <a:t>linear classifier</a:t>
                </a:r>
                <a:r>
                  <a:rPr lang="en-US" sz="2400" dirty="0">
                    <a:latin typeface="Times New Roman" panose="02020603050405020304" pitchFamily="18" charset="0"/>
                    <a:cs typeface="Times New Roman" panose="02020603050405020304" pitchFamily="18" charset="0"/>
                  </a:rPr>
                  <a:t>. For a two-dimensional input </a:t>
                </a:r>
                <a14:m>
                  <m:oMath xmlns:m="http://schemas.openxmlformats.org/officeDocument/2006/math">
                    <m:sSub>
                      <m:sSubPr>
                        <m:ctrlPr>
                          <a:rPr lang="en-US" sz="2400" b="1" i="1" smtClean="0">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𝒙</m:t>
                        </m:r>
                      </m:e>
                      <m:sub>
                        <m:r>
                          <a:rPr lang="en-US" sz="2400" b="1" i="1" smtClean="0">
                            <a:latin typeface="Cambria Math" panose="02040503050406030204" pitchFamily="18" charset="0"/>
                            <a:cs typeface="Times New Roman" panose="02020603050405020304" pitchFamily="18" charset="0"/>
                          </a:rPr>
                          <m:t>𝟏</m:t>
                        </m:r>
                      </m:sub>
                    </m:sSub>
                  </m:oMath>
                </a14:m>
                <a:r>
                  <a:rPr lang="en-US" sz="2400" dirty="0">
                    <a:latin typeface="Times New Roman" panose="02020603050405020304" pitchFamily="18" charset="0"/>
                    <a:cs typeface="Times New Roman" panose="02020603050405020304" pitchFamily="18" charset="0"/>
                  </a:rPr>
                  <a:t>and </a:t>
                </a:r>
                <a14:m>
                  <m:oMath xmlns:m="http://schemas.openxmlformats.org/officeDocument/2006/math">
                    <m:sSub>
                      <m:sSubPr>
                        <m:ctrlPr>
                          <a:rPr lang="en-US" sz="2400" b="1" i="1">
                            <a:latin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cs typeface="Times New Roman" panose="02020603050405020304" pitchFamily="18" charset="0"/>
                          </a:rPr>
                          <m:t>𝒙</m:t>
                        </m:r>
                      </m:e>
                      <m:sub>
                        <m:r>
                          <a:rPr lang="en-US" sz="2400" b="1" i="1" smtClean="0">
                            <a:latin typeface="Cambria Math" panose="02040503050406030204" pitchFamily="18" charset="0"/>
                            <a:cs typeface="Times New Roman" panose="02020603050405020304" pitchFamily="18" charset="0"/>
                          </a:rPr>
                          <m:t>𝟐</m:t>
                        </m:r>
                      </m:sub>
                    </m:sSub>
                  </m:oMath>
                </a14:m>
                <a:r>
                  <a:rPr lang="en-US" sz="2400" dirty="0">
                    <a:latin typeface="Times New Roman" panose="02020603050405020304" pitchFamily="18" charset="0"/>
                    <a:cs typeface="Times New Roman" panose="02020603050405020304" pitchFamily="18" charset="0"/>
                  </a:rPr>
                  <a:t>, the perceptron equation, </a:t>
                </a:r>
                <a14:m>
                  <m:oMath xmlns:m="http://schemas.openxmlformats.org/officeDocument/2006/math">
                    <m:sSub>
                      <m:sSubPr>
                        <m:ctrlPr>
                          <a:rPr lang="en-US" sz="240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𝑤</m:t>
                        </m:r>
                      </m:e>
                      <m:sub>
                        <m:r>
                          <a:rPr lang="en-US" sz="2400" b="0" i="1" dirty="0" smtClean="0">
                            <a:latin typeface="Cambria Math" panose="02040503050406030204" pitchFamily="18" charset="0"/>
                            <a:cs typeface="Times New Roman" panose="02020603050405020304" pitchFamily="18" charset="0"/>
                          </a:rPr>
                          <m:t>1</m:t>
                        </m:r>
                      </m:sub>
                    </m:sSub>
                    <m:sSub>
                      <m:sSubPr>
                        <m:ctrlPr>
                          <a:rPr lang="en-US" sz="240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𝑥</m:t>
                        </m:r>
                      </m:e>
                      <m:sub>
                        <m:r>
                          <a:rPr lang="en-US" sz="2400" b="0" i="1" dirty="0" smtClean="0">
                            <a:latin typeface="Cambria Math" panose="02040503050406030204" pitchFamily="18" charset="0"/>
                            <a:cs typeface="Times New Roman" panose="02020603050405020304" pitchFamily="18" charset="0"/>
                          </a:rPr>
                          <m:t>1</m:t>
                        </m:r>
                      </m:sub>
                    </m:sSub>
                    <m:r>
                      <a:rPr lang="en-US" sz="2400" i="1" dirty="0" smtClean="0">
                        <a:latin typeface="Cambria Math" panose="02040503050406030204" pitchFamily="18" charset="0"/>
                        <a:cs typeface="Times New Roman" panose="02020603050405020304" pitchFamily="18" charset="0"/>
                      </a:rPr>
                      <m:t>+</m:t>
                    </m:r>
                    <m:sSub>
                      <m:sSubPr>
                        <m:ctrlPr>
                          <a:rPr lang="en-US" sz="2400" i="1" dirty="0">
                            <a:latin typeface="Cambria Math" panose="02040503050406030204" pitchFamily="18" charset="0"/>
                            <a:cs typeface="Times New Roman" panose="02020603050405020304" pitchFamily="18" charset="0"/>
                          </a:rPr>
                        </m:ctrlPr>
                      </m:sSubPr>
                      <m:e>
                        <m:r>
                          <a:rPr lang="en-US" sz="2400" i="1" dirty="0">
                            <a:latin typeface="Cambria Math" panose="02040503050406030204" pitchFamily="18" charset="0"/>
                            <a:cs typeface="Times New Roman" panose="02020603050405020304" pitchFamily="18" charset="0"/>
                          </a:rPr>
                          <m:t>𝑤</m:t>
                        </m:r>
                      </m:e>
                      <m:sub>
                        <m:r>
                          <a:rPr lang="en-US" sz="2400" b="0" i="1" dirty="0" smtClean="0">
                            <a:latin typeface="Cambria Math" panose="02040503050406030204" pitchFamily="18" charset="0"/>
                            <a:cs typeface="Times New Roman" panose="02020603050405020304" pitchFamily="18" charset="0"/>
                          </a:rPr>
                          <m:t>2</m:t>
                        </m:r>
                      </m:sub>
                    </m:sSub>
                    <m:sSub>
                      <m:sSubPr>
                        <m:ctrlPr>
                          <a:rPr lang="en-US" sz="2400" i="1" dirty="0">
                            <a:latin typeface="Cambria Math" panose="02040503050406030204" pitchFamily="18" charset="0"/>
                            <a:cs typeface="Times New Roman" panose="02020603050405020304" pitchFamily="18" charset="0"/>
                          </a:rPr>
                        </m:ctrlPr>
                      </m:sSubPr>
                      <m:e>
                        <m:r>
                          <a:rPr lang="en-US" sz="2400" i="1" dirty="0">
                            <a:latin typeface="Cambria Math" panose="02040503050406030204" pitchFamily="18" charset="0"/>
                            <a:cs typeface="Times New Roman" panose="02020603050405020304" pitchFamily="18" charset="0"/>
                          </a:rPr>
                          <m:t>𝑥</m:t>
                        </m:r>
                      </m:e>
                      <m:sub>
                        <m:r>
                          <a:rPr lang="en-US" sz="2400" b="0" i="1" dirty="0" smtClean="0">
                            <a:latin typeface="Cambria Math" panose="02040503050406030204" pitchFamily="18" charset="0"/>
                            <a:cs typeface="Times New Roman" panose="02020603050405020304" pitchFamily="18" charset="0"/>
                          </a:rPr>
                          <m:t>2</m:t>
                        </m:r>
                      </m:sub>
                    </m:sSub>
                    <m:r>
                      <a:rPr lang="en-US" sz="2400" i="1" dirty="0" smtClean="0">
                        <a:latin typeface="Cambria Math" panose="02040503050406030204" pitchFamily="18" charset="0"/>
                        <a:cs typeface="Times New Roman" panose="02020603050405020304" pitchFamily="18" charset="0"/>
                      </a:rPr>
                      <m:t>+</m:t>
                    </m:r>
                    <m:r>
                      <a:rPr lang="en-US" sz="2400" i="1" dirty="0" smtClean="0">
                        <a:latin typeface="Cambria Math" panose="02040503050406030204" pitchFamily="18" charset="0"/>
                        <a:cs typeface="Times New Roman" panose="02020603050405020304" pitchFamily="18" charset="0"/>
                      </a:rPr>
                      <m:t>𝑏</m:t>
                    </m:r>
                    <m:r>
                      <a:rPr lang="en-US" sz="2400" i="1" dirty="0" smtClean="0">
                        <a:latin typeface="Cambria Math" panose="02040503050406030204" pitchFamily="18" charset="0"/>
                        <a:cs typeface="Times New Roman" panose="02020603050405020304" pitchFamily="18" charset="0"/>
                      </a:rPr>
                      <m:t> = 0 </m:t>
                    </m:r>
                  </m:oMath>
                </a14:m>
                <a:r>
                  <a:rPr lang="en-US" sz="2400" dirty="0">
                    <a:latin typeface="Times New Roman" panose="02020603050405020304" pitchFamily="18" charset="0"/>
                    <a:cs typeface="Times New Roman" panose="02020603050405020304" pitchFamily="18" charset="0"/>
                  </a:rPr>
                  <a:t>is the equation of a line. </a:t>
                </a:r>
              </a:p>
              <a:p>
                <a:pPr algn="just">
                  <a:lnSpc>
                    <a:spcPct val="150000"/>
                  </a:lnSpc>
                </a:pPr>
                <a:r>
                  <a:rPr lang="en-US" sz="2400" dirty="0">
                    <a:latin typeface="Times New Roman" panose="02020603050405020304" pitchFamily="18" charset="0"/>
                    <a:cs typeface="Times New Roman" panose="02020603050405020304" pitchFamily="18" charset="0"/>
                  </a:rPr>
                  <a:t>This line acts as a </a:t>
                </a:r>
                <a:r>
                  <a:rPr lang="en-US" sz="2400" b="1" dirty="0">
                    <a:latin typeface="Times New Roman" panose="02020603050405020304" pitchFamily="18" charset="0"/>
                    <a:cs typeface="Times New Roman" panose="02020603050405020304" pitchFamily="18" charset="0"/>
                  </a:rPr>
                  <a:t>decision boundary </a:t>
                </a:r>
                <a:r>
                  <a:rPr lang="en-US" sz="2400" dirty="0">
                    <a:latin typeface="Times New Roman" panose="02020603050405020304" pitchFamily="18" charset="0"/>
                    <a:cs typeface="Times New Roman" panose="02020603050405020304" pitchFamily="18" charset="0"/>
                  </a:rPr>
                  <a:t>in two-dimensional space in which the output 0 is assigned to all inputs lying on one side of the line, and the output 1 to all input points lying on the other side of the line.</a:t>
                </a:r>
              </a:p>
              <a:p>
                <a:pPr algn="just">
                  <a:lnSpc>
                    <a:spcPct val="150000"/>
                  </a:lnSpc>
                </a:pPr>
                <a:r>
                  <a:rPr lang="en-US" sz="2400" dirty="0">
                    <a:latin typeface="Times New Roman" panose="02020603050405020304" pitchFamily="18" charset="0"/>
                    <a:cs typeface="Times New Roman" panose="02020603050405020304" pitchFamily="18" charset="0"/>
                  </a:rPr>
                  <a:t>Notice that there is simply no way to draw a line that separates the positive cases of XOR (01 and 10) separable linearly from the negative cases (00 and 11). We say that XOR is not a </a:t>
                </a:r>
                <a:r>
                  <a:rPr lang="en-US" sz="2400" b="1" dirty="0">
                    <a:latin typeface="Times New Roman" panose="02020603050405020304" pitchFamily="18" charset="0"/>
                    <a:cs typeface="Times New Roman" panose="02020603050405020304" pitchFamily="18" charset="0"/>
                  </a:rPr>
                  <a:t>linearly separable </a:t>
                </a:r>
                <a:r>
                  <a:rPr lang="en-US" sz="2400" dirty="0">
                    <a:latin typeface="Times New Roman" panose="02020603050405020304" pitchFamily="18" charset="0"/>
                    <a:cs typeface="Times New Roman" panose="02020603050405020304" pitchFamily="18" charset="0"/>
                  </a:rPr>
                  <a:t>function.</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8" y="1095708"/>
                <a:ext cx="9949543" cy="5011949"/>
              </a:xfrm>
              <a:prstGeom prst="rect">
                <a:avLst/>
              </a:prstGeom>
              <a:blipFill>
                <a:blip r:embed="rId2"/>
                <a:stretch>
                  <a:fillRect l="-980" r="-919" b="-1946"/>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15</a:t>
            </a:fld>
            <a:endParaRPr lang="en-GB"/>
          </a:p>
        </p:txBody>
      </p:sp>
    </p:spTree>
    <p:extLst>
      <p:ext uri="{BB962C8B-B14F-4D97-AF65-F5344CB8AC3E}">
        <p14:creationId xmlns:p14="http://schemas.microsoft.com/office/powerpoint/2010/main" val="1622252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Perceptron to neural network: XOR</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2241960"/>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functions AND, OR, and XOR, represented with input </a:t>
                </a:r>
                <a14:m>
                  <m:oMath xmlns:m="http://schemas.openxmlformats.org/officeDocument/2006/math">
                    <m:sSub>
                      <m:sSubPr>
                        <m:ctrlPr>
                          <a:rPr lang="en-US" sz="2400" b="1" i="1" dirty="0" smtClean="0">
                            <a:latin typeface="Cambria Math" panose="02040503050406030204" pitchFamily="18" charset="0"/>
                            <a:cs typeface="Times New Roman" panose="02020603050405020304" pitchFamily="18" charset="0"/>
                          </a:rPr>
                        </m:ctrlPr>
                      </m:sSubPr>
                      <m:e>
                        <m:r>
                          <a:rPr lang="en-US" sz="2400" b="1" i="1" dirty="0" smtClean="0">
                            <a:latin typeface="Cambria Math" panose="02040503050406030204" pitchFamily="18" charset="0"/>
                            <a:cs typeface="Times New Roman" panose="02020603050405020304" pitchFamily="18" charset="0"/>
                          </a:rPr>
                          <m:t>𝒙</m:t>
                        </m:r>
                      </m:e>
                      <m:sub>
                        <m:r>
                          <a:rPr lang="en-US" sz="2400" b="1" i="1" dirty="0" smtClean="0">
                            <a:latin typeface="Cambria Math" panose="02040503050406030204" pitchFamily="18" charset="0"/>
                            <a:cs typeface="Times New Roman" panose="02020603050405020304" pitchFamily="18" charset="0"/>
                          </a:rPr>
                          <m:t>𝟏</m:t>
                        </m:r>
                      </m:sub>
                    </m:sSub>
                  </m:oMath>
                </a14:m>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on the x-axis and input </a:t>
                </a:r>
                <a14:m>
                  <m:oMath xmlns:m="http://schemas.openxmlformats.org/officeDocument/2006/math">
                    <m:sSub>
                      <m:sSubPr>
                        <m:ctrlPr>
                          <a:rPr lang="en-US" sz="2400" b="1" i="1" dirty="0">
                            <a:latin typeface="Cambria Math" panose="02040503050406030204" pitchFamily="18" charset="0"/>
                            <a:cs typeface="Times New Roman" panose="02020603050405020304" pitchFamily="18" charset="0"/>
                          </a:rPr>
                        </m:ctrlPr>
                      </m:sSubPr>
                      <m:e>
                        <m:r>
                          <a:rPr lang="en-US" sz="2400" b="1" i="1" dirty="0">
                            <a:latin typeface="Cambria Math" panose="02040503050406030204" pitchFamily="18" charset="0"/>
                            <a:cs typeface="Times New Roman" panose="02020603050405020304" pitchFamily="18" charset="0"/>
                          </a:rPr>
                          <m:t>𝒙</m:t>
                        </m:r>
                      </m:e>
                      <m:sub>
                        <m:r>
                          <a:rPr lang="en-US" sz="2400" b="1" i="1" dirty="0" smtClean="0">
                            <a:latin typeface="Cambria Math" panose="02040503050406030204" pitchFamily="18" charset="0"/>
                            <a:cs typeface="Times New Roman" panose="02020603050405020304" pitchFamily="18" charset="0"/>
                          </a:rPr>
                          <m:t>𝟐</m:t>
                        </m:r>
                      </m:sub>
                    </m:sSub>
                  </m:oMath>
                </a14:m>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on the y-axis. Filled circles represent perceptron outputs of 1, and white circles perceptron outputs of 0. There is no way to draw a line that correctly separates the two categories for XOR. </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8" y="1095708"/>
                <a:ext cx="9949543" cy="2241960"/>
              </a:xfrm>
              <a:prstGeom prst="rect">
                <a:avLst/>
              </a:prstGeom>
              <a:blipFill>
                <a:blip r:embed="rId2"/>
                <a:stretch>
                  <a:fillRect l="-980" r="-919" b="-5435"/>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16</a:t>
            </a:fld>
            <a:endParaRPr lang="en-GB"/>
          </a:p>
        </p:txBody>
      </p:sp>
      <p:pic>
        <p:nvPicPr>
          <p:cNvPr id="6" name="Picture 5">
            <a:extLst>
              <a:ext uri="{FF2B5EF4-FFF2-40B4-BE49-F238E27FC236}">
                <a16:creationId xmlns:a16="http://schemas.microsoft.com/office/drawing/2014/main" id="{9E029C7E-BE3D-652D-DB2F-268F9F569624}"/>
              </a:ext>
            </a:extLst>
          </p:cNvPr>
          <p:cNvPicPr>
            <a:picLocks noChangeAspect="1"/>
          </p:cNvPicPr>
          <p:nvPr/>
        </p:nvPicPr>
        <p:blipFill>
          <a:blip r:embed="rId3"/>
          <a:stretch>
            <a:fillRect/>
          </a:stretch>
        </p:blipFill>
        <p:spPr>
          <a:xfrm>
            <a:off x="1837413" y="3338352"/>
            <a:ext cx="8752503" cy="3205023"/>
          </a:xfrm>
          <a:prstGeom prst="rect">
            <a:avLst/>
          </a:prstGeom>
        </p:spPr>
      </p:pic>
    </p:spTree>
    <p:extLst>
      <p:ext uri="{BB962C8B-B14F-4D97-AF65-F5344CB8AC3E}">
        <p14:creationId xmlns:p14="http://schemas.microsoft.com/office/powerpoint/2010/main" val="2687689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The solution: neural networks</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3903954"/>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It can be calculated by a layered network of perceptron units. Rather than see this with networks of simple </a:t>
            </a:r>
            <a:r>
              <a:rPr lang="en-US" sz="2400" dirty="0" err="1">
                <a:latin typeface="Times New Roman" panose="02020603050405020304" pitchFamily="18" charset="0"/>
                <a:cs typeface="Times New Roman" panose="02020603050405020304" pitchFamily="18" charset="0"/>
              </a:rPr>
              <a:t>perceptrons</a:t>
            </a:r>
            <a:r>
              <a:rPr lang="en-US" sz="2400" dirty="0">
                <a:latin typeface="Times New Roman" panose="02020603050405020304" pitchFamily="18" charset="0"/>
                <a:cs typeface="Times New Roman" panose="02020603050405020304" pitchFamily="18" charset="0"/>
              </a:rPr>
              <a:t>, however, let’s see how to compute XOR using two layers of </a:t>
            </a:r>
            <a:r>
              <a:rPr lang="en-US" sz="2400" dirty="0" err="1">
                <a:latin typeface="Times New Roman" panose="02020603050405020304" pitchFamily="18" charset="0"/>
                <a:cs typeface="Times New Roman" panose="02020603050405020304" pitchFamily="18" charset="0"/>
              </a:rPr>
              <a:t>ReLU</a:t>
            </a:r>
            <a:r>
              <a:rPr lang="en-US" sz="2400" dirty="0">
                <a:latin typeface="Times New Roman" panose="02020603050405020304" pitchFamily="18" charset="0"/>
                <a:cs typeface="Times New Roman" panose="02020603050405020304" pitchFamily="18" charset="0"/>
              </a:rPr>
              <a:t>-based units.</a:t>
            </a:r>
          </a:p>
          <a:p>
            <a:pPr algn="just">
              <a:lnSpc>
                <a:spcPct val="150000"/>
              </a:lnSpc>
            </a:pPr>
            <a:r>
              <a:rPr lang="en-US" sz="2400" dirty="0">
                <a:latin typeface="Times New Roman" panose="02020603050405020304" pitchFamily="18" charset="0"/>
                <a:cs typeface="Times New Roman" panose="02020603050405020304" pitchFamily="18" charset="0"/>
              </a:rPr>
              <a:t>Fig. shows that the input being processed by two layers of neural units. The middle layer (called </a:t>
            </a:r>
            <a:r>
              <a:rPr lang="en-US" sz="2400" b="1" dirty="0">
                <a:latin typeface="Times New Roman" panose="02020603050405020304" pitchFamily="18" charset="0"/>
                <a:cs typeface="Times New Roman" panose="02020603050405020304" pitchFamily="18" charset="0"/>
              </a:rPr>
              <a:t>h</a:t>
            </a:r>
            <a:r>
              <a:rPr lang="en-US" sz="2400" dirty="0">
                <a:latin typeface="Times New Roman" panose="02020603050405020304" pitchFamily="18" charset="0"/>
                <a:cs typeface="Times New Roman" panose="02020603050405020304" pitchFamily="18" charset="0"/>
              </a:rPr>
              <a:t>) has two units, and the output layer (called </a:t>
            </a:r>
            <a:r>
              <a:rPr lang="en-US" sz="2400" b="1" dirty="0">
                <a:latin typeface="Times New Roman" panose="02020603050405020304" pitchFamily="18" charset="0"/>
                <a:cs typeface="Times New Roman" panose="02020603050405020304" pitchFamily="18" charset="0"/>
              </a:rPr>
              <a:t>y</a:t>
            </a:r>
            <a:r>
              <a:rPr lang="en-US" sz="2400" dirty="0">
                <a:latin typeface="Times New Roman" panose="02020603050405020304" pitchFamily="18" charset="0"/>
                <a:cs typeface="Times New Roman" panose="02020603050405020304" pitchFamily="18" charset="0"/>
              </a:rPr>
              <a:t>) has one unit. A set of weights and biases are shown for each </a:t>
            </a:r>
            <a:r>
              <a:rPr lang="en-US" sz="2400" b="1" dirty="0" err="1">
                <a:latin typeface="Times New Roman" panose="02020603050405020304" pitchFamily="18" charset="0"/>
                <a:cs typeface="Times New Roman" panose="02020603050405020304" pitchFamily="18" charset="0"/>
              </a:rPr>
              <a:t>ReLU</a:t>
            </a:r>
            <a:r>
              <a:rPr lang="en-US" sz="2400" dirty="0">
                <a:latin typeface="Times New Roman" panose="02020603050405020304" pitchFamily="18" charset="0"/>
                <a:cs typeface="Times New Roman" panose="02020603050405020304" pitchFamily="18" charset="0"/>
              </a:rPr>
              <a:t> that correctly computes the XOR function.</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17</a:t>
            </a:fld>
            <a:endParaRPr lang="en-GB"/>
          </a:p>
        </p:txBody>
      </p:sp>
      <p:pic>
        <p:nvPicPr>
          <p:cNvPr id="8" name="Picture 7">
            <a:extLst>
              <a:ext uri="{FF2B5EF4-FFF2-40B4-BE49-F238E27FC236}">
                <a16:creationId xmlns:a16="http://schemas.microsoft.com/office/drawing/2014/main" id="{9F98762B-F625-DA46-BAA6-7DB34FE554BF}"/>
              </a:ext>
            </a:extLst>
          </p:cNvPr>
          <p:cNvPicPr>
            <a:picLocks noChangeAspect="1"/>
          </p:cNvPicPr>
          <p:nvPr/>
        </p:nvPicPr>
        <p:blipFill>
          <a:blip r:embed="rId2"/>
          <a:stretch>
            <a:fillRect/>
          </a:stretch>
        </p:blipFill>
        <p:spPr>
          <a:xfrm>
            <a:off x="5540729" y="4452792"/>
            <a:ext cx="3069871" cy="2100016"/>
          </a:xfrm>
          <a:prstGeom prst="rect">
            <a:avLst/>
          </a:prstGeom>
        </p:spPr>
      </p:pic>
    </p:spTree>
    <p:extLst>
      <p:ext uri="{BB962C8B-B14F-4D97-AF65-F5344CB8AC3E}">
        <p14:creationId xmlns:p14="http://schemas.microsoft.com/office/powerpoint/2010/main" val="4239827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The solution: neural networks</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2795958"/>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hidden layer </a:t>
            </a:r>
            <a:r>
              <a:rPr lang="en-US" sz="2400" dirty="0">
                <a:latin typeface="Times New Roman" panose="02020603050405020304" pitchFamily="18" charset="0"/>
                <a:cs typeface="Times New Roman" panose="02020603050405020304" pitchFamily="18" charset="0"/>
              </a:rPr>
              <a:t>forming a new representation of the input. (b) shows the representation of the hidden layer, h, compared to the original input representation x in (a). </a:t>
            </a:r>
          </a:p>
          <a:p>
            <a:pPr algn="just">
              <a:lnSpc>
                <a:spcPct val="150000"/>
              </a:lnSpc>
            </a:pPr>
            <a:r>
              <a:rPr lang="en-US" sz="2400" dirty="0">
                <a:latin typeface="Times New Roman" panose="02020603050405020304" pitchFamily="18" charset="0"/>
                <a:cs typeface="Times New Roman" panose="02020603050405020304" pitchFamily="18" charset="0"/>
              </a:rPr>
              <a:t>Notice that the input point [0, 1] has been collapsed with the input point [1, 0], making it possible to linearly separate the positive and negative cases of XOR.</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18</a:t>
            </a:fld>
            <a:endParaRPr lang="en-GB"/>
          </a:p>
        </p:txBody>
      </p:sp>
      <p:pic>
        <p:nvPicPr>
          <p:cNvPr id="6" name="Picture 5">
            <a:extLst>
              <a:ext uri="{FF2B5EF4-FFF2-40B4-BE49-F238E27FC236}">
                <a16:creationId xmlns:a16="http://schemas.microsoft.com/office/drawing/2014/main" id="{98FF4915-8D50-D3DC-CD43-7D9B88589C5E}"/>
              </a:ext>
            </a:extLst>
          </p:cNvPr>
          <p:cNvPicPr>
            <a:picLocks noChangeAspect="1"/>
          </p:cNvPicPr>
          <p:nvPr/>
        </p:nvPicPr>
        <p:blipFill>
          <a:blip r:embed="rId2"/>
          <a:stretch>
            <a:fillRect/>
          </a:stretch>
        </p:blipFill>
        <p:spPr>
          <a:xfrm>
            <a:off x="2672179" y="3886524"/>
            <a:ext cx="6320669" cy="2834951"/>
          </a:xfrm>
          <a:prstGeom prst="rect">
            <a:avLst/>
          </a:prstGeom>
        </p:spPr>
      </p:pic>
    </p:spTree>
    <p:extLst>
      <p:ext uri="{BB962C8B-B14F-4D97-AF65-F5344CB8AC3E}">
        <p14:creationId xmlns:p14="http://schemas.microsoft.com/office/powerpoint/2010/main" val="2654536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Feedforward Neural Networks</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011949"/>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A feedforward network is a multilayer network in which the units are connected </a:t>
            </a:r>
            <a:r>
              <a:rPr lang="en-US" sz="2400" b="1" dirty="0">
                <a:latin typeface="Times New Roman" panose="02020603050405020304" pitchFamily="18" charset="0"/>
                <a:cs typeface="Times New Roman" panose="02020603050405020304" pitchFamily="18" charset="0"/>
              </a:rPr>
              <a:t>with no cycles</a:t>
            </a:r>
            <a:r>
              <a:rPr lang="en-US" sz="2400" dirty="0">
                <a:latin typeface="Times New Roman" panose="02020603050405020304" pitchFamily="18" charset="0"/>
                <a:cs typeface="Times New Roman" panose="02020603050405020304" pitchFamily="18" charset="0"/>
              </a:rPr>
              <a:t>; the outputs from units in each layer are passed to units in the next higher layer, and no outputs are passed back to lower layers.</a:t>
            </a:r>
          </a:p>
          <a:p>
            <a:pPr algn="just">
              <a:lnSpc>
                <a:spcPct val="150000"/>
              </a:lnSpc>
            </a:pPr>
            <a:r>
              <a:rPr lang="en-US" sz="2400" dirty="0" err="1">
                <a:latin typeface="Times New Roman" panose="02020603050405020304" pitchFamily="18" charset="0"/>
                <a:cs typeface="Times New Roman" panose="02020603050405020304" pitchFamily="18" charset="0"/>
              </a:rPr>
              <a:t>Perceptrons</a:t>
            </a:r>
            <a:r>
              <a:rPr lang="en-US" sz="2400" dirty="0">
                <a:latin typeface="Times New Roman" panose="02020603050405020304" pitchFamily="18" charset="0"/>
                <a:cs typeface="Times New Roman" panose="02020603050405020304" pitchFamily="18" charset="0"/>
              </a:rPr>
              <a:t> are purely linear, but modern networks are made up of units with non-linearities like </a:t>
            </a:r>
            <a:r>
              <a:rPr lang="en-US" sz="2400" dirty="0" err="1">
                <a:latin typeface="Times New Roman" panose="02020603050405020304" pitchFamily="18" charset="0"/>
                <a:cs typeface="Times New Roman" panose="02020603050405020304" pitchFamily="18" charset="0"/>
              </a:rPr>
              <a:t>sigmoids</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a:latin typeface="Times New Roman" panose="02020603050405020304" pitchFamily="18" charset="0"/>
                <a:cs typeface="Times New Roman" panose="02020603050405020304" pitchFamily="18" charset="0"/>
              </a:rPr>
              <a:t>Feedforward networks, are sometimes called </a:t>
            </a:r>
            <a:r>
              <a:rPr lang="en-US" sz="2400" b="1" dirty="0">
                <a:latin typeface="Times New Roman" panose="02020603050405020304" pitchFamily="18" charset="0"/>
                <a:cs typeface="Times New Roman" panose="02020603050405020304" pitchFamily="18" charset="0"/>
              </a:rPr>
              <a:t>multi-layer </a:t>
            </a:r>
            <a:r>
              <a:rPr lang="en-US" sz="2400" b="1" dirty="0" err="1">
                <a:latin typeface="Times New Roman" panose="02020603050405020304" pitchFamily="18" charset="0"/>
                <a:cs typeface="Times New Roman" panose="02020603050405020304" pitchFamily="18" charset="0"/>
              </a:rPr>
              <a:t>perceptrons</a:t>
            </a:r>
            <a:r>
              <a:rPr lang="en-US" sz="2400" dirty="0">
                <a:latin typeface="Times New Roman" panose="02020603050405020304" pitchFamily="18" charset="0"/>
                <a:cs typeface="Times New Roman" panose="02020603050405020304" pitchFamily="18" charset="0"/>
              </a:rPr>
              <a:t> (or MLPs); this is a technical misnomer.</a:t>
            </a:r>
          </a:p>
          <a:p>
            <a:pPr algn="just">
              <a:lnSpc>
                <a:spcPct val="150000"/>
              </a:lnSpc>
            </a:pPr>
            <a:r>
              <a:rPr lang="en-US" sz="2400" dirty="0">
                <a:latin typeface="Times New Roman" panose="02020603050405020304" pitchFamily="18" charset="0"/>
                <a:cs typeface="Times New Roman" panose="02020603050405020304" pitchFamily="18" charset="0"/>
              </a:rPr>
              <a:t>Simple feedforward networks have three kinds of nodes: input units, hidden</a:t>
            </a:r>
          </a:p>
          <a:p>
            <a:pPr algn="just">
              <a:lnSpc>
                <a:spcPct val="150000"/>
              </a:lnSpc>
            </a:pPr>
            <a:r>
              <a:rPr lang="en-US" sz="2400" dirty="0">
                <a:latin typeface="Times New Roman" panose="02020603050405020304" pitchFamily="18" charset="0"/>
                <a:cs typeface="Times New Roman" panose="02020603050405020304" pitchFamily="18" charset="0"/>
              </a:rPr>
              <a:t>units, and output units.</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19</a:t>
            </a:fld>
            <a:endParaRPr lang="en-GB"/>
          </a:p>
        </p:txBody>
      </p:sp>
    </p:spTree>
    <p:extLst>
      <p:ext uri="{BB962C8B-B14F-4D97-AF65-F5344CB8AC3E}">
        <p14:creationId xmlns:p14="http://schemas.microsoft.com/office/powerpoint/2010/main" val="1940710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Feedforward Neural Networks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4457952"/>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input layer </a:t>
                </a:r>
                <a:r>
                  <a:rPr lang="en-US" sz="2400" b="1" dirty="0">
                    <a:latin typeface="Times New Roman" panose="02020603050405020304" pitchFamily="18" charset="0"/>
                    <a:cs typeface="Times New Roman" panose="02020603050405020304" pitchFamily="18" charset="0"/>
                  </a:rPr>
                  <a:t>x</a:t>
                </a:r>
                <a:r>
                  <a:rPr lang="en-US" sz="2400" dirty="0">
                    <a:latin typeface="Times New Roman" panose="02020603050405020304" pitchFamily="18" charset="0"/>
                    <a:cs typeface="Times New Roman" panose="02020603050405020304" pitchFamily="18" charset="0"/>
                  </a:rPr>
                  <a:t> is a vector of simple scalar values.</a:t>
                </a:r>
              </a:p>
              <a:p>
                <a:pPr algn="just">
                  <a:lnSpc>
                    <a:spcPct val="150000"/>
                  </a:lnSpc>
                </a:pPr>
                <a:r>
                  <a:rPr lang="en-US" sz="2400" dirty="0">
                    <a:latin typeface="Times New Roman" panose="02020603050405020304" pitchFamily="18" charset="0"/>
                    <a:cs typeface="Times New Roman" panose="02020603050405020304" pitchFamily="18" charset="0"/>
                  </a:rPr>
                  <a:t>The core of the neural network is the </a:t>
                </a:r>
                <a:r>
                  <a:rPr lang="en-US" sz="2400" b="1" dirty="0">
                    <a:latin typeface="Times New Roman" panose="02020603050405020304" pitchFamily="18" charset="0"/>
                    <a:cs typeface="Times New Roman" panose="02020603050405020304" pitchFamily="18" charset="0"/>
                  </a:rPr>
                  <a:t>hidden layer h </a:t>
                </a:r>
                <a:r>
                  <a:rPr lang="en-US" sz="2400" dirty="0">
                    <a:latin typeface="Times New Roman" panose="02020603050405020304" pitchFamily="18" charset="0"/>
                    <a:cs typeface="Times New Roman" panose="02020603050405020304" pitchFamily="18" charset="0"/>
                  </a:rPr>
                  <a:t>formed of hidden units </a:t>
                </a:r>
                <a14:m>
                  <m:oMath xmlns:m="http://schemas.openxmlformats.org/officeDocument/2006/math">
                    <m:sSub>
                      <m:sSubPr>
                        <m:ctrlPr>
                          <a:rPr lang="en-US" sz="240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h</m:t>
                        </m:r>
                      </m:e>
                      <m:sub>
                        <m:r>
                          <a:rPr lang="en-US" sz="2400" b="0" i="1" dirty="0" smtClean="0">
                            <a:latin typeface="Cambria Math" panose="02040503050406030204" pitchFamily="18" charset="0"/>
                            <a:cs typeface="Times New Roman" panose="02020603050405020304" pitchFamily="18" charset="0"/>
                          </a:rPr>
                          <m:t>𝑖</m:t>
                        </m:r>
                      </m:sub>
                    </m:sSub>
                  </m:oMath>
                </a14:m>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a:latin typeface="Times New Roman" panose="02020603050405020304" pitchFamily="18" charset="0"/>
                    <a:cs typeface="Times New Roman" panose="02020603050405020304" pitchFamily="18" charset="0"/>
                  </a:rPr>
                  <a:t>each of which is a neural unit, taking a weighted sum of its inputs and then applying a </a:t>
                </a:r>
                <a:r>
                  <a:rPr lang="en-US" sz="2400" b="1" dirty="0">
                    <a:latin typeface="Times New Roman" panose="02020603050405020304" pitchFamily="18" charset="0"/>
                    <a:cs typeface="Times New Roman" panose="02020603050405020304" pitchFamily="18" charset="0"/>
                  </a:rPr>
                  <a:t>non-linearity</a:t>
                </a:r>
                <a:r>
                  <a:rPr lang="en-US" sz="2400" dirty="0">
                    <a:latin typeface="Times New Roman" panose="02020603050405020304" pitchFamily="18" charset="0"/>
                    <a:cs typeface="Times New Roman" panose="02020603050405020304" pitchFamily="18" charset="0"/>
                  </a:rPr>
                  <a:t>. </a:t>
                </a:r>
              </a:p>
              <a:p>
                <a:pPr algn="just">
                  <a:lnSpc>
                    <a:spcPct val="150000"/>
                  </a:lnSpc>
                </a:pPr>
                <a:r>
                  <a:rPr lang="en-US" sz="2400" dirty="0">
                    <a:latin typeface="Times New Roman" panose="02020603050405020304" pitchFamily="18" charset="0"/>
                    <a:cs typeface="Times New Roman" panose="02020603050405020304" pitchFamily="18" charset="0"/>
                  </a:rPr>
                  <a:t>In the standard architecture, each layer is </a:t>
                </a:r>
                <a:r>
                  <a:rPr lang="en-US" sz="2400" b="1" dirty="0">
                    <a:latin typeface="Times New Roman" panose="02020603050405020304" pitchFamily="18" charset="0"/>
                    <a:cs typeface="Times New Roman" panose="02020603050405020304" pitchFamily="18" charset="0"/>
                  </a:rPr>
                  <a:t>fully-connected</a:t>
                </a:r>
                <a:r>
                  <a:rPr lang="en-US" sz="2400" dirty="0">
                    <a:latin typeface="Times New Roman" panose="02020603050405020304" pitchFamily="18" charset="0"/>
                    <a:cs typeface="Times New Roman" panose="02020603050405020304" pitchFamily="18" charset="0"/>
                  </a:rPr>
                  <a:t>, meaning that each unit in each layer takes as input the outputs from all the units in the previous layer, and there is a link between every pair of units from two adjacent layers. Thus, each hidden unit sums over all the input units.</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8" y="1095708"/>
                <a:ext cx="9949543" cy="4457952"/>
              </a:xfrm>
              <a:prstGeom prst="rect">
                <a:avLst/>
              </a:prstGeom>
              <a:blipFill>
                <a:blip r:embed="rId2"/>
                <a:stretch>
                  <a:fillRect l="-980" r="-919" b="-2326"/>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20</a:t>
            </a:fld>
            <a:endParaRPr lang="en-GB"/>
          </a:p>
        </p:txBody>
      </p:sp>
    </p:spTree>
    <p:extLst>
      <p:ext uri="{BB962C8B-B14F-4D97-AF65-F5344CB8AC3E}">
        <p14:creationId xmlns:p14="http://schemas.microsoft.com/office/powerpoint/2010/main" val="2717618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Feedforward Neural Networks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9" y="1095708"/>
                <a:ext cx="6241558" cy="5565947"/>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A simple 2-layer feedforward network, with one hidden layer, one output layer, and one input layer (the input layer is usually not counted when enumerating layers).</a:t>
                </a:r>
              </a:p>
              <a:p>
                <a:pPr algn="just">
                  <a:lnSpc>
                    <a:spcPct val="150000"/>
                  </a:lnSpc>
                </a:pPr>
                <a:r>
                  <a:rPr lang="en-US" sz="2400" dirty="0">
                    <a:latin typeface="Times New Roman" panose="02020603050405020304" pitchFamily="18" charset="0"/>
                    <a:cs typeface="Times New Roman" panose="02020603050405020304" pitchFamily="18" charset="0"/>
                  </a:rPr>
                  <a:t>Recall that a single hidden unit has as parameters a </a:t>
                </a:r>
                <a:r>
                  <a:rPr lang="en-US" sz="2400" b="1" dirty="0">
                    <a:latin typeface="Times New Roman" panose="02020603050405020304" pitchFamily="18" charset="0"/>
                    <a:cs typeface="Times New Roman" panose="02020603050405020304" pitchFamily="18" charset="0"/>
                  </a:rPr>
                  <a:t>weight vector </a:t>
                </a:r>
                <a:r>
                  <a:rPr lang="en-US" sz="2400" dirty="0">
                    <a:latin typeface="Times New Roman" panose="02020603050405020304" pitchFamily="18" charset="0"/>
                    <a:cs typeface="Times New Roman" panose="02020603050405020304" pitchFamily="18" charset="0"/>
                  </a:rPr>
                  <a:t>and a </a:t>
                </a:r>
                <a:r>
                  <a:rPr lang="en-US" sz="2400" b="1" dirty="0">
                    <a:latin typeface="Times New Roman" panose="02020603050405020304" pitchFamily="18" charset="0"/>
                    <a:cs typeface="Times New Roman" panose="02020603050405020304" pitchFamily="18" charset="0"/>
                  </a:rPr>
                  <a:t>bias</a:t>
                </a:r>
                <a:r>
                  <a:rPr lang="en-US" sz="2400" dirty="0">
                    <a:latin typeface="Times New Roman" panose="02020603050405020304" pitchFamily="18" charset="0"/>
                    <a:cs typeface="Times New Roman" panose="02020603050405020304" pitchFamily="18" charset="0"/>
                  </a:rPr>
                  <a:t>. We represent the parameters for the entire hidden layer by combining the weight vector and bias for each unit </a:t>
                </a:r>
                <a14:m>
                  <m:oMath xmlns:m="http://schemas.openxmlformats.org/officeDocument/2006/math">
                    <m:r>
                      <a:rPr lang="en-US" sz="2400" b="1" i="1" dirty="0" smtClean="0">
                        <a:latin typeface="Cambria Math" panose="02040503050406030204" pitchFamily="18" charset="0"/>
                        <a:cs typeface="Times New Roman" panose="02020603050405020304" pitchFamily="18" charset="0"/>
                      </a:rPr>
                      <m:t>𝒊</m:t>
                    </m:r>
                  </m:oMath>
                </a14:m>
                <a:r>
                  <a:rPr lang="en-US" sz="2400" dirty="0">
                    <a:latin typeface="Times New Roman" panose="02020603050405020304" pitchFamily="18" charset="0"/>
                    <a:cs typeface="Times New Roman" panose="02020603050405020304" pitchFamily="18" charset="0"/>
                  </a:rPr>
                  <a:t> into a single weight matrix </a:t>
                </a:r>
                <a14:m>
                  <m:oMath xmlns:m="http://schemas.openxmlformats.org/officeDocument/2006/math">
                    <m:r>
                      <a:rPr lang="en-US" sz="2400" b="1" i="1" dirty="0" smtClean="0">
                        <a:latin typeface="Cambria Math" panose="02040503050406030204" pitchFamily="18" charset="0"/>
                        <a:cs typeface="Times New Roman" panose="02020603050405020304" pitchFamily="18" charset="0"/>
                      </a:rPr>
                      <m:t>𝑾</m:t>
                    </m:r>
                  </m:oMath>
                </a14:m>
                <a:r>
                  <a:rPr lang="en-US" sz="2400" dirty="0">
                    <a:latin typeface="Times New Roman" panose="02020603050405020304" pitchFamily="18" charset="0"/>
                    <a:cs typeface="Times New Roman" panose="02020603050405020304" pitchFamily="18" charset="0"/>
                  </a:rPr>
                  <a:t> and a single bias vector </a:t>
                </a:r>
                <a:r>
                  <a:rPr lang="en-US" sz="2400" b="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for the whole layer.</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9" y="1095708"/>
                <a:ext cx="6241558" cy="5565947"/>
              </a:xfrm>
              <a:prstGeom prst="rect">
                <a:avLst/>
              </a:prstGeom>
              <a:blipFill>
                <a:blip r:embed="rId2"/>
                <a:stretch>
                  <a:fillRect l="-1563" r="-1465" b="-164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21</a:t>
            </a:fld>
            <a:endParaRPr lang="en-GB"/>
          </a:p>
        </p:txBody>
      </p:sp>
      <p:pic>
        <p:nvPicPr>
          <p:cNvPr id="6" name="Picture 5">
            <a:extLst>
              <a:ext uri="{FF2B5EF4-FFF2-40B4-BE49-F238E27FC236}">
                <a16:creationId xmlns:a16="http://schemas.microsoft.com/office/drawing/2014/main" id="{38D27576-04BA-A863-A783-44CE37404013}"/>
              </a:ext>
            </a:extLst>
          </p:cNvPr>
          <p:cNvPicPr>
            <a:picLocks noChangeAspect="1"/>
          </p:cNvPicPr>
          <p:nvPr/>
        </p:nvPicPr>
        <p:blipFill>
          <a:blip r:embed="rId3"/>
          <a:stretch>
            <a:fillRect/>
          </a:stretch>
        </p:blipFill>
        <p:spPr>
          <a:xfrm>
            <a:off x="7753405" y="1280465"/>
            <a:ext cx="4186785" cy="3992871"/>
          </a:xfrm>
          <a:prstGeom prst="rect">
            <a:avLst/>
          </a:prstGeom>
        </p:spPr>
      </p:pic>
    </p:spTree>
    <p:extLst>
      <p:ext uri="{BB962C8B-B14F-4D97-AF65-F5344CB8AC3E}">
        <p14:creationId xmlns:p14="http://schemas.microsoft.com/office/powerpoint/2010/main" val="2387185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Feedforward Neural Networks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9" y="1095708"/>
                <a:ext cx="6632176" cy="3993209"/>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Each element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𝑊</m:t>
                        </m:r>
                      </m:e>
                      <m:sub>
                        <m:r>
                          <a:rPr lang="en-US" sz="2400" b="0" i="1" smtClean="0">
                            <a:latin typeface="Cambria Math" panose="02040503050406030204" pitchFamily="18" charset="0"/>
                            <a:cs typeface="Times New Roman" panose="02020603050405020304" pitchFamily="18" charset="0"/>
                          </a:rPr>
                          <m:t>𝑗𝑖</m:t>
                        </m:r>
                      </m:sub>
                    </m:sSub>
                  </m:oMath>
                </a14:m>
                <a:r>
                  <a:rPr lang="en-US" sz="2400" dirty="0">
                    <a:latin typeface="Times New Roman" panose="02020603050405020304" pitchFamily="18" charset="0"/>
                    <a:cs typeface="Times New Roman" panose="02020603050405020304" pitchFamily="18" charset="0"/>
                  </a:rPr>
                  <a:t> of the weight matrix </a:t>
                </a:r>
                <a14:m>
                  <m:oMath xmlns:m="http://schemas.openxmlformats.org/officeDocument/2006/math">
                    <m:r>
                      <a:rPr lang="en-US" sz="2400" b="1" i="1" dirty="0" smtClean="0">
                        <a:latin typeface="Cambria Math" panose="02040503050406030204" pitchFamily="18" charset="0"/>
                        <a:cs typeface="Times New Roman" panose="02020603050405020304" pitchFamily="18" charset="0"/>
                      </a:rPr>
                      <m:t>𝑾</m:t>
                    </m:r>
                  </m:oMath>
                </a14:m>
                <a:r>
                  <a:rPr lang="en-US" sz="2400" dirty="0">
                    <a:latin typeface="Times New Roman" panose="02020603050405020304" pitchFamily="18" charset="0"/>
                    <a:cs typeface="Times New Roman" panose="02020603050405020304" pitchFamily="18" charset="0"/>
                  </a:rPr>
                  <a:t> represents the weight of the connection from the </a:t>
                </a:r>
                <a14:m>
                  <m:oMath xmlns:m="http://schemas.openxmlformats.org/officeDocument/2006/math">
                    <m:r>
                      <a:rPr lang="en-US" sz="2400" i="1" dirty="0" smtClean="0">
                        <a:latin typeface="Cambria Math" panose="02040503050406030204" pitchFamily="18" charset="0"/>
                        <a:cs typeface="Times New Roman" panose="02020603050405020304" pitchFamily="18" charset="0"/>
                      </a:rPr>
                      <m:t>𝑖</m:t>
                    </m:r>
                  </m:oMath>
                </a14:m>
                <a:r>
                  <a:rPr lang="en-US" sz="2400" dirty="0" err="1">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input unit </a:t>
                </a:r>
                <a14:m>
                  <m:oMath xmlns:m="http://schemas.openxmlformats.org/officeDocument/2006/math">
                    <m:sSub>
                      <m:sSubPr>
                        <m:ctrlPr>
                          <a:rPr lang="en-US" sz="2400" b="1" i="1" smtClean="0">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𝒙</m:t>
                        </m:r>
                      </m:e>
                      <m:sub>
                        <m:r>
                          <a:rPr lang="en-US" sz="2400" b="1" i="1" smtClean="0">
                            <a:latin typeface="Cambria Math" panose="02040503050406030204" pitchFamily="18" charset="0"/>
                            <a:cs typeface="Times New Roman" panose="02020603050405020304" pitchFamily="18" charset="0"/>
                          </a:rPr>
                          <m:t>𝒊</m:t>
                        </m:r>
                      </m:sub>
                    </m:sSub>
                  </m:oMath>
                </a14:m>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the </a:t>
                </a:r>
                <a14:m>
                  <m:oMath xmlns:m="http://schemas.openxmlformats.org/officeDocument/2006/math">
                    <m:r>
                      <a:rPr lang="en-US" sz="2400" i="1" dirty="0" smtClean="0">
                        <a:latin typeface="Cambria Math" panose="02040503050406030204" pitchFamily="18" charset="0"/>
                        <a:cs typeface="Times New Roman" panose="02020603050405020304" pitchFamily="18" charset="0"/>
                      </a:rPr>
                      <m:t>𝑗</m:t>
                    </m:r>
                  </m:oMath>
                </a14:m>
                <a:r>
                  <a:rPr lang="en-US" sz="2400" dirty="0" err="1">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hidden unit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h</m:t>
                        </m:r>
                      </m:e>
                      <m:sub>
                        <m:r>
                          <a:rPr lang="en-US" sz="2400" b="0" i="1" smtClean="0">
                            <a:latin typeface="Cambria Math" panose="02040503050406030204" pitchFamily="18" charset="0"/>
                            <a:cs typeface="Times New Roman" panose="02020603050405020304" pitchFamily="18" charset="0"/>
                          </a:rPr>
                          <m:t>𝑗</m:t>
                        </m:r>
                      </m:sub>
                    </m:sSub>
                  </m:oMath>
                </a14:m>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a:latin typeface="Times New Roman" panose="02020603050405020304" pitchFamily="18" charset="0"/>
                    <a:cs typeface="Times New Roman" panose="02020603050405020304" pitchFamily="18" charset="0"/>
                  </a:rPr>
                  <a:t>The advantage of using a single matrix </a:t>
                </a:r>
                <a14:m>
                  <m:oMath xmlns:m="http://schemas.openxmlformats.org/officeDocument/2006/math">
                    <m:r>
                      <a:rPr lang="en-US" sz="2400" b="1" i="1" dirty="0" smtClean="0">
                        <a:latin typeface="Cambria Math" panose="02040503050406030204" pitchFamily="18" charset="0"/>
                        <a:cs typeface="Times New Roman" panose="02020603050405020304" pitchFamily="18" charset="0"/>
                      </a:rPr>
                      <m:t>𝑾</m:t>
                    </m:r>
                  </m:oMath>
                </a14:m>
                <a:r>
                  <a:rPr lang="en-US" sz="2400" dirty="0">
                    <a:latin typeface="Times New Roman" panose="02020603050405020304" pitchFamily="18" charset="0"/>
                    <a:cs typeface="Times New Roman" panose="02020603050405020304" pitchFamily="18" charset="0"/>
                  </a:rPr>
                  <a:t> for the weights of the entire layer is that now the hidden layer computation for a feedforward network can be done very efficiently with simple matrix operations. </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9" y="1095708"/>
                <a:ext cx="6632176" cy="3993209"/>
              </a:xfrm>
              <a:prstGeom prst="rect">
                <a:avLst/>
              </a:prstGeom>
              <a:blipFill>
                <a:blip r:embed="rId2"/>
                <a:stretch>
                  <a:fillRect l="-1471" r="-1379" b="-2595"/>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22</a:t>
            </a:fld>
            <a:endParaRPr lang="en-GB"/>
          </a:p>
        </p:txBody>
      </p:sp>
      <p:pic>
        <p:nvPicPr>
          <p:cNvPr id="6" name="Picture 5">
            <a:extLst>
              <a:ext uri="{FF2B5EF4-FFF2-40B4-BE49-F238E27FC236}">
                <a16:creationId xmlns:a16="http://schemas.microsoft.com/office/drawing/2014/main" id="{38D27576-04BA-A863-A783-44CE37404013}"/>
              </a:ext>
            </a:extLst>
          </p:cNvPr>
          <p:cNvPicPr>
            <a:picLocks noChangeAspect="1"/>
          </p:cNvPicPr>
          <p:nvPr/>
        </p:nvPicPr>
        <p:blipFill>
          <a:blip r:embed="rId3"/>
          <a:stretch>
            <a:fillRect/>
          </a:stretch>
        </p:blipFill>
        <p:spPr>
          <a:xfrm>
            <a:off x="7753405" y="1013078"/>
            <a:ext cx="4186785" cy="3992871"/>
          </a:xfrm>
          <a:prstGeom prst="rect">
            <a:avLst/>
          </a:prstGeom>
        </p:spPr>
      </p:pic>
      <p:sp>
        <p:nvSpPr>
          <p:cNvPr id="7" name="TextBox 6">
            <a:extLst>
              <a:ext uri="{FF2B5EF4-FFF2-40B4-BE49-F238E27FC236}">
                <a16:creationId xmlns:a16="http://schemas.microsoft.com/office/drawing/2014/main" id="{6914C48F-0715-D695-F79E-2D140CA4E9DE}"/>
              </a:ext>
            </a:extLst>
          </p:cNvPr>
          <p:cNvSpPr txBox="1"/>
          <p:nvPr/>
        </p:nvSpPr>
        <p:spPr>
          <a:xfrm>
            <a:off x="1121229" y="5297748"/>
            <a:ext cx="10369383" cy="1200329"/>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In fact, the computation only has three steps: multiplying the weight matrix by the input vector 𝒙, adding the bias vector </a:t>
            </a:r>
            <a:r>
              <a:rPr lang="en-US" sz="2400" b="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and applying the activation function </a:t>
            </a:r>
            <a:r>
              <a:rPr lang="en-US" sz="2400" b="1" dirty="0">
                <a:latin typeface="Times New Roman" panose="02020603050405020304" pitchFamily="18" charset="0"/>
                <a:cs typeface="Times New Roman" panose="02020603050405020304" pitchFamily="18" charset="0"/>
              </a:rPr>
              <a:t>g</a:t>
            </a:r>
            <a:r>
              <a:rPr lang="en-US" sz="2400" dirty="0">
                <a:latin typeface="Times New Roman" panose="02020603050405020304" pitchFamily="18" charset="0"/>
                <a:cs typeface="Times New Roman" panose="02020603050405020304" pitchFamily="18" charset="0"/>
              </a:rPr>
              <a:t> (such as the sigmoid, tanh, or </a:t>
            </a:r>
            <a:r>
              <a:rPr lang="en-US" sz="2400" dirty="0" err="1">
                <a:latin typeface="Times New Roman" panose="02020603050405020304" pitchFamily="18" charset="0"/>
                <a:cs typeface="Times New Roman" panose="02020603050405020304" pitchFamily="18" charset="0"/>
              </a:rPr>
              <a:t>ReLU</a:t>
            </a:r>
            <a:r>
              <a:rPr lang="en-US" sz="2400" dirty="0">
                <a:latin typeface="Times New Roman" panose="02020603050405020304" pitchFamily="18" charset="0"/>
                <a:cs typeface="Times New Roman" panose="02020603050405020304" pitchFamily="18" charset="0"/>
              </a:rPr>
              <a:t> activation function).</a:t>
            </a:r>
          </a:p>
        </p:txBody>
      </p:sp>
    </p:spTree>
    <p:extLst>
      <p:ext uri="{BB962C8B-B14F-4D97-AF65-F5344CB8AC3E}">
        <p14:creationId xmlns:p14="http://schemas.microsoft.com/office/powerpoint/2010/main" val="2945428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Feedforward Neural Networks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9" y="1095708"/>
                <a:ext cx="5199672" cy="4457952"/>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output of the hidden layer, the vector </a:t>
                </a:r>
                <a:r>
                  <a:rPr lang="en-US" sz="2400" b="1" dirty="0">
                    <a:latin typeface="Times New Roman" panose="02020603050405020304" pitchFamily="18" charset="0"/>
                    <a:cs typeface="Times New Roman" panose="02020603050405020304" pitchFamily="18" charset="0"/>
                  </a:rPr>
                  <a:t>h</a:t>
                </a:r>
                <a:r>
                  <a:rPr lang="en-US" sz="2400" dirty="0">
                    <a:latin typeface="Times New Roman" panose="02020603050405020304" pitchFamily="18" charset="0"/>
                    <a:cs typeface="Times New Roman" panose="02020603050405020304" pitchFamily="18" charset="0"/>
                  </a:rPr>
                  <a:t>, is thus the following (for this example we’ll use the sigmoid function </a:t>
                </a:r>
                <a:r>
                  <a:rPr lang="el-GR" sz="2400" b="1" dirty="0">
                    <a:latin typeface="Times New Roman" panose="02020603050405020304" pitchFamily="18" charset="0"/>
                    <a:cs typeface="Times New Roman" panose="02020603050405020304" pitchFamily="18" charset="0"/>
                  </a:rPr>
                  <a:t>σ</a:t>
                </a:r>
                <a:r>
                  <a:rPr lang="en-US" sz="2400" dirty="0">
                    <a:latin typeface="Times New Roman" panose="02020603050405020304" pitchFamily="18" charset="0"/>
                    <a:cs typeface="Times New Roman" panose="02020603050405020304" pitchFamily="18" charset="0"/>
                  </a:rPr>
                  <a:t> as our activation function):</a:t>
                </a:r>
              </a:p>
              <a:p>
                <a:pPr algn="just">
                  <a:lnSpc>
                    <a:spcPct val="150000"/>
                  </a:lnSpc>
                </a:pPr>
                <a14:m>
                  <m:oMath xmlns:m="http://schemas.openxmlformats.org/officeDocument/2006/math">
                    <m:r>
                      <a:rPr lang="en-US" sz="2400" i="1" dirty="0" smtClean="0">
                        <a:latin typeface="Cambria Math" panose="02040503050406030204" pitchFamily="18" charset="0"/>
                        <a:cs typeface="Times New Roman" panose="02020603050405020304" pitchFamily="18" charset="0"/>
                      </a:rPr>
                      <m:t>h</m:t>
                    </m:r>
                    <m:r>
                      <a:rPr lang="en-US" sz="2400" i="1" dirty="0" smtClean="0">
                        <a:latin typeface="Cambria Math" panose="02040503050406030204" pitchFamily="18" charset="0"/>
                        <a:cs typeface="Times New Roman" panose="02020603050405020304" pitchFamily="18" charset="0"/>
                      </a:rPr>
                      <m:t> =</m:t>
                    </m:r>
                    <m:r>
                      <m:rPr>
                        <m:nor/>
                      </m:rPr>
                      <a:rPr lang="el-GR" sz="2400" b="1" dirty="0">
                        <a:latin typeface="Times New Roman" panose="02020603050405020304" pitchFamily="18" charset="0"/>
                        <a:cs typeface="Times New Roman" panose="02020603050405020304" pitchFamily="18" charset="0"/>
                      </a:rPr>
                      <m:t>σ</m:t>
                    </m:r>
                    <m:r>
                      <a:rPr lang="en-US" sz="2400" i="1" dirty="0" smtClean="0">
                        <a:latin typeface="Cambria Math" panose="02040503050406030204" pitchFamily="18" charset="0"/>
                        <a:cs typeface="Times New Roman" panose="02020603050405020304" pitchFamily="18" charset="0"/>
                      </a:rPr>
                      <m:t>(</m:t>
                    </m:r>
                    <m:r>
                      <a:rPr lang="en-US" sz="2400" i="1" dirty="0" err="1" smtClean="0">
                        <a:latin typeface="Cambria Math" panose="02040503050406030204" pitchFamily="18" charset="0"/>
                        <a:cs typeface="Times New Roman" panose="02020603050405020304" pitchFamily="18" charset="0"/>
                      </a:rPr>
                      <m:t>𝑊𝑥</m:t>
                    </m:r>
                    <m:r>
                      <a:rPr lang="en-US" sz="2400" i="1" dirty="0" err="1" smtClean="0">
                        <a:latin typeface="Cambria Math" panose="02040503050406030204" pitchFamily="18" charset="0"/>
                        <a:cs typeface="Times New Roman" panose="02020603050405020304" pitchFamily="18" charset="0"/>
                      </a:rPr>
                      <m:t>+</m:t>
                    </m:r>
                    <m:r>
                      <a:rPr lang="en-US" sz="2400" i="1" dirty="0" err="1" smtClean="0">
                        <a:latin typeface="Cambria Math" panose="02040503050406030204" pitchFamily="18" charset="0"/>
                        <a:cs typeface="Times New Roman" panose="02020603050405020304" pitchFamily="18" charset="0"/>
                      </a:rPr>
                      <m:t>𝑏</m:t>
                    </m:r>
                    <m:r>
                      <a:rPr lang="en-US" sz="2400" i="1" dirty="0" smtClean="0">
                        <a:latin typeface="Cambria Math" panose="02040503050406030204" pitchFamily="18" charset="0"/>
                        <a:cs typeface="Times New Roman" panose="02020603050405020304" pitchFamily="18" charset="0"/>
                      </a:rPr>
                      <m:t>)</m:t>
                    </m:r>
                  </m:oMath>
                </a14:m>
                <a:r>
                  <a:rPr lang="en-US" sz="2400" dirty="0">
                    <a:latin typeface="Times New Roman" panose="02020603050405020304" pitchFamily="18" charset="0"/>
                    <a:cs typeface="Times New Roman" panose="02020603050405020304" pitchFamily="18" charset="0"/>
                  </a:rPr>
                  <a:t> </a:t>
                </a:r>
              </a:p>
              <a:p>
                <a:pPr algn="just">
                  <a:lnSpc>
                    <a:spcPct val="150000"/>
                  </a:lnSpc>
                </a:pPr>
                <a:r>
                  <a:rPr lang="en-US" sz="2400" dirty="0">
                    <a:latin typeface="Times New Roman" panose="02020603050405020304" pitchFamily="18" charset="0"/>
                    <a:cs typeface="Times New Roman" panose="02020603050405020304" pitchFamily="18" charset="0"/>
                  </a:rPr>
                  <a:t>Notice that we’re applying the </a:t>
                </a:r>
                <a14:m>
                  <m:oMath xmlns:m="http://schemas.openxmlformats.org/officeDocument/2006/math">
                    <m:r>
                      <m:rPr>
                        <m:nor/>
                      </m:rPr>
                      <a:rPr lang="el-GR" sz="2400" b="1" dirty="0" smtClean="0">
                        <a:latin typeface="Times New Roman" panose="02020603050405020304" pitchFamily="18" charset="0"/>
                        <a:cs typeface="Times New Roman" panose="02020603050405020304" pitchFamily="18" charset="0"/>
                      </a:rPr>
                      <m:t>σ</m:t>
                    </m:r>
                  </m:oMath>
                </a14:m>
                <a:r>
                  <a:rPr lang="en-US" sz="2400" dirty="0">
                    <a:latin typeface="Times New Roman" panose="02020603050405020304" pitchFamily="18" charset="0"/>
                    <a:cs typeface="Times New Roman" panose="02020603050405020304" pitchFamily="18" charset="0"/>
                  </a:rPr>
                  <a:t> function here to a vector, while previously it was applied to a scalar. </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9" y="1095708"/>
                <a:ext cx="5199672" cy="4457952"/>
              </a:xfrm>
              <a:prstGeom prst="rect">
                <a:avLst/>
              </a:prstGeom>
              <a:blipFill>
                <a:blip r:embed="rId2"/>
                <a:stretch>
                  <a:fillRect l="-1876" r="-1758" b="-2326"/>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23</a:t>
            </a:fld>
            <a:endParaRPr lang="en-GB"/>
          </a:p>
        </p:txBody>
      </p:sp>
      <p:pic>
        <p:nvPicPr>
          <p:cNvPr id="6" name="Picture 5">
            <a:extLst>
              <a:ext uri="{FF2B5EF4-FFF2-40B4-BE49-F238E27FC236}">
                <a16:creationId xmlns:a16="http://schemas.microsoft.com/office/drawing/2014/main" id="{38D27576-04BA-A863-A783-44CE37404013}"/>
              </a:ext>
            </a:extLst>
          </p:cNvPr>
          <p:cNvPicPr>
            <a:picLocks noChangeAspect="1"/>
          </p:cNvPicPr>
          <p:nvPr/>
        </p:nvPicPr>
        <p:blipFill>
          <a:blip r:embed="rId3"/>
          <a:stretch>
            <a:fillRect/>
          </a:stretch>
        </p:blipFill>
        <p:spPr>
          <a:xfrm>
            <a:off x="7025436" y="1095708"/>
            <a:ext cx="4186785" cy="4914475"/>
          </a:xfrm>
          <a:prstGeom prst="rect">
            <a:avLst/>
          </a:prstGeom>
        </p:spPr>
      </p:pic>
    </p:spTree>
    <p:extLst>
      <p:ext uri="{BB962C8B-B14F-4D97-AF65-F5344CB8AC3E}">
        <p14:creationId xmlns:p14="http://schemas.microsoft.com/office/powerpoint/2010/main" val="2173261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Feedforward Neural Networks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9" y="1095708"/>
                <a:ext cx="6767578" cy="5632311"/>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We’ll refer to the input layer as layer 0 of the network and have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 </m:t>
                    </m:r>
                  </m:oMath>
                </a14:m>
                <a:r>
                  <a:rPr lang="en-US" sz="2400" dirty="0">
                    <a:latin typeface="Times New Roman" panose="02020603050405020304" pitchFamily="18" charset="0"/>
                    <a:cs typeface="Times New Roman" panose="02020603050405020304" pitchFamily="18" charset="0"/>
                  </a:rPr>
                  <a:t>represent the number of inputs, so </a:t>
                </a:r>
                <a14:m>
                  <m:oMath xmlns:m="http://schemas.openxmlformats.org/officeDocument/2006/math">
                    <m:r>
                      <a:rPr lang="en-US" sz="2400" b="1" i="1" dirty="0" smtClean="0">
                        <a:latin typeface="Cambria Math" panose="02040503050406030204" pitchFamily="18" charset="0"/>
                        <a:cs typeface="Times New Roman" panose="02020603050405020304" pitchFamily="18" charset="0"/>
                      </a:rPr>
                      <m:t>𝒙</m:t>
                    </m:r>
                  </m:oMath>
                </a14:m>
                <a:r>
                  <a:rPr lang="en-US" sz="2400" dirty="0">
                    <a:latin typeface="Times New Roman" panose="02020603050405020304" pitchFamily="18" charset="0"/>
                    <a:cs typeface="Times New Roman" panose="02020603050405020304" pitchFamily="18" charset="0"/>
                  </a:rPr>
                  <a:t> is a vector of real numbers of dimension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𝑛</m:t>
                        </m:r>
                      </m:e>
                      <m:sub>
                        <m:r>
                          <a:rPr lang="en-US" sz="2400" i="1">
                            <a:latin typeface="Cambria Math" panose="02040503050406030204" pitchFamily="18" charset="0"/>
                            <a:cs typeface="Times New Roman" panose="02020603050405020304" pitchFamily="18" charset="0"/>
                          </a:rPr>
                          <m:t>0</m:t>
                        </m:r>
                      </m:sub>
                    </m:sSub>
                  </m:oMath>
                </a14:m>
                <a:r>
                  <a:rPr lang="en-US" sz="2400" dirty="0">
                    <a:latin typeface="Times New Roman" panose="02020603050405020304" pitchFamily="18" charset="0"/>
                    <a:cs typeface="Times New Roman" panose="02020603050405020304" pitchFamily="18" charset="0"/>
                  </a:rPr>
                  <a:t>, or more formally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𝑜</m:t>
                            </m:r>
                          </m:sub>
                        </m:sSub>
                      </m:sup>
                    </m:sSup>
                  </m:oMath>
                </a14:m>
                <a:r>
                  <a:rPr lang="en-US" sz="2400" dirty="0">
                    <a:latin typeface="Times New Roman" panose="02020603050405020304" pitchFamily="18" charset="0"/>
                    <a:cs typeface="Times New Roman" panose="02020603050405020304" pitchFamily="18" charset="0"/>
                  </a:rPr>
                  <a:t>, a column vector of dimensionality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𝑛</m:t>
                        </m:r>
                      </m:e>
                      <m:sub>
                        <m:r>
                          <a:rPr lang="en-US" sz="2400" i="1">
                            <a:latin typeface="Cambria Math" panose="02040503050406030204" pitchFamily="18" charset="0"/>
                            <a:cs typeface="Times New Roman" panose="02020603050405020304" pitchFamily="18" charset="0"/>
                          </a:rPr>
                          <m:t>0</m:t>
                        </m:r>
                      </m:sub>
                    </m:sSub>
                    <m:r>
                      <a:rPr lang="en-US" sz="2400" i="1">
                        <a:latin typeface="Cambria Math" panose="02040503050406030204" pitchFamily="18" charset="0"/>
                        <a:cs typeface="Times New Roman" panose="02020603050405020304" pitchFamily="18" charset="0"/>
                      </a:rPr>
                      <m:t> </m:t>
                    </m:r>
                  </m:oMath>
                </a14:m>
                <a:r>
                  <a:rPr lang="en-US" sz="2400" dirty="0">
                    <a:latin typeface="Times New Roman" panose="02020603050405020304" pitchFamily="18" charset="0"/>
                    <a:cs typeface="Times New Roman" panose="02020603050405020304" pitchFamily="18" charset="0"/>
                  </a:rPr>
                  <a:t>,1].</a:t>
                </a:r>
              </a:p>
              <a:p>
                <a:pPr algn="just">
                  <a:lnSpc>
                    <a:spcPct val="150000"/>
                  </a:lnSpc>
                </a:pPr>
                <a:r>
                  <a:rPr lang="en-US" sz="2400" dirty="0">
                    <a:latin typeface="Times New Roman" panose="02020603050405020304" pitchFamily="18" charset="0"/>
                    <a:cs typeface="Times New Roman" panose="02020603050405020304" pitchFamily="18" charset="0"/>
                  </a:rPr>
                  <a:t>Let’s call the hidden layer </a:t>
                </a:r>
                <a:r>
                  <a:rPr lang="en-US" sz="2400" b="1" dirty="0" err="1">
                    <a:latin typeface="Times New Roman" panose="02020603050405020304" pitchFamily="18" charset="0"/>
                    <a:cs typeface="Times New Roman" panose="02020603050405020304" pitchFamily="18" charset="0"/>
                  </a:rPr>
                  <a:t>layer</a:t>
                </a:r>
                <a:r>
                  <a:rPr lang="en-US" sz="2400" b="1" dirty="0">
                    <a:latin typeface="Times New Roman" panose="02020603050405020304" pitchFamily="18" charset="0"/>
                    <a:cs typeface="Times New Roman" panose="02020603050405020304" pitchFamily="18" charset="0"/>
                  </a:rPr>
                  <a:t> 1</a:t>
                </a:r>
                <a:r>
                  <a:rPr lang="en-US" sz="2400" dirty="0">
                    <a:latin typeface="Times New Roman" panose="02020603050405020304" pitchFamily="18" charset="0"/>
                    <a:cs typeface="Times New Roman" panose="02020603050405020304" pitchFamily="18" charset="0"/>
                  </a:rPr>
                  <a:t> and the output layer </a:t>
                </a:r>
                <a:r>
                  <a:rPr lang="en-US" sz="2400" b="1" dirty="0" err="1">
                    <a:latin typeface="Times New Roman" panose="02020603050405020304" pitchFamily="18" charset="0"/>
                    <a:cs typeface="Times New Roman" panose="02020603050405020304" pitchFamily="18" charset="0"/>
                  </a:rPr>
                  <a:t>layer</a:t>
                </a:r>
                <a:r>
                  <a:rPr lang="en-US" sz="2400" b="1" dirty="0">
                    <a:latin typeface="Times New Roman" panose="02020603050405020304" pitchFamily="18" charset="0"/>
                    <a:cs typeface="Times New Roman" panose="02020603050405020304" pitchFamily="18" charset="0"/>
                  </a:rPr>
                  <a:t> 2</a:t>
                </a:r>
                <a:r>
                  <a:rPr lang="en-US" sz="2400" dirty="0">
                    <a:latin typeface="Times New Roman" panose="02020603050405020304" pitchFamily="18" charset="0"/>
                    <a:cs typeface="Times New Roman" panose="02020603050405020304" pitchFamily="18" charset="0"/>
                  </a:rPr>
                  <a:t>. The hidden layer has dimensionality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cs typeface="Times New Roman" panose="02020603050405020304" pitchFamily="18" charset="0"/>
                          </a:rPr>
                          <m:t>1</m:t>
                        </m:r>
                      </m:sub>
                    </m:sSub>
                  </m:oMath>
                </a14:m>
                <a:r>
                  <a:rPr lang="en-US" sz="2400" dirty="0">
                    <a:latin typeface="Times New Roman" panose="02020603050405020304" pitchFamily="18" charset="0"/>
                    <a:cs typeface="Times New Roman" panose="02020603050405020304" pitchFamily="18" charset="0"/>
                  </a:rPr>
                  <a:t>, </a:t>
                </a:r>
                <a14:m>
                  <m:oMath xmlns:m="http://schemas.openxmlformats.org/officeDocument/2006/math">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h</m:t>
                    </m:r>
                    <m:r>
                      <a:rPr lang="en-US" sz="24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ea typeface="Cambria Math" panose="02040503050406030204" pitchFamily="18" charset="0"/>
                                <a:cs typeface="Times New Roman" panose="02020603050405020304" pitchFamily="18" charset="0"/>
                              </a:rPr>
                              <m:t>1</m:t>
                            </m:r>
                          </m:sub>
                        </m:sSub>
                      </m:sup>
                    </m:sSup>
                    <m:r>
                      <a:rPr lang="en-US" sz="2400" i="1">
                        <a:latin typeface="Cambria Math" panose="02040503050406030204" pitchFamily="18" charset="0"/>
                        <a:ea typeface="Cambria Math" panose="02040503050406030204" pitchFamily="18" charset="0"/>
                        <a:cs typeface="Times New Roman" panose="02020603050405020304" pitchFamily="18" charset="0"/>
                      </a:rPr>
                      <m:t> </m:t>
                    </m:r>
                  </m:oMath>
                </a14:m>
                <a:r>
                  <a:rPr lang="en-US" sz="2400" dirty="0">
                    <a:latin typeface="Times New Roman" panose="02020603050405020304" pitchFamily="18" charset="0"/>
                    <a:cs typeface="Times New Roman" panose="02020603050405020304" pitchFamily="18" charset="0"/>
                  </a:rPr>
                  <a:t>and also </a:t>
                </a:r>
                <a14:m>
                  <m:oMath xmlns:m="http://schemas.openxmlformats.org/officeDocument/2006/math">
                    <m:r>
                      <m:rPr>
                        <m:sty m:val="p"/>
                      </m:rPr>
                      <a:rPr lang="en-US" sz="2400" dirty="0" smtClean="0">
                        <a:latin typeface="Cambria Math" panose="02040503050406030204" pitchFamily="18" charset="0"/>
                        <a:ea typeface="Cambria Math" panose="02040503050406030204" pitchFamily="18" charset="0"/>
                        <a:cs typeface="Times New Roman" panose="02020603050405020304" pitchFamily="18" charset="0"/>
                      </a:rPr>
                      <m:t>b</m:t>
                    </m:r>
                    <m:r>
                      <a:rPr lang="en-US" sz="24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𝑛</m:t>
                            </m:r>
                          </m:e>
                          <m:sub>
                            <m:r>
                              <a:rPr lang="en-US" sz="2400" i="1">
                                <a:latin typeface="Cambria Math" panose="02040503050406030204" pitchFamily="18" charset="0"/>
                                <a:ea typeface="Cambria Math" panose="02040503050406030204" pitchFamily="18" charset="0"/>
                                <a:cs typeface="Times New Roman" panose="02020603050405020304" pitchFamily="18" charset="0"/>
                              </a:rPr>
                              <m:t>1</m:t>
                            </m:r>
                          </m:sub>
                        </m:sSub>
                      </m:sup>
                    </m:sSup>
                  </m:oMath>
                </a14:m>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And the weight matrix </a:t>
                </a:r>
                <a14:m>
                  <m:oMath xmlns:m="http://schemas.openxmlformats.org/officeDocument/2006/math">
                    <m:r>
                      <a:rPr lang="en-US" sz="2400" b="1" i="1" dirty="0" smtClean="0">
                        <a:latin typeface="Cambria Math" panose="02040503050406030204" pitchFamily="18" charset="0"/>
                        <a:cs typeface="Times New Roman" panose="02020603050405020304" pitchFamily="18" charset="0"/>
                      </a:rPr>
                      <m:t>𝑾</m:t>
                    </m:r>
                  </m:oMath>
                </a14:m>
                <a:r>
                  <a:rPr lang="en-US" sz="2400" dirty="0">
                    <a:latin typeface="Times New Roman" panose="02020603050405020304" pitchFamily="18" charset="0"/>
                    <a:cs typeface="Times New Roman" panose="02020603050405020304" pitchFamily="18" charset="0"/>
                  </a:rPr>
                  <a:t> has dimensionality </a:t>
                </a:r>
              </a:p>
              <a:p>
                <a:pPr algn="just">
                  <a:lnSpc>
                    <a:spcPct val="150000"/>
                  </a:lnSpc>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ea typeface="Cambria Math" panose="02040503050406030204" pitchFamily="18" charset="0"/>
                          <a:cs typeface="Times New Roman" panose="02020603050405020304" pitchFamily="18" charset="0"/>
                        </a:rPr>
                        <m:t>𝐖</m:t>
                      </m:r>
                      <m:r>
                        <a:rPr lang="en-US" sz="24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sz="24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n-US" sz="24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𝑛</m:t>
                              </m:r>
                            </m:e>
                            <m:sub>
                              <m:r>
                                <a:rPr lang="en-US" sz="2400" i="1">
                                  <a:latin typeface="Cambria Math" panose="02040503050406030204" pitchFamily="18" charset="0"/>
                                  <a:ea typeface="Cambria Math" panose="02040503050406030204" pitchFamily="18" charset="0"/>
                                  <a:cs typeface="Times New Roman" panose="02020603050405020304" pitchFamily="18" charset="0"/>
                                </a:rPr>
                                <m:t>𝑜</m:t>
                              </m:r>
                            </m:sub>
                          </m:sSub>
                        </m:sup>
                      </m:sSup>
                    </m:oMath>
                  </m:oMathPara>
                </a14:m>
                <a:endParaRPr lang="en-US" sz="2400"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9" y="1095708"/>
                <a:ext cx="6767578" cy="5632311"/>
              </a:xfrm>
              <a:prstGeom prst="rect">
                <a:avLst/>
              </a:prstGeom>
              <a:blipFill>
                <a:blip r:embed="rId2"/>
                <a:stretch>
                  <a:fillRect l="-1441" r="-1351"/>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24</a:t>
            </a:fld>
            <a:endParaRPr lang="en-GB" dirty="0"/>
          </a:p>
        </p:txBody>
      </p:sp>
      <p:pic>
        <p:nvPicPr>
          <p:cNvPr id="6" name="Picture 5">
            <a:extLst>
              <a:ext uri="{FF2B5EF4-FFF2-40B4-BE49-F238E27FC236}">
                <a16:creationId xmlns:a16="http://schemas.microsoft.com/office/drawing/2014/main" id="{38D27576-04BA-A863-A783-44CE37404013}"/>
              </a:ext>
            </a:extLst>
          </p:cNvPr>
          <p:cNvPicPr>
            <a:picLocks noChangeAspect="1"/>
          </p:cNvPicPr>
          <p:nvPr/>
        </p:nvPicPr>
        <p:blipFill>
          <a:blip r:embed="rId3"/>
          <a:stretch>
            <a:fillRect/>
          </a:stretch>
        </p:blipFill>
        <p:spPr>
          <a:xfrm>
            <a:off x="7888807" y="971762"/>
            <a:ext cx="4186785" cy="4914475"/>
          </a:xfrm>
          <a:prstGeom prst="rect">
            <a:avLst/>
          </a:prstGeom>
        </p:spPr>
      </p:pic>
    </p:spTree>
    <p:extLst>
      <p:ext uri="{BB962C8B-B14F-4D97-AF65-F5344CB8AC3E}">
        <p14:creationId xmlns:p14="http://schemas.microsoft.com/office/powerpoint/2010/main" val="3236893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Feedforward Neural Networks</a:t>
            </a:r>
          </a:p>
        </p:txBody>
      </p:sp>
      <p:sp>
        <p:nvSpPr>
          <p:cNvPr id="5" name="TextBox 4">
            <a:extLst>
              <a:ext uri="{FF2B5EF4-FFF2-40B4-BE49-F238E27FC236}">
                <a16:creationId xmlns:a16="http://schemas.microsoft.com/office/drawing/2014/main" id="{C70E7BF7-9240-E61C-7520-97ED4F1594B0}"/>
              </a:ext>
            </a:extLst>
          </p:cNvPr>
          <p:cNvSpPr txBox="1"/>
          <p:nvPr/>
        </p:nvSpPr>
        <p:spPr>
          <a:xfrm>
            <a:off x="301841" y="1095708"/>
            <a:ext cx="8105312" cy="5565947"/>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If we are doing a binary task like sentiment classification, we might have a </a:t>
            </a:r>
            <a:r>
              <a:rPr lang="en-US" sz="2400" b="1" dirty="0">
                <a:latin typeface="Times New Roman" panose="02020603050405020304" pitchFamily="18" charset="0"/>
                <a:cs typeface="Times New Roman" panose="02020603050405020304" pitchFamily="18" charset="0"/>
              </a:rPr>
              <a:t>single output node</a:t>
            </a:r>
            <a:r>
              <a:rPr lang="en-US" sz="2400" dirty="0">
                <a:latin typeface="Times New Roman" panose="02020603050405020304" pitchFamily="18" charset="0"/>
                <a:cs typeface="Times New Roman" panose="02020603050405020304" pitchFamily="18" charset="0"/>
              </a:rPr>
              <a:t>, and its scalar value </a:t>
            </a:r>
            <a:r>
              <a:rPr lang="en-US" sz="2400" b="1" dirty="0">
                <a:latin typeface="Times New Roman" panose="02020603050405020304" pitchFamily="18" charset="0"/>
                <a:cs typeface="Times New Roman" panose="02020603050405020304" pitchFamily="18" charset="0"/>
              </a:rPr>
              <a:t>y</a:t>
            </a:r>
            <a:r>
              <a:rPr lang="en-US" sz="2400" dirty="0">
                <a:latin typeface="Times New Roman" panose="02020603050405020304" pitchFamily="18" charset="0"/>
                <a:cs typeface="Times New Roman" panose="02020603050405020304" pitchFamily="18" charset="0"/>
              </a:rPr>
              <a:t> is the probability of positive versus negative sentiment. </a:t>
            </a:r>
          </a:p>
          <a:p>
            <a:pPr algn="just">
              <a:lnSpc>
                <a:spcPct val="150000"/>
              </a:lnSpc>
            </a:pPr>
            <a:r>
              <a:rPr lang="en-US" sz="2400" dirty="0">
                <a:latin typeface="Times New Roman" panose="02020603050405020304" pitchFamily="18" charset="0"/>
                <a:cs typeface="Times New Roman" panose="02020603050405020304" pitchFamily="18" charset="0"/>
              </a:rPr>
              <a:t>If we are doing </a:t>
            </a:r>
            <a:r>
              <a:rPr lang="en-US" sz="2400" b="1" dirty="0">
                <a:latin typeface="Times New Roman" panose="02020603050405020304" pitchFamily="18" charset="0"/>
                <a:cs typeface="Times New Roman" panose="02020603050405020304" pitchFamily="18" charset="0"/>
              </a:rPr>
              <a:t>multinomial classification</a:t>
            </a:r>
            <a:r>
              <a:rPr lang="en-US" sz="2400" dirty="0">
                <a:latin typeface="Times New Roman" panose="02020603050405020304" pitchFamily="18" charset="0"/>
                <a:cs typeface="Times New Roman" panose="02020603050405020304" pitchFamily="18" charset="0"/>
              </a:rPr>
              <a:t>, such as assigning a part-of-speech tag, we might have one output node for each potential part-of-speech, whose</a:t>
            </a:r>
          </a:p>
          <a:p>
            <a:pPr algn="just">
              <a:lnSpc>
                <a:spcPct val="150000"/>
              </a:lnSpc>
            </a:pPr>
            <a:r>
              <a:rPr lang="en-US" sz="2400" dirty="0">
                <a:latin typeface="Times New Roman" panose="02020603050405020304" pitchFamily="18" charset="0"/>
                <a:cs typeface="Times New Roman" panose="02020603050405020304" pitchFamily="18" charset="0"/>
              </a:rPr>
              <a:t>output value is the probability of that part-of-speech, and the values of all the output nodes must sum to one. </a:t>
            </a:r>
          </a:p>
          <a:p>
            <a:pPr algn="just">
              <a:lnSpc>
                <a:spcPct val="150000"/>
              </a:lnSpc>
            </a:pPr>
            <a:r>
              <a:rPr lang="en-US" sz="2400" dirty="0">
                <a:latin typeface="Times New Roman" panose="02020603050405020304" pitchFamily="18" charset="0"/>
                <a:cs typeface="Times New Roman" panose="02020603050405020304" pitchFamily="18" charset="0"/>
              </a:rPr>
              <a:t>The output layer is thus a vector y that gives a probability distribution across the output nodes.</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25</a:t>
            </a:fld>
            <a:endParaRPr lang="en-GB" dirty="0"/>
          </a:p>
        </p:txBody>
      </p:sp>
      <p:pic>
        <p:nvPicPr>
          <p:cNvPr id="6" name="Picture 5">
            <a:extLst>
              <a:ext uri="{FF2B5EF4-FFF2-40B4-BE49-F238E27FC236}">
                <a16:creationId xmlns:a16="http://schemas.microsoft.com/office/drawing/2014/main" id="{38D27576-04BA-A863-A783-44CE37404013}"/>
              </a:ext>
            </a:extLst>
          </p:cNvPr>
          <p:cNvPicPr>
            <a:picLocks noChangeAspect="1"/>
          </p:cNvPicPr>
          <p:nvPr/>
        </p:nvPicPr>
        <p:blipFill>
          <a:blip r:embed="rId2"/>
          <a:stretch>
            <a:fillRect/>
          </a:stretch>
        </p:blipFill>
        <p:spPr>
          <a:xfrm>
            <a:off x="8407153" y="971762"/>
            <a:ext cx="3668439" cy="4914475"/>
          </a:xfrm>
          <a:prstGeom prst="rect">
            <a:avLst/>
          </a:prstGeom>
        </p:spPr>
      </p:pic>
    </p:spTree>
    <p:extLst>
      <p:ext uri="{BB962C8B-B14F-4D97-AF65-F5344CB8AC3E}">
        <p14:creationId xmlns:p14="http://schemas.microsoft.com/office/powerpoint/2010/main" val="7405836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Feedforward Neural Networks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301841" y="1095708"/>
                <a:ext cx="8105312" cy="5064463"/>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Like the hidden layer, the output layer has a weight matrix (let’s call it </a:t>
                </a:r>
                <a:r>
                  <a:rPr lang="en-US" sz="2400" b="1" dirty="0">
                    <a:latin typeface="Times New Roman" panose="02020603050405020304" pitchFamily="18" charset="0"/>
                    <a:cs typeface="Times New Roman" panose="02020603050405020304" pitchFamily="18" charset="0"/>
                  </a:rPr>
                  <a:t>U</a:t>
                </a:r>
                <a:r>
                  <a:rPr lang="en-US" sz="2400" dirty="0">
                    <a:latin typeface="Times New Roman" panose="02020603050405020304" pitchFamily="18" charset="0"/>
                    <a:cs typeface="Times New Roman" panose="02020603050405020304" pitchFamily="18" charset="0"/>
                  </a:rPr>
                  <a:t>), but some models don’t include a bias vector </a:t>
                </a:r>
                <a:r>
                  <a:rPr lang="en-US" sz="2400" b="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in the output layer, so we’ll simplify by eliminating the bias vector in this example. The weight matrix is multiplied by its input vector (</a:t>
                </a:r>
                <a:r>
                  <a:rPr lang="en-US" sz="2400" b="1" dirty="0">
                    <a:latin typeface="Times New Roman" panose="02020603050405020304" pitchFamily="18" charset="0"/>
                    <a:cs typeface="Times New Roman" panose="02020603050405020304" pitchFamily="18" charset="0"/>
                  </a:rPr>
                  <a:t>h</a:t>
                </a:r>
                <a:r>
                  <a:rPr lang="en-US" sz="2400" dirty="0">
                    <a:latin typeface="Times New Roman" panose="02020603050405020304" pitchFamily="18" charset="0"/>
                    <a:cs typeface="Times New Roman" panose="02020603050405020304" pitchFamily="18" charset="0"/>
                  </a:rPr>
                  <a:t>) to produce the intermediate output </a:t>
                </a:r>
                <a:r>
                  <a:rPr lang="en-US" sz="2400" b="1" dirty="0">
                    <a:latin typeface="Times New Roman" panose="02020603050405020304" pitchFamily="18" charset="0"/>
                    <a:cs typeface="Times New Roman" panose="02020603050405020304" pitchFamily="18" charset="0"/>
                  </a:rPr>
                  <a:t>z</a:t>
                </a:r>
                <a:r>
                  <a:rPr lang="en-US" sz="2400" dirty="0">
                    <a:latin typeface="Times New Roman" panose="02020603050405020304" pitchFamily="18" charset="0"/>
                    <a:cs typeface="Times New Roman" panose="02020603050405020304" pitchFamily="18" charset="0"/>
                  </a:rPr>
                  <a:t>.</a:t>
                </a:r>
              </a:p>
              <a:p>
                <a:pPr algn="just">
                  <a:lnSpc>
                    <a:spcPct val="150000"/>
                  </a:lnSpc>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cs typeface="Times New Roman" panose="02020603050405020304" pitchFamily="18" charset="0"/>
                        </a:rPr>
                        <m:t>𝒛</m:t>
                      </m:r>
                      <m:r>
                        <a:rPr lang="en-US" sz="2400" b="1" i="1" smtClean="0">
                          <a:latin typeface="Cambria Math" panose="02040503050406030204" pitchFamily="18" charset="0"/>
                          <a:cs typeface="Times New Roman" panose="02020603050405020304" pitchFamily="18" charset="0"/>
                        </a:rPr>
                        <m:t>=</m:t>
                      </m:r>
                      <m:r>
                        <a:rPr lang="en-US" sz="2400" b="1" i="1" smtClean="0">
                          <a:latin typeface="Cambria Math" panose="02040503050406030204" pitchFamily="18" charset="0"/>
                          <a:cs typeface="Times New Roman" panose="02020603050405020304" pitchFamily="18" charset="0"/>
                        </a:rPr>
                        <m:t>𝑼𝒉</m:t>
                      </m:r>
                    </m:oMath>
                  </m:oMathPara>
                </a14:m>
                <a:endParaRPr lang="en-US" sz="2400" b="1"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There are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cs typeface="Times New Roman" panose="02020603050405020304" pitchFamily="18" charset="0"/>
                          </a:rPr>
                          <m:t>2</m:t>
                        </m:r>
                      </m:sub>
                    </m:sSub>
                  </m:oMath>
                </a14:m>
                <a:r>
                  <a:rPr lang="en-US" sz="2400" dirty="0">
                    <a:latin typeface="Times New Roman" panose="02020603050405020304" pitchFamily="18" charset="0"/>
                    <a:cs typeface="Times New Roman" panose="02020603050405020304" pitchFamily="18" charset="0"/>
                  </a:rPr>
                  <a:t> output nodes, so </a:t>
                </a:r>
                <a14:m>
                  <m:oMath xmlns:m="http://schemas.openxmlformats.org/officeDocument/2006/math">
                    <m:r>
                      <m:rPr>
                        <m:sty m:val="p"/>
                      </m:rPr>
                      <a:rPr lang="en-US" sz="2400" dirty="0" smtClean="0">
                        <a:latin typeface="Cambria Math" panose="02040503050406030204" pitchFamily="18" charset="0"/>
                        <a:ea typeface="Cambria Math" panose="02040503050406030204" pitchFamily="18" charset="0"/>
                        <a:cs typeface="Times New Roman" panose="02020603050405020304" pitchFamily="18" charset="0"/>
                      </a:rPr>
                      <m:t>z</m:t>
                    </m:r>
                    <m:r>
                      <a:rPr lang="en-US" sz="24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ea typeface="Cambria Math" panose="02040503050406030204" pitchFamily="18" charset="0"/>
                                <a:cs typeface="Times New Roman" panose="02020603050405020304" pitchFamily="18" charset="0"/>
                              </a:rPr>
                              <m:t>2</m:t>
                            </m:r>
                          </m:sub>
                        </m:sSub>
                      </m:sup>
                    </m:sSup>
                  </m:oMath>
                </a14:m>
                <a:r>
                  <a:rPr lang="en-US" sz="2400" dirty="0">
                    <a:latin typeface="Times New Roman" panose="02020603050405020304" pitchFamily="18" charset="0"/>
                    <a:cs typeface="Times New Roman" panose="02020603050405020304" pitchFamily="18" charset="0"/>
                  </a:rPr>
                  <a:t>, weight matrix </a:t>
                </a:r>
                <a14:m>
                  <m:oMath xmlns:m="http://schemas.openxmlformats.org/officeDocument/2006/math">
                    <m:r>
                      <m:rPr>
                        <m:sty m:val="p"/>
                      </m:rPr>
                      <a:rPr lang="en-US" sz="2400" dirty="0">
                        <a:latin typeface="Cambria Math" panose="02040503050406030204" pitchFamily="18" charset="0"/>
                        <a:ea typeface="Cambria Math" panose="02040503050406030204" pitchFamily="18" charset="0"/>
                        <a:cs typeface="Times New Roman" panose="02020603050405020304" pitchFamily="18" charset="0"/>
                      </a:rPr>
                      <m:t>b</m:t>
                    </m:r>
                    <m:r>
                      <a:rPr lang="en-US" sz="24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𝑛</m:t>
                            </m:r>
                          </m:e>
                          <m:sub>
                            <m:r>
                              <a:rPr lang="en-US" sz="2400" i="1">
                                <a:latin typeface="Cambria Math" panose="02040503050406030204" pitchFamily="18" charset="0"/>
                                <a:ea typeface="Cambria Math" panose="02040503050406030204" pitchFamily="18" charset="0"/>
                                <a:cs typeface="Times New Roman" panose="02020603050405020304" pitchFamily="18" charset="0"/>
                              </a:rPr>
                              <m:t>1</m:t>
                            </m:r>
                          </m:sub>
                        </m:sSub>
                      </m:sup>
                    </m:sSup>
                  </m:oMath>
                </a14:m>
                <a:r>
                  <a:rPr lang="en-US" sz="2400" dirty="0">
                    <a:latin typeface="Times New Roman" panose="02020603050405020304" pitchFamily="18" charset="0"/>
                    <a:cs typeface="Times New Roman" panose="02020603050405020304" pitchFamily="18" charset="0"/>
                  </a:rPr>
                  <a:t> has dimensionality </a:t>
                </a:r>
                <a:r>
                  <a:rPr lang="en-US" sz="2400" b="1" dirty="0">
                    <a:latin typeface="Times New Roman" panose="02020603050405020304" pitchFamily="18" charset="0"/>
                    <a:cs typeface="Times New Roman" panose="02020603050405020304" pitchFamily="18" charset="0"/>
                  </a:rPr>
                  <a:t>U</a:t>
                </a:r>
                <a14:m>
                  <m:oMath xmlns:m="http://schemas.openxmlformats.org/officeDocument/2006/math">
                    <m:r>
                      <a:rPr lang="en-US" sz="2400" b="1"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1"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ea typeface="Cambria Math" panose="02040503050406030204" pitchFamily="18" charset="0"/>
                                <a:cs typeface="Times New Roman" panose="02020603050405020304" pitchFamily="18" charset="0"/>
                              </a:rPr>
                              <m:t>𝒏</m:t>
                            </m:r>
                          </m:e>
                          <m:sub>
                            <m:r>
                              <a:rPr lang="en-US" sz="2400" b="1" i="1" smtClean="0">
                                <a:latin typeface="Cambria Math" panose="02040503050406030204" pitchFamily="18" charset="0"/>
                                <a:ea typeface="Cambria Math" panose="02040503050406030204" pitchFamily="18" charset="0"/>
                                <a:cs typeface="Times New Roman" panose="02020603050405020304" pitchFamily="18" charset="0"/>
                              </a:rPr>
                              <m:t>𝟐</m:t>
                            </m:r>
                          </m:sub>
                        </m:sSub>
                        <m:r>
                          <a:rPr lang="en-US" sz="2400"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ea typeface="Cambria Math" panose="02040503050406030204" pitchFamily="18" charset="0"/>
                                <a:cs typeface="Times New Roman" panose="02020603050405020304" pitchFamily="18" charset="0"/>
                              </a:rPr>
                              <m:t>𝒏</m:t>
                            </m:r>
                          </m:e>
                          <m:sub>
                            <m:r>
                              <a:rPr lang="en-US" sz="2400" b="1" i="1" smtClean="0">
                                <a:latin typeface="Cambria Math" panose="02040503050406030204" pitchFamily="18" charset="0"/>
                                <a:ea typeface="Cambria Math" panose="02040503050406030204" pitchFamily="18" charset="0"/>
                                <a:cs typeface="Times New Roman" panose="02020603050405020304" pitchFamily="18" charset="0"/>
                              </a:rPr>
                              <m:t>𝟏</m:t>
                            </m:r>
                          </m:sub>
                        </m:sSub>
                      </m:sup>
                    </m:sSup>
                  </m:oMath>
                </a14:m>
                <a:r>
                  <a:rPr lang="en-US" sz="2400" dirty="0">
                    <a:latin typeface="Times New Roman" panose="02020603050405020304" pitchFamily="18" charset="0"/>
                    <a:cs typeface="Times New Roman" panose="02020603050405020304" pitchFamily="18" charset="0"/>
                  </a:rPr>
                  <a:t>, and element </a:t>
                </a:r>
                <a14:m>
                  <m:oMath xmlns:m="http://schemas.openxmlformats.org/officeDocument/2006/math">
                    <m:sSub>
                      <m:sSubPr>
                        <m:ctrlPr>
                          <a:rPr lang="en-US" sz="2400" b="1" i="1" smtClean="0">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𝑼</m:t>
                        </m:r>
                      </m:e>
                      <m:sub>
                        <m:r>
                          <a:rPr lang="en-US" sz="2400" b="1" i="1" smtClean="0">
                            <a:latin typeface="Cambria Math" panose="02040503050406030204" pitchFamily="18" charset="0"/>
                            <a:cs typeface="Times New Roman" panose="02020603050405020304" pitchFamily="18" charset="0"/>
                          </a:rPr>
                          <m:t>𝒊𝒋</m:t>
                        </m:r>
                      </m:sub>
                    </m:sSub>
                  </m:oMath>
                </a14:m>
                <a:r>
                  <a:rPr lang="en-US" sz="2400" dirty="0">
                    <a:latin typeface="Times New Roman" panose="02020603050405020304" pitchFamily="18" charset="0"/>
                    <a:cs typeface="Times New Roman" panose="02020603050405020304" pitchFamily="18" charset="0"/>
                  </a:rPr>
                  <a:t>is the weight from unit </a:t>
                </a:r>
                <a:r>
                  <a:rPr lang="en-US" sz="2400" b="1" dirty="0">
                    <a:latin typeface="Times New Roman" panose="02020603050405020304" pitchFamily="18" charset="0"/>
                    <a:cs typeface="Times New Roman" panose="02020603050405020304" pitchFamily="18" charset="0"/>
                  </a:rPr>
                  <a:t>j</a:t>
                </a:r>
                <a:r>
                  <a:rPr lang="en-US" sz="2400" dirty="0">
                    <a:latin typeface="Times New Roman" panose="02020603050405020304" pitchFamily="18" charset="0"/>
                    <a:cs typeface="Times New Roman" panose="02020603050405020304" pitchFamily="18" charset="0"/>
                  </a:rPr>
                  <a:t> in the hidden layer to unit </a:t>
                </a:r>
                <a:r>
                  <a:rPr lang="en-US" sz="2400" b="1"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in the output layer.</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301841" y="1095708"/>
                <a:ext cx="8105312" cy="5064463"/>
              </a:xfrm>
              <a:prstGeom prst="rect">
                <a:avLst/>
              </a:prstGeom>
              <a:blipFill>
                <a:blip r:embed="rId2"/>
                <a:stretch>
                  <a:fillRect l="-1204" r="-1129" b="-1805"/>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26</a:t>
            </a:fld>
            <a:endParaRPr lang="en-GB" dirty="0"/>
          </a:p>
        </p:txBody>
      </p:sp>
      <p:pic>
        <p:nvPicPr>
          <p:cNvPr id="6" name="Picture 5">
            <a:extLst>
              <a:ext uri="{FF2B5EF4-FFF2-40B4-BE49-F238E27FC236}">
                <a16:creationId xmlns:a16="http://schemas.microsoft.com/office/drawing/2014/main" id="{38D27576-04BA-A863-A783-44CE37404013}"/>
              </a:ext>
            </a:extLst>
          </p:cNvPr>
          <p:cNvPicPr>
            <a:picLocks noChangeAspect="1"/>
          </p:cNvPicPr>
          <p:nvPr/>
        </p:nvPicPr>
        <p:blipFill>
          <a:blip r:embed="rId3"/>
          <a:stretch>
            <a:fillRect/>
          </a:stretch>
        </p:blipFill>
        <p:spPr>
          <a:xfrm>
            <a:off x="8407153" y="971762"/>
            <a:ext cx="3668439" cy="4914475"/>
          </a:xfrm>
          <a:prstGeom prst="rect">
            <a:avLst/>
          </a:prstGeom>
        </p:spPr>
      </p:pic>
    </p:spTree>
    <p:extLst>
      <p:ext uri="{BB962C8B-B14F-4D97-AF65-F5344CB8AC3E}">
        <p14:creationId xmlns:p14="http://schemas.microsoft.com/office/powerpoint/2010/main" val="4205715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Feedforward Neural Networks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301841" y="1095708"/>
                <a:ext cx="8105312" cy="3903954"/>
              </a:xfrm>
              <a:prstGeom prst="rect">
                <a:avLst/>
              </a:prstGeom>
              <a:noFill/>
            </p:spPr>
            <p:txBody>
              <a:bodyPr wrap="square">
                <a:spAutoFit/>
              </a:bodyPr>
              <a:lstStyle/>
              <a:p>
                <a:pPr algn="just">
                  <a:lnSpc>
                    <a:spcPct val="150000"/>
                  </a:lnSpc>
                </a:pPr>
                <a14:m>
                  <m:oMath xmlns:m="http://schemas.openxmlformats.org/officeDocument/2006/math">
                    <m:r>
                      <a:rPr lang="en-US" sz="2400" b="1" i="1" dirty="0" smtClean="0">
                        <a:latin typeface="Cambria Math" panose="02040503050406030204" pitchFamily="18" charset="0"/>
                        <a:cs typeface="Times New Roman" panose="02020603050405020304" pitchFamily="18" charset="0"/>
                      </a:rPr>
                      <m:t>𝒛</m:t>
                    </m:r>
                  </m:oMath>
                </a14:m>
                <a:r>
                  <a:rPr lang="en-US" sz="2400" dirty="0">
                    <a:latin typeface="Times New Roman" panose="02020603050405020304" pitchFamily="18" charset="0"/>
                    <a:cs typeface="Times New Roman" panose="02020603050405020304" pitchFamily="18" charset="0"/>
                  </a:rPr>
                  <a:t> can’t be the output of the classifier, since it’s a vector of real-valued numbers, while what we need for classification is a vector of probabilities. </a:t>
                </a:r>
              </a:p>
              <a:p>
                <a:pPr algn="just">
                  <a:lnSpc>
                    <a:spcPct val="150000"/>
                  </a:lnSpc>
                </a:pPr>
                <a:r>
                  <a:rPr lang="en-US" sz="2400" dirty="0">
                    <a:latin typeface="Times New Roman" panose="02020603050405020304" pitchFamily="18" charset="0"/>
                    <a:cs typeface="Times New Roman" panose="02020603050405020304" pitchFamily="18" charset="0"/>
                  </a:rPr>
                  <a:t>There is a convenient function for normalizing a vector of real values, by which we mean converting it to a vector that encodes a probability distribution (all the numbers lie between 0 and 1 and sum to 1): the </a:t>
                </a:r>
                <a:r>
                  <a:rPr lang="en-US" sz="2400" b="1" dirty="0" err="1">
                    <a:latin typeface="Times New Roman" panose="02020603050405020304" pitchFamily="18" charset="0"/>
                    <a:cs typeface="Times New Roman" panose="02020603050405020304" pitchFamily="18" charset="0"/>
                  </a:rPr>
                  <a:t>softmax</a:t>
                </a:r>
                <a:r>
                  <a:rPr lang="en-US" sz="2400" dirty="0">
                    <a:latin typeface="Times New Roman" panose="02020603050405020304" pitchFamily="18" charset="0"/>
                    <a:cs typeface="Times New Roman" panose="02020603050405020304" pitchFamily="18" charset="0"/>
                  </a:rPr>
                  <a:t> function that we saw before. </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301841" y="1095708"/>
                <a:ext cx="8105312" cy="3903954"/>
              </a:xfrm>
              <a:prstGeom prst="rect">
                <a:avLst/>
              </a:prstGeom>
              <a:blipFill>
                <a:blip r:embed="rId2"/>
                <a:stretch>
                  <a:fillRect l="-1204" r="-1129" b="-281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27</a:t>
            </a:fld>
            <a:endParaRPr lang="en-GB" dirty="0"/>
          </a:p>
        </p:txBody>
      </p:sp>
      <p:pic>
        <p:nvPicPr>
          <p:cNvPr id="6" name="Picture 5">
            <a:extLst>
              <a:ext uri="{FF2B5EF4-FFF2-40B4-BE49-F238E27FC236}">
                <a16:creationId xmlns:a16="http://schemas.microsoft.com/office/drawing/2014/main" id="{38D27576-04BA-A863-A783-44CE37404013}"/>
              </a:ext>
            </a:extLst>
          </p:cNvPr>
          <p:cNvPicPr>
            <a:picLocks noChangeAspect="1"/>
          </p:cNvPicPr>
          <p:nvPr/>
        </p:nvPicPr>
        <p:blipFill>
          <a:blip r:embed="rId3"/>
          <a:stretch>
            <a:fillRect/>
          </a:stretch>
        </p:blipFill>
        <p:spPr>
          <a:xfrm>
            <a:off x="8407153" y="971762"/>
            <a:ext cx="3668439" cy="4914475"/>
          </a:xfrm>
          <a:prstGeom prst="rect">
            <a:avLst/>
          </a:prstGeom>
        </p:spPr>
      </p:pic>
      <p:pic>
        <p:nvPicPr>
          <p:cNvPr id="7" name="Picture 6">
            <a:extLst>
              <a:ext uri="{FF2B5EF4-FFF2-40B4-BE49-F238E27FC236}">
                <a16:creationId xmlns:a16="http://schemas.microsoft.com/office/drawing/2014/main" id="{6828A3A3-CCFD-E320-BEDB-E84EB6372965}"/>
              </a:ext>
            </a:extLst>
          </p:cNvPr>
          <p:cNvPicPr>
            <a:picLocks noChangeAspect="1"/>
          </p:cNvPicPr>
          <p:nvPr/>
        </p:nvPicPr>
        <p:blipFill>
          <a:blip r:embed="rId4"/>
          <a:stretch>
            <a:fillRect/>
          </a:stretch>
        </p:blipFill>
        <p:spPr>
          <a:xfrm>
            <a:off x="1603623" y="4962192"/>
            <a:ext cx="4362450" cy="800100"/>
          </a:xfrm>
          <a:prstGeom prst="rect">
            <a:avLst/>
          </a:prstGeom>
        </p:spPr>
      </p:pic>
      <p:pic>
        <p:nvPicPr>
          <p:cNvPr id="9" name="Picture 8">
            <a:extLst>
              <a:ext uri="{FF2B5EF4-FFF2-40B4-BE49-F238E27FC236}">
                <a16:creationId xmlns:a16="http://schemas.microsoft.com/office/drawing/2014/main" id="{0F6A27F5-E8AA-0AB5-D187-8793C5461D37}"/>
              </a:ext>
            </a:extLst>
          </p:cNvPr>
          <p:cNvPicPr>
            <a:picLocks noChangeAspect="1"/>
          </p:cNvPicPr>
          <p:nvPr/>
        </p:nvPicPr>
        <p:blipFill>
          <a:blip r:embed="rId5"/>
          <a:stretch>
            <a:fillRect/>
          </a:stretch>
        </p:blipFill>
        <p:spPr>
          <a:xfrm>
            <a:off x="1726021" y="5807021"/>
            <a:ext cx="3448050" cy="371475"/>
          </a:xfrm>
          <a:prstGeom prst="rect">
            <a:avLst/>
          </a:prstGeom>
        </p:spPr>
      </p:pic>
      <p:pic>
        <p:nvPicPr>
          <p:cNvPr id="11" name="Picture 10">
            <a:extLst>
              <a:ext uri="{FF2B5EF4-FFF2-40B4-BE49-F238E27FC236}">
                <a16:creationId xmlns:a16="http://schemas.microsoft.com/office/drawing/2014/main" id="{84C1E156-17D9-89E3-F053-2F11CA101D63}"/>
              </a:ext>
            </a:extLst>
          </p:cNvPr>
          <p:cNvPicPr>
            <a:picLocks noChangeAspect="1"/>
          </p:cNvPicPr>
          <p:nvPr/>
        </p:nvPicPr>
        <p:blipFill>
          <a:blip r:embed="rId6"/>
          <a:stretch>
            <a:fillRect/>
          </a:stretch>
        </p:blipFill>
        <p:spPr>
          <a:xfrm>
            <a:off x="1705305" y="6277391"/>
            <a:ext cx="5438775" cy="371475"/>
          </a:xfrm>
          <a:prstGeom prst="rect">
            <a:avLst/>
          </a:prstGeom>
        </p:spPr>
      </p:pic>
    </p:spTree>
    <p:extLst>
      <p:ext uri="{BB962C8B-B14F-4D97-AF65-F5344CB8AC3E}">
        <p14:creationId xmlns:p14="http://schemas.microsoft.com/office/powerpoint/2010/main" val="4481145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Feedforward Neural Networks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301841" y="1095708"/>
                <a:ext cx="8105312" cy="4457952"/>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That means we can think of a neural network classifier with one hidden layer</a:t>
                </a:r>
                <a14:m>
                  <m:oMath xmlns:m="http://schemas.openxmlformats.org/officeDocument/2006/math">
                    <m:r>
                      <a:rPr lang="en-US" sz="2400" b="0" i="0" dirty="0" smtClean="0">
                        <a:latin typeface="Cambria Math" panose="02040503050406030204" pitchFamily="18" charset="0"/>
                        <a:cs typeface="Times New Roman" panose="02020603050405020304" pitchFamily="18" charset="0"/>
                      </a:rPr>
                      <m:t> </m:t>
                    </m:r>
                  </m:oMath>
                </a14:m>
                <a:r>
                  <a:rPr lang="en-US" sz="2400" dirty="0">
                    <a:latin typeface="Times New Roman" panose="02020603050405020304" pitchFamily="18" charset="0"/>
                    <a:cs typeface="Times New Roman" panose="02020603050405020304" pitchFamily="18" charset="0"/>
                  </a:rPr>
                  <a:t>as building a vector </a:t>
                </a:r>
                <a:r>
                  <a:rPr lang="en-US" sz="2400" b="1" dirty="0">
                    <a:latin typeface="Times New Roman" panose="02020603050405020304" pitchFamily="18" charset="0"/>
                    <a:cs typeface="Times New Roman" panose="02020603050405020304" pitchFamily="18" charset="0"/>
                  </a:rPr>
                  <a:t>h</a:t>
                </a:r>
                <a:r>
                  <a:rPr lang="en-US" sz="2400" dirty="0">
                    <a:latin typeface="Times New Roman" panose="02020603050405020304" pitchFamily="18" charset="0"/>
                    <a:cs typeface="Times New Roman" panose="02020603050405020304" pitchFamily="18" charset="0"/>
                  </a:rPr>
                  <a:t> which is a hidden layer representation of the input, and then</a:t>
                </a:r>
                <a14:m>
                  <m:oMath xmlns:m="http://schemas.openxmlformats.org/officeDocument/2006/math">
                    <m:r>
                      <a:rPr lang="en-US" sz="2400" b="0" i="0" dirty="0" smtClean="0">
                        <a:latin typeface="Cambria Math" panose="02040503050406030204" pitchFamily="18" charset="0"/>
                        <a:cs typeface="Times New Roman" panose="02020603050405020304" pitchFamily="18" charset="0"/>
                      </a:rPr>
                      <m:t> </m:t>
                    </m:r>
                  </m:oMath>
                </a14:m>
                <a:r>
                  <a:rPr lang="en-US" sz="2400" dirty="0">
                    <a:latin typeface="Times New Roman" panose="02020603050405020304" pitchFamily="18" charset="0"/>
                    <a:cs typeface="Times New Roman" panose="02020603050405020304" pitchFamily="18" charset="0"/>
                  </a:rPr>
                  <a:t>running standard multinomial logistic regression on the features that the network develops in </a:t>
                </a:r>
                <a:r>
                  <a:rPr lang="en-US" sz="2400" b="1" dirty="0">
                    <a:latin typeface="Times New Roman" panose="02020603050405020304" pitchFamily="18" charset="0"/>
                    <a:cs typeface="Times New Roman" panose="02020603050405020304" pitchFamily="18" charset="0"/>
                  </a:rPr>
                  <a:t>h</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a:latin typeface="Times New Roman" panose="02020603050405020304" pitchFamily="18" charset="0"/>
                    <a:cs typeface="Times New Roman" panose="02020603050405020304" pitchFamily="18" charset="0"/>
                  </a:rPr>
                  <a:t>So, a neural network is like multinomial logistic regression, but (a) with many layers, since a deep neural network is like layer after layer of logistic regression classifiers; </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301841" y="1095708"/>
                <a:ext cx="8105312" cy="4457952"/>
              </a:xfrm>
              <a:prstGeom prst="rect">
                <a:avLst/>
              </a:prstGeom>
              <a:blipFill>
                <a:blip r:embed="rId2"/>
                <a:stretch>
                  <a:fillRect l="-1204" r="-1129" b="-2326"/>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28</a:t>
            </a:fld>
            <a:endParaRPr lang="en-GB" dirty="0"/>
          </a:p>
        </p:txBody>
      </p:sp>
      <p:pic>
        <p:nvPicPr>
          <p:cNvPr id="6" name="Picture 5">
            <a:extLst>
              <a:ext uri="{FF2B5EF4-FFF2-40B4-BE49-F238E27FC236}">
                <a16:creationId xmlns:a16="http://schemas.microsoft.com/office/drawing/2014/main" id="{38D27576-04BA-A863-A783-44CE37404013}"/>
              </a:ext>
            </a:extLst>
          </p:cNvPr>
          <p:cNvPicPr>
            <a:picLocks noChangeAspect="1"/>
          </p:cNvPicPr>
          <p:nvPr/>
        </p:nvPicPr>
        <p:blipFill>
          <a:blip r:embed="rId3"/>
          <a:stretch>
            <a:fillRect/>
          </a:stretch>
        </p:blipFill>
        <p:spPr>
          <a:xfrm>
            <a:off x="8407153" y="971762"/>
            <a:ext cx="3668439" cy="4914475"/>
          </a:xfrm>
          <a:prstGeom prst="rect">
            <a:avLst/>
          </a:prstGeom>
        </p:spPr>
      </p:pic>
    </p:spTree>
    <p:extLst>
      <p:ext uri="{BB962C8B-B14F-4D97-AF65-F5344CB8AC3E}">
        <p14:creationId xmlns:p14="http://schemas.microsoft.com/office/powerpoint/2010/main" val="2620541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Feedforward Neural Networks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301841" y="1095708"/>
                <a:ext cx="8105312" cy="5565947"/>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(b) with those intermediate layers having many possible activation functions (tanh, </a:t>
                </a:r>
                <a:r>
                  <a:rPr lang="en-US" sz="2400" dirty="0" err="1">
                    <a:latin typeface="Times New Roman" panose="02020603050405020304" pitchFamily="18" charset="0"/>
                    <a:cs typeface="Times New Roman" panose="02020603050405020304" pitchFamily="18" charset="0"/>
                  </a:rPr>
                  <a:t>ReLU</a:t>
                </a:r>
                <a:r>
                  <a:rPr lang="en-US" sz="2400" dirty="0">
                    <a:latin typeface="Times New Roman" panose="02020603050405020304" pitchFamily="18" charset="0"/>
                    <a:cs typeface="Times New Roman" panose="02020603050405020304" pitchFamily="18" charset="0"/>
                  </a:rPr>
                  <a:t>, sigmoid) instead of just sigmoid; </a:t>
                </a:r>
              </a:p>
              <a:p>
                <a:pPr algn="just">
                  <a:lnSpc>
                    <a:spcPct val="150000"/>
                  </a:lnSpc>
                </a:pPr>
                <a:r>
                  <a:rPr lang="en-US" sz="2400" dirty="0">
                    <a:latin typeface="Times New Roman" panose="02020603050405020304" pitchFamily="18" charset="0"/>
                    <a:cs typeface="Times New Roman" panose="02020603050405020304" pitchFamily="18" charset="0"/>
                  </a:rPr>
                  <a:t>(c) rather than forming the features by feature templates, the prior layers of the network induce the feature representations themselves.</a:t>
                </a:r>
              </a:p>
              <a:p>
                <a:pPr algn="just">
                  <a:lnSpc>
                    <a:spcPct val="150000"/>
                  </a:lnSpc>
                </a:pPr>
                <a14:m>
                  <m:oMath xmlns:m="http://schemas.openxmlformats.org/officeDocument/2006/math">
                    <m:r>
                      <a:rPr lang="pl-PL" sz="2400" i="1" dirty="0" smtClean="0">
                        <a:latin typeface="Cambria Math" panose="02040503050406030204" pitchFamily="18" charset="0"/>
                        <a:cs typeface="Times New Roman" panose="02020603050405020304" pitchFamily="18" charset="0"/>
                      </a:rPr>
                      <m:t>h</m:t>
                    </m:r>
                    <m:r>
                      <a:rPr lang="pl-PL" sz="2400" i="1" dirty="0" smtClean="0">
                        <a:latin typeface="Cambria Math" panose="02040503050406030204" pitchFamily="18" charset="0"/>
                        <a:cs typeface="Times New Roman" panose="02020603050405020304" pitchFamily="18" charset="0"/>
                      </a:rPr>
                      <m:t> =</m:t>
                    </m:r>
                    <m:r>
                      <m:rPr>
                        <m:nor/>
                      </m:rPr>
                      <a:rPr lang="el-GR" sz="2400" b="1" dirty="0">
                        <a:latin typeface="Times New Roman" panose="02020603050405020304" pitchFamily="18" charset="0"/>
                        <a:cs typeface="Times New Roman" panose="02020603050405020304" pitchFamily="18" charset="0"/>
                      </a:rPr>
                      <m:t>σ</m:t>
                    </m:r>
                    <m:r>
                      <a:rPr lang="pl-PL" sz="2400" i="1" dirty="0" smtClean="0">
                        <a:latin typeface="Cambria Math" panose="02040503050406030204" pitchFamily="18" charset="0"/>
                        <a:cs typeface="Times New Roman" panose="02020603050405020304" pitchFamily="18" charset="0"/>
                      </a:rPr>
                      <m:t>(</m:t>
                    </m:r>
                    <m:r>
                      <a:rPr lang="pl-PL" sz="2400" i="1" dirty="0" smtClean="0">
                        <a:latin typeface="Cambria Math" panose="02040503050406030204" pitchFamily="18" charset="0"/>
                        <a:cs typeface="Times New Roman" panose="02020603050405020304" pitchFamily="18" charset="0"/>
                      </a:rPr>
                      <m:t>𝑊𝑥</m:t>
                    </m:r>
                    <m:r>
                      <a:rPr lang="pl-PL" sz="2400" i="1" dirty="0" smtClean="0">
                        <a:latin typeface="Cambria Math" panose="02040503050406030204" pitchFamily="18" charset="0"/>
                        <a:cs typeface="Times New Roman" panose="02020603050405020304" pitchFamily="18" charset="0"/>
                      </a:rPr>
                      <m:t>+</m:t>
                    </m:r>
                    <m:r>
                      <a:rPr lang="pl-PL" sz="2400" i="1" dirty="0" smtClean="0">
                        <a:latin typeface="Cambria Math" panose="02040503050406030204" pitchFamily="18" charset="0"/>
                        <a:cs typeface="Times New Roman" panose="02020603050405020304" pitchFamily="18" charset="0"/>
                      </a:rPr>
                      <m:t>𝑏</m:t>
                    </m:r>
                    <m:r>
                      <a:rPr lang="pl-PL" sz="2400" i="1" dirty="0" smtClean="0">
                        <a:latin typeface="Cambria Math" panose="02040503050406030204" pitchFamily="18" charset="0"/>
                        <a:cs typeface="Times New Roman" panose="02020603050405020304" pitchFamily="18" charset="0"/>
                      </a:rPr>
                      <m:t>)</m:t>
                    </m:r>
                  </m:oMath>
                </a14:m>
                <a:r>
                  <a:rPr lang="en-US" sz="2400" dirty="0">
                    <a:latin typeface="Times New Roman" panose="02020603050405020304" pitchFamily="18" charset="0"/>
                    <a:cs typeface="Times New Roman" panose="02020603050405020304" pitchFamily="18" charset="0"/>
                  </a:rPr>
                  <a:t>, </a:t>
                </a:r>
                <a:endParaRPr lang="en-US" sz="2400" i="1" dirty="0">
                  <a:latin typeface="Cambria Math" panose="02040503050406030204" pitchFamily="18" charset="0"/>
                  <a:cs typeface="Times New Roman" panose="02020603050405020304" pitchFamily="18" charset="0"/>
                </a:endParaRPr>
              </a:p>
              <a:p>
                <a:pPr algn="just">
                  <a:lnSpc>
                    <a:spcPct val="150000"/>
                  </a:lnSpc>
                </a:pPr>
                <a14:m>
                  <m:oMath xmlns:m="http://schemas.openxmlformats.org/officeDocument/2006/math">
                    <m:r>
                      <a:rPr lang="pl-PL" sz="2400" i="1" dirty="0" smtClean="0">
                        <a:latin typeface="Cambria Math" panose="02040503050406030204" pitchFamily="18" charset="0"/>
                        <a:cs typeface="Times New Roman" panose="02020603050405020304" pitchFamily="18" charset="0"/>
                      </a:rPr>
                      <m:t>𝑧</m:t>
                    </m:r>
                    <m:r>
                      <a:rPr lang="pl-PL" sz="2400" i="1" dirty="0" smtClean="0">
                        <a:latin typeface="Cambria Math" panose="02040503050406030204" pitchFamily="18" charset="0"/>
                        <a:cs typeface="Times New Roman" panose="02020603050405020304" pitchFamily="18" charset="0"/>
                      </a:rPr>
                      <m:t> = </m:t>
                    </m:r>
                    <m:r>
                      <a:rPr lang="pl-PL" sz="2400" i="1" dirty="0" smtClean="0">
                        <a:latin typeface="Cambria Math" panose="02040503050406030204" pitchFamily="18" charset="0"/>
                        <a:cs typeface="Times New Roman" panose="02020603050405020304" pitchFamily="18" charset="0"/>
                      </a:rPr>
                      <m:t>𝑈h</m:t>
                    </m:r>
                  </m:oMath>
                </a14:m>
                <a:r>
                  <a:rPr lang="en-US" sz="2400" dirty="0">
                    <a:latin typeface="Times New Roman" panose="02020603050405020304" pitchFamily="18" charset="0"/>
                    <a:cs typeface="Times New Roman" panose="02020603050405020304" pitchFamily="18" charset="0"/>
                  </a:rPr>
                  <a:t>, </a:t>
                </a:r>
                <a14:m>
                  <m:oMath xmlns:m="http://schemas.openxmlformats.org/officeDocument/2006/math">
                    <m:r>
                      <a:rPr lang="pl-PL" sz="2400" i="1" dirty="0" smtClean="0">
                        <a:latin typeface="Cambria Math" panose="02040503050406030204" pitchFamily="18" charset="0"/>
                        <a:cs typeface="Times New Roman" panose="02020603050405020304" pitchFamily="18" charset="0"/>
                      </a:rPr>
                      <m:t>𝑦</m:t>
                    </m:r>
                    <m:r>
                      <a:rPr lang="pl-PL" sz="2400" i="1" dirty="0" smtClean="0">
                        <a:latin typeface="Cambria Math" panose="02040503050406030204" pitchFamily="18" charset="0"/>
                        <a:cs typeface="Times New Roman" panose="02020603050405020304" pitchFamily="18" charset="0"/>
                      </a:rPr>
                      <m:t> = </m:t>
                    </m:r>
                    <m:r>
                      <a:rPr lang="pl-PL" sz="2400" i="1" dirty="0" smtClean="0">
                        <a:latin typeface="Cambria Math" panose="02040503050406030204" pitchFamily="18" charset="0"/>
                        <a:cs typeface="Times New Roman" panose="02020603050405020304" pitchFamily="18" charset="0"/>
                      </a:rPr>
                      <m:t>𝑠𝑜𝑓𝑡𝑚𝑎𝑥</m:t>
                    </m:r>
                    <m:r>
                      <a:rPr lang="pl-PL" sz="2400" i="1" dirty="0" smtClean="0">
                        <a:latin typeface="Cambria Math" panose="02040503050406030204" pitchFamily="18" charset="0"/>
                        <a:cs typeface="Times New Roman" panose="02020603050405020304" pitchFamily="18" charset="0"/>
                      </a:rPr>
                      <m:t>(</m:t>
                    </m:r>
                    <m:r>
                      <a:rPr lang="pl-PL" sz="2400" i="1" dirty="0" smtClean="0">
                        <a:latin typeface="Cambria Math" panose="02040503050406030204" pitchFamily="18" charset="0"/>
                        <a:cs typeface="Times New Roman" panose="02020603050405020304" pitchFamily="18" charset="0"/>
                      </a:rPr>
                      <m:t>𝑧</m:t>
                    </m:r>
                    <m:r>
                      <a:rPr lang="pl-PL" sz="2400" i="1" dirty="0" smtClean="0">
                        <a:latin typeface="Cambria Math" panose="02040503050406030204" pitchFamily="18" charset="0"/>
                        <a:cs typeface="Times New Roman" panose="02020603050405020304" pitchFamily="18" charset="0"/>
                      </a:rPr>
                      <m:t>)</m:t>
                    </m:r>
                  </m:oMath>
                </a14:m>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x</a:t>
                </a:r>
                <a14:m>
                  <m:oMath xmlns:m="http://schemas.openxmlformats.org/officeDocument/2006/math">
                    <m:r>
                      <a:rPr lang="en-US" sz="2400" b="1"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1"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ea typeface="Cambria Math" panose="02040503050406030204" pitchFamily="18" charset="0"/>
                                <a:cs typeface="Times New Roman" panose="02020603050405020304" pitchFamily="18" charset="0"/>
                              </a:rPr>
                              <m:t>𝒏</m:t>
                            </m:r>
                          </m:e>
                          <m:sub>
                            <m:r>
                              <a:rPr lang="en-US" sz="2400" b="1" i="1" smtClean="0">
                                <a:latin typeface="Cambria Math" panose="02040503050406030204" pitchFamily="18" charset="0"/>
                                <a:ea typeface="Cambria Math" panose="02040503050406030204" pitchFamily="18" charset="0"/>
                                <a:cs typeface="Times New Roman" panose="02020603050405020304" pitchFamily="18" charset="0"/>
                              </a:rPr>
                              <m:t>𝟎</m:t>
                            </m:r>
                          </m:sub>
                        </m:sSub>
                      </m:sup>
                    </m:sSup>
                    <m:r>
                      <a:rPr lang="en-US" sz="2400" b="1"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 </m:t>
                    </m:r>
                    <m:r>
                      <a:rPr lang="en-US" sz="2400" b="1" i="0" smtClean="0">
                        <a:latin typeface="Cambria Math" panose="02040503050406030204" pitchFamily="18" charset="0"/>
                        <a:ea typeface="Cambria Math" panose="02040503050406030204" pitchFamily="18" charset="0"/>
                        <a:cs typeface="Times New Roman" panose="02020603050405020304" pitchFamily="18" charset="0"/>
                      </a:rPr>
                      <m:t>𝐡</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1"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ea typeface="Cambria Math" panose="02040503050406030204" pitchFamily="18" charset="0"/>
                                <a:cs typeface="Times New Roman" panose="02020603050405020304" pitchFamily="18" charset="0"/>
                              </a:rPr>
                              <m:t>𝒏</m:t>
                            </m:r>
                          </m:e>
                          <m:sub>
                            <m:r>
                              <a:rPr lang="en-US" sz="2400" b="1" i="1" smtClean="0">
                                <a:latin typeface="Cambria Math" panose="02040503050406030204" pitchFamily="18" charset="0"/>
                                <a:ea typeface="Cambria Math" panose="02040503050406030204" pitchFamily="18" charset="0"/>
                                <a:cs typeface="Times New Roman" panose="02020603050405020304" pitchFamily="18" charset="0"/>
                              </a:rPr>
                              <m:t>𝟏</m:t>
                            </m:r>
                          </m:sub>
                        </m:sSub>
                      </m:sup>
                    </m:sSup>
                    <m:r>
                      <a:rPr lang="en-US" sz="2400" b="1"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2400" b="1" dirty="0">
                    <a:latin typeface="Times New Roman" panose="02020603050405020304" pitchFamily="18" charset="0"/>
                    <a:cs typeface="Times New Roman" panose="02020603050405020304" pitchFamily="18" charset="0"/>
                  </a:rPr>
                  <a:t> b</a:t>
                </a:r>
                <a14:m>
                  <m:oMath xmlns:m="http://schemas.openxmlformats.org/officeDocument/2006/math">
                    <m:r>
                      <a:rPr lang="en-US" sz="2400" b="1"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1"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ea typeface="Cambria Math" panose="02040503050406030204" pitchFamily="18" charset="0"/>
                                <a:cs typeface="Times New Roman" panose="02020603050405020304" pitchFamily="18" charset="0"/>
                              </a:rPr>
                              <m:t>𝒏</m:t>
                            </m:r>
                          </m:e>
                          <m:sub>
                            <m:r>
                              <a:rPr lang="en-US" sz="2400" b="1" i="1" smtClean="0">
                                <a:latin typeface="Cambria Math" panose="02040503050406030204" pitchFamily="18" charset="0"/>
                                <a:ea typeface="Cambria Math" panose="02040503050406030204" pitchFamily="18" charset="0"/>
                                <a:cs typeface="Times New Roman" panose="02020603050405020304" pitchFamily="18" charset="0"/>
                              </a:rPr>
                              <m:t>𝟏</m:t>
                            </m:r>
                          </m:sub>
                        </m:sSub>
                      </m:sup>
                    </m:sSup>
                    <m:r>
                      <a:rPr lang="en-US" sz="2400" b="1"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 </m:t>
                    </m:r>
                  </m:oMath>
                </a14:m>
                <a:r>
                  <a:rPr lang="en-US" sz="2400" b="1" dirty="0">
                    <a:latin typeface="Times New Roman" panose="02020603050405020304" pitchFamily="18" charset="0"/>
                    <a:cs typeface="Times New Roman" panose="02020603050405020304" pitchFamily="18" charset="0"/>
                  </a:rPr>
                  <a:t>W</a:t>
                </a:r>
                <a14:m>
                  <m:oMath xmlns:m="http://schemas.openxmlformats.org/officeDocument/2006/math">
                    <m:r>
                      <a:rPr lang="en-US" sz="2400" b="1"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1"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ea typeface="Cambria Math" panose="02040503050406030204" pitchFamily="18" charset="0"/>
                                <a:cs typeface="Times New Roman" panose="02020603050405020304" pitchFamily="18" charset="0"/>
                              </a:rPr>
                              <m:t>𝒏</m:t>
                            </m:r>
                          </m:e>
                          <m:sub>
                            <m:r>
                              <a:rPr lang="en-US" sz="2400" b="1" i="1" smtClean="0">
                                <a:latin typeface="Cambria Math" panose="02040503050406030204" pitchFamily="18" charset="0"/>
                                <a:ea typeface="Cambria Math" panose="02040503050406030204" pitchFamily="18" charset="0"/>
                                <a:cs typeface="Times New Roman" panose="02020603050405020304" pitchFamily="18" charset="0"/>
                              </a:rPr>
                              <m:t>𝟏</m:t>
                            </m:r>
                          </m:sub>
                        </m:sSub>
                        <m:r>
                          <a:rPr lang="en-US" sz="2400"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ea typeface="Cambria Math" panose="02040503050406030204" pitchFamily="18" charset="0"/>
                                <a:cs typeface="Times New Roman" panose="02020603050405020304" pitchFamily="18" charset="0"/>
                              </a:rPr>
                              <m:t>𝒏</m:t>
                            </m:r>
                          </m:e>
                          <m:sub>
                            <m:r>
                              <a:rPr lang="en-US" sz="2400" b="1" i="1" smtClean="0">
                                <a:latin typeface="Cambria Math" panose="02040503050406030204" pitchFamily="18" charset="0"/>
                                <a:ea typeface="Cambria Math" panose="02040503050406030204" pitchFamily="18" charset="0"/>
                                <a:cs typeface="Times New Roman" panose="02020603050405020304" pitchFamily="18" charset="0"/>
                              </a:rPr>
                              <m:t>𝟎</m:t>
                            </m:r>
                          </m:sub>
                        </m:sSub>
                      </m:sup>
                    </m:sSup>
                    <m:r>
                      <a:rPr lang="en-US" sz="2400" b="1"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 </m:t>
                    </m:r>
                  </m:oMath>
                </a14:m>
                <a:r>
                  <a:rPr lang="en-US" sz="2400" b="1" dirty="0">
                    <a:latin typeface="Times New Roman" panose="02020603050405020304" pitchFamily="18" charset="0"/>
                    <a:cs typeface="Times New Roman" panose="02020603050405020304" pitchFamily="18" charset="0"/>
                  </a:rPr>
                  <a:t>U</a:t>
                </a:r>
                <a14:m>
                  <m:oMath xmlns:m="http://schemas.openxmlformats.org/officeDocument/2006/math">
                    <m:r>
                      <a:rPr lang="en-US" sz="2400" b="1"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1"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ea typeface="Cambria Math" panose="02040503050406030204" pitchFamily="18" charset="0"/>
                                <a:cs typeface="Times New Roman" panose="02020603050405020304" pitchFamily="18" charset="0"/>
                              </a:rPr>
                              <m:t>𝒏</m:t>
                            </m:r>
                          </m:e>
                          <m:sub>
                            <m:r>
                              <a:rPr lang="en-US" sz="2400" b="1" i="1" smtClean="0">
                                <a:latin typeface="Cambria Math" panose="02040503050406030204" pitchFamily="18" charset="0"/>
                                <a:ea typeface="Cambria Math" panose="02040503050406030204" pitchFamily="18" charset="0"/>
                                <a:cs typeface="Times New Roman" panose="02020603050405020304" pitchFamily="18" charset="0"/>
                              </a:rPr>
                              <m:t>𝟐</m:t>
                            </m:r>
                          </m:sub>
                        </m:sSub>
                        <m:r>
                          <a:rPr lang="en-US" sz="2400"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ea typeface="Cambria Math" panose="02040503050406030204" pitchFamily="18" charset="0"/>
                                <a:cs typeface="Times New Roman" panose="02020603050405020304" pitchFamily="18" charset="0"/>
                              </a:rPr>
                              <m:t>𝒏</m:t>
                            </m:r>
                          </m:e>
                          <m:sub>
                            <m:r>
                              <a:rPr lang="en-US" sz="2400" b="1" i="1" smtClean="0">
                                <a:latin typeface="Cambria Math" panose="02040503050406030204" pitchFamily="18" charset="0"/>
                                <a:ea typeface="Cambria Math" panose="02040503050406030204" pitchFamily="18" charset="0"/>
                                <a:cs typeface="Times New Roman" panose="02020603050405020304" pitchFamily="18" charset="0"/>
                              </a:rPr>
                              <m:t>𝟏</m:t>
                            </m:r>
                          </m:sub>
                        </m:sSub>
                      </m:sup>
                    </m:sSup>
                  </m:oMath>
                </a14:m>
                <a:r>
                  <a:rPr lang="en-US" sz="2400" dirty="0">
                    <a:latin typeface="Times New Roman" panose="02020603050405020304" pitchFamily="18" charset="0"/>
                    <a:cs typeface="Times New Roman" panose="02020603050405020304" pitchFamily="18" charset="0"/>
                  </a:rPr>
                  <a:t>, </a:t>
                </a:r>
              </a:p>
              <a:p>
                <a:pPr algn="just">
                  <a:lnSpc>
                    <a:spcPct val="150000"/>
                  </a:lnSpc>
                </a:pPr>
                <a:r>
                  <a:rPr lang="en-US" sz="2400" b="1" dirty="0">
                    <a:latin typeface="Times New Roman" panose="02020603050405020304" pitchFamily="18" charset="0"/>
                    <a:cs typeface="Times New Roman" panose="02020603050405020304" pitchFamily="18" charset="0"/>
                  </a:rPr>
                  <a:t>h</a:t>
                </a:r>
                <a14:m>
                  <m:oMath xmlns:m="http://schemas.openxmlformats.org/officeDocument/2006/math">
                    <m:r>
                      <a:rPr lang="en-US" sz="2400" b="1"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1"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ea typeface="Cambria Math" panose="02040503050406030204" pitchFamily="18" charset="0"/>
                                <a:cs typeface="Times New Roman" panose="02020603050405020304" pitchFamily="18" charset="0"/>
                              </a:rPr>
                              <m:t>𝒏</m:t>
                            </m:r>
                          </m:e>
                          <m:sub>
                            <m:r>
                              <a:rPr lang="en-US" sz="2400" b="1" i="1" smtClean="0">
                                <a:latin typeface="Cambria Math" panose="02040503050406030204" pitchFamily="18" charset="0"/>
                                <a:ea typeface="Cambria Math" panose="02040503050406030204" pitchFamily="18" charset="0"/>
                                <a:cs typeface="Times New Roman" panose="02020603050405020304" pitchFamily="18" charset="0"/>
                              </a:rPr>
                              <m:t>𝟐</m:t>
                            </m:r>
                          </m:sub>
                        </m:sSub>
                      </m:sup>
                    </m:sSup>
                  </m:oMath>
                </a14:m>
                <a:r>
                  <a:rPr lang="en-US" sz="2400" dirty="0">
                    <a:latin typeface="Times New Roman" panose="02020603050405020304" pitchFamily="18" charset="0"/>
                    <a:cs typeface="Times New Roman" panose="02020603050405020304" pitchFamily="18" charset="0"/>
                  </a:rPr>
                  <a:t>and the output </a:t>
                </a:r>
                <a:r>
                  <a:rPr lang="en-US" sz="2400" b="1" dirty="0">
                    <a:latin typeface="Times New Roman" panose="02020603050405020304" pitchFamily="18" charset="0"/>
                    <a:cs typeface="Times New Roman" panose="02020603050405020304" pitchFamily="18" charset="0"/>
                  </a:rPr>
                  <a:t>y</a:t>
                </a:r>
                <a14:m>
                  <m:oMath xmlns:m="http://schemas.openxmlformats.org/officeDocument/2006/math">
                    <m:r>
                      <a:rPr lang="en-US" sz="2400" b="1"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1"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ea typeface="Cambria Math" panose="02040503050406030204" pitchFamily="18" charset="0"/>
                                <a:cs typeface="Times New Roman" panose="02020603050405020304" pitchFamily="18" charset="0"/>
                              </a:rPr>
                              <m:t>𝒏</m:t>
                            </m:r>
                          </m:e>
                          <m:sub>
                            <m:r>
                              <a:rPr lang="en-US" sz="2400" b="1" i="1">
                                <a:latin typeface="Cambria Math" panose="02040503050406030204" pitchFamily="18" charset="0"/>
                                <a:ea typeface="Cambria Math" panose="02040503050406030204" pitchFamily="18" charset="0"/>
                                <a:cs typeface="Times New Roman" panose="02020603050405020304" pitchFamily="18" charset="0"/>
                              </a:rPr>
                              <m:t>𝟐</m:t>
                            </m:r>
                          </m:sub>
                        </m:sSub>
                      </m:sup>
                    </m:sSup>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301841" y="1095708"/>
                <a:ext cx="8105312" cy="5565947"/>
              </a:xfrm>
              <a:prstGeom prst="rect">
                <a:avLst/>
              </a:prstGeom>
              <a:blipFill>
                <a:blip r:embed="rId2"/>
                <a:stretch>
                  <a:fillRect l="-1204" r="-1129" b="-164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29</a:t>
            </a:fld>
            <a:endParaRPr lang="en-GB" dirty="0"/>
          </a:p>
        </p:txBody>
      </p:sp>
      <p:pic>
        <p:nvPicPr>
          <p:cNvPr id="6" name="Picture 5">
            <a:extLst>
              <a:ext uri="{FF2B5EF4-FFF2-40B4-BE49-F238E27FC236}">
                <a16:creationId xmlns:a16="http://schemas.microsoft.com/office/drawing/2014/main" id="{38D27576-04BA-A863-A783-44CE37404013}"/>
              </a:ext>
            </a:extLst>
          </p:cNvPr>
          <p:cNvPicPr>
            <a:picLocks noChangeAspect="1"/>
          </p:cNvPicPr>
          <p:nvPr/>
        </p:nvPicPr>
        <p:blipFill>
          <a:blip r:embed="rId3"/>
          <a:stretch>
            <a:fillRect/>
          </a:stretch>
        </p:blipFill>
        <p:spPr>
          <a:xfrm>
            <a:off x="8407153" y="971762"/>
            <a:ext cx="3668439" cy="4914475"/>
          </a:xfrm>
          <a:prstGeom prst="rect">
            <a:avLst/>
          </a:prstGeom>
        </p:spPr>
      </p:pic>
    </p:spTree>
    <p:extLst>
      <p:ext uri="{BB962C8B-B14F-4D97-AF65-F5344CB8AC3E}">
        <p14:creationId xmlns:p14="http://schemas.microsoft.com/office/powerpoint/2010/main" val="1541901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Feedforward networks for NLP: Classification</a:t>
            </a:r>
            <a:endParaRPr lang="en-GB"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79967"/>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Let’s begin with a simple 2-layer sentiment classifier.</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30</a:t>
            </a:fld>
            <a:endParaRPr lang="en-GB"/>
          </a:p>
        </p:txBody>
      </p:sp>
      <p:pic>
        <p:nvPicPr>
          <p:cNvPr id="6" name="Picture 5">
            <a:extLst>
              <a:ext uri="{FF2B5EF4-FFF2-40B4-BE49-F238E27FC236}">
                <a16:creationId xmlns:a16="http://schemas.microsoft.com/office/drawing/2014/main" id="{7BC61247-F75E-0E0D-F365-5C04E68ECFD0}"/>
              </a:ext>
            </a:extLst>
          </p:cNvPr>
          <p:cNvPicPr>
            <a:picLocks noChangeAspect="1"/>
          </p:cNvPicPr>
          <p:nvPr/>
        </p:nvPicPr>
        <p:blipFill>
          <a:blip r:embed="rId2"/>
          <a:stretch>
            <a:fillRect/>
          </a:stretch>
        </p:blipFill>
        <p:spPr>
          <a:xfrm>
            <a:off x="1121228" y="1764945"/>
            <a:ext cx="2066925" cy="1552575"/>
          </a:xfrm>
          <a:prstGeom prst="rect">
            <a:avLst/>
          </a:prstGeom>
        </p:spPr>
      </p:pic>
      <p:pic>
        <p:nvPicPr>
          <p:cNvPr id="8" name="Picture 7">
            <a:extLst>
              <a:ext uri="{FF2B5EF4-FFF2-40B4-BE49-F238E27FC236}">
                <a16:creationId xmlns:a16="http://schemas.microsoft.com/office/drawing/2014/main" id="{A778B88C-FD61-2E23-DFE2-E44A9B3EC38E}"/>
              </a:ext>
            </a:extLst>
          </p:cNvPr>
          <p:cNvPicPr>
            <a:picLocks noChangeAspect="1"/>
          </p:cNvPicPr>
          <p:nvPr/>
        </p:nvPicPr>
        <p:blipFill>
          <a:blip r:embed="rId3"/>
          <a:stretch>
            <a:fillRect/>
          </a:stretch>
        </p:blipFill>
        <p:spPr>
          <a:xfrm>
            <a:off x="3710819" y="1881416"/>
            <a:ext cx="8143875" cy="4381500"/>
          </a:xfrm>
          <a:prstGeom prst="rect">
            <a:avLst/>
          </a:prstGeom>
        </p:spPr>
      </p:pic>
    </p:spTree>
    <p:extLst>
      <p:ext uri="{BB962C8B-B14F-4D97-AF65-F5344CB8AC3E}">
        <p14:creationId xmlns:p14="http://schemas.microsoft.com/office/powerpoint/2010/main" val="16764029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Feedforward networks for NLP: Classification</a:t>
            </a:r>
            <a:endParaRPr lang="en-GB"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4457952"/>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Most neural NLP applications do something different, however. Instead of using hand-built human-engineered features as the input to our classifier, we draw on deep learning’s ability to learn features from the data by representing words as embeddings, like the word2vec or </a:t>
            </a:r>
            <a:r>
              <a:rPr lang="en-US" sz="2400" dirty="0" err="1">
                <a:latin typeface="Times New Roman" panose="02020603050405020304" pitchFamily="18" charset="0"/>
                <a:cs typeface="Times New Roman" panose="02020603050405020304" pitchFamily="18" charset="0"/>
              </a:rPr>
              <a:t>GloVe</a:t>
            </a:r>
            <a:r>
              <a:rPr lang="en-US" sz="2400" dirty="0">
                <a:latin typeface="Times New Roman" panose="02020603050405020304" pitchFamily="18" charset="0"/>
                <a:cs typeface="Times New Roman" panose="02020603050405020304" pitchFamily="18" charset="0"/>
              </a:rPr>
              <a:t> embeddings.</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There are various ways to represent an input for classification. One simple baseline is to apply some sort of pooling function to the embeddings of all the words in the input.</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31</a:t>
            </a:fld>
            <a:endParaRPr lang="en-GB"/>
          </a:p>
        </p:txBody>
      </p:sp>
    </p:spTree>
    <p:extLst>
      <p:ext uri="{BB962C8B-B14F-4D97-AF65-F5344CB8AC3E}">
        <p14:creationId xmlns:p14="http://schemas.microsoft.com/office/powerpoint/2010/main" val="8753593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Feedforward networks for NLP: Classification</a:t>
            </a:r>
            <a:endParaRPr lang="en-GB"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2241960"/>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For example, for a text with n input words/tokens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1</m:t>
                        </m:r>
                      </m:sub>
                    </m:sSub>
                  </m:oMath>
                </a14:m>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2</m:t>
                        </m:r>
                      </m:sub>
                    </m:sSub>
                  </m:oMath>
                </a14:m>
                <a:r>
                  <a:rPr lang="en-US" sz="2400" dirty="0">
                    <a:latin typeface="Times New Roman" panose="02020603050405020304" pitchFamily="18" charset="0"/>
                    <a:cs typeface="Times New Roman" panose="02020603050405020304" pitchFamily="18" charset="0"/>
                  </a:rPr>
                  <a:t>, … ,</a:t>
                </a:r>
                <a:r>
                  <a:rPr lang="en-US" sz="2400" dirty="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𝑛</m:t>
                        </m:r>
                      </m:sub>
                    </m:sSub>
                  </m:oMath>
                </a14:m>
                <a:r>
                  <a:rPr lang="en-US" sz="2400" dirty="0">
                    <a:latin typeface="Times New Roman" panose="02020603050405020304" pitchFamily="18" charset="0"/>
                    <a:cs typeface="Times New Roman" panose="02020603050405020304" pitchFamily="18" charset="0"/>
                  </a:rPr>
                  <a:t>, we can turn the n embeddings e(</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𝑤</m:t>
                        </m:r>
                      </m:e>
                      <m:sub>
                        <m:r>
                          <a:rPr lang="en-US" sz="2400" i="1">
                            <a:latin typeface="Cambria Math" panose="02040503050406030204" pitchFamily="18" charset="0"/>
                            <a:cs typeface="Times New Roman" panose="02020603050405020304" pitchFamily="18" charset="0"/>
                          </a:rPr>
                          <m:t>1</m:t>
                        </m:r>
                      </m:sub>
                    </m:sSub>
                  </m:oMath>
                </a14:m>
                <a:r>
                  <a:rPr lang="en-US" sz="2400" dirty="0">
                    <a:latin typeface="Times New Roman" panose="02020603050405020304" pitchFamily="18" charset="0"/>
                    <a:cs typeface="Times New Roman" panose="02020603050405020304" pitchFamily="18" charset="0"/>
                  </a:rPr>
                  <a:t>), … , e(</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𝑛</m:t>
                        </m:r>
                      </m:sub>
                    </m:sSub>
                  </m:oMath>
                </a14:m>
                <a:r>
                  <a:rPr lang="en-US" sz="2400" dirty="0">
                    <a:latin typeface="Times New Roman" panose="02020603050405020304" pitchFamily="18" charset="0"/>
                    <a:cs typeface="Times New Roman" panose="02020603050405020304" pitchFamily="18" charset="0"/>
                  </a:rPr>
                  <a:t>) (each of dimensionality d) into a single embedding also of dimensionality d by just summing the embeddings, or by taking their mean (summing and then dividing by n):</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8" y="1095708"/>
                <a:ext cx="9949543" cy="2241960"/>
              </a:xfrm>
              <a:prstGeom prst="rect">
                <a:avLst/>
              </a:prstGeom>
              <a:blipFill>
                <a:blip r:embed="rId2"/>
                <a:stretch>
                  <a:fillRect l="-980" r="-919" b="-5435"/>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32</a:t>
            </a:fld>
            <a:endParaRPr lang="en-GB"/>
          </a:p>
        </p:txBody>
      </p:sp>
      <p:pic>
        <p:nvPicPr>
          <p:cNvPr id="6" name="Picture 5">
            <a:extLst>
              <a:ext uri="{FF2B5EF4-FFF2-40B4-BE49-F238E27FC236}">
                <a16:creationId xmlns:a16="http://schemas.microsoft.com/office/drawing/2014/main" id="{3F11027D-E23C-5435-89FE-A968FBB6FF77}"/>
              </a:ext>
            </a:extLst>
          </p:cNvPr>
          <p:cNvPicPr>
            <a:picLocks noChangeAspect="1"/>
          </p:cNvPicPr>
          <p:nvPr/>
        </p:nvPicPr>
        <p:blipFill>
          <a:blip r:embed="rId3"/>
          <a:stretch>
            <a:fillRect/>
          </a:stretch>
        </p:blipFill>
        <p:spPr>
          <a:xfrm>
            <a:off x="3876674" y="3610992"/>
            <a:ext cx="2219325" cy="914400"/>
          </a:xfrm>
          <a:prstGeom prst="rect">
            <a:avLst/>
          </a:prstGeom>
        </p:spPr>
      </p:pic>
      <p:pic>
        <p:nvPicPr>
          <p:cNvPr id="8" name="Picture 7">
            <a:extLst>
              <a:ext uri="{FF2B5EF4-FFF2-40B4-BE49-F238E27FC236}">
                <a16:creationId xmlns:a16="http://schemas.microsoft.com/office/drawing/2014/main" id="{7F5C7ED1-1B4F-ED07-0516-00AE55DFA522}"/>
              </a:ext>
            </a:extLst>
          </p:cNvPr>
          <p:cNvPicPr>
            <a:picLocks noChangeAspect="1"/>
          </p:cNvPicPr>
          <p:nvPr/>
        </p:nvPicPr>
        <p:blipFill>
          <a:blip r:embed="rId4"/>
          <a:stretch>
            <a:fillRect/>
          </a:stretch>
        </p:blipFill>
        <p:spPr>
          <a:xfrm>
            <a:off x="3876674" y="4775932"/>
            <a:ext cx="3981450" cy="1543050"/>
          </a:xfrm>
          <a:prstGeom prst="rect">
            <a:avLst/>
          </a:prstGeom>
        </p:spPr>
      </p:pic>
    </p:spTree>
    <p:extLst>
      <p:ext uri="{BB962C8B-B14F-4D97-AF65-F5344CB8AC3E}">
        <p14:creationId xmlns:p14="http://schemas.microsoft.com/office/powerpoint/2010/main" val="36524473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Feedforward networks for NLP: Classification</a:t>
            </a:r>
            <a:endParaRPr lang="en-GB"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79967"/>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Feedforward sentiment analysis using a pooled embedding of the input words.</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33</a:t>
            </a:fld>
            <a:endParaRPr lang="en-GB"/>
          </a:p>
        </p:txBody>
      </p:sp>
      <p:pic>
        <p:nvPicPr>
          <p:cNvPr id="7" name="Picture 6">
            <a:extLst>
              <a:ext uri="{FF2B5EF4-FFF2-40B4-BE49-F238E27FC236}">
                <a16:creationId xmlns:a16="http://schemas.microsoft.com/office/drawing/2014/main" id="{016A801D-860B-441C-2444-1D9B5CDAB93E}"/>
              </a:ext>
            </a:extLst>
          </p:cNvPr>
          <p:cNvPicPr>
            <a:picLocks noChangeAspect="1"/>
          </p:cNvPicPr>
          <p:nvPr/>
        </p:nvPicPr>
        <p:blipFill>
          <a:blip r:embed="rId2"/>
          <a:stretch>
            <a:fillRect/>
          </a:stretch>
        </p:blipFill>
        <p:spPr>
          <a:xfrm>
            <a:off x="1899557" y="1881416"/>
            <a:ext cx="8191500" cy="4324350"/>
          </a:xfrm>
          <a:prstGeom prst="rect">
            <a:avLst/>
          </a:prstGeom>
        </p:spPr>
      </p:pic>
    </p:spTree>
    <p:extLst>
      <p:ext uri="{BB962C8B-B14F-4D97-AF65-F5344CB8AC3E}">
        <p14:creationId xmlns:p14="http://schemas.microsoft.com/office/powerpoint/2010/main" val="31837221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Feedforward Neural Language Modeling</a:t>
            </a:r>
            <a:endParaRPr lang="en-GB"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565947"/>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As our second application of feedforward networks, let’s consider language modeling: predicting upcoming words from prior word context. Neural language modeling is an important NLP task in itself, and it plays a role in many important algorithms for tasks like machine translation, summarization, speech recognition, grammar correction, and dialogue. </a:t>
            </a:r>
          </a:p>
          <a:p>
            <a:pPr algn="just">
              <a:lnSpc>
                <a:spcPct val="150000"/>
              </a:lnSpc>
            </a:pPr>
            <a:r>
              <a:rPr lang="en-US" sz="2400" dirty="0">
                <a:latin typeface="Times New Roman" panose="02020603050405020304" pitchFamily="18" charset="0"/>
                <a:cs typeface="Times New Roman" panose="02020603050405020304" pitchFamily="18" charset="0"/>
              </a:rPr>
              <a:t>We’ll describe simple feedforward neural language models, first introduced by Bengio et al. (2003). While modern neural language models use more powerful architectures like the </a:t>
            </a:r>
            <a:r>
              <a:rPr lang="en-US" sz="2400" b="1" dirty="0">
                <a:latin typeface="Times New Roman" panose="02020603050405020304" pitchFamily="18" charset="0"/>
                <a:cs typeface="Times New Roman" panose="02020603050405020304" pitchFamily="18" charset="0"/>
              </a:rPr>
              <a:t>recurrent nets </a:t>
            </a:r>
            <a:r>
              <a:rPr lang="en-US" sz="2400" dirty="0">
                <a:latin typeface="Times New Roman" panose="02020603050405020304" pitchFamily="18" charset="0"/>
                <a:cs typeface="Times New Roman" panose="02020603050405020304" pitchFamily="18" charset="0"/>
              </a:rPr>
              <a:t>or </a:t>
            </a:r>
            <a:r>
              <a:rPr lang="en-US" sz="2400" b="1" dirty="0">
                <a:latin typeface="Times New Roman" panose="02020603050405020304" pitchFamily="18" charset="0"/>
                <a:cs typeface="Times New Roman" panose="02020603050405020304" pitchFamily="18" charset="0"/>
              </a:rPr>
              <a:t>transformer networks </a:t>
            </a:r>
            <a:r>
              <a:rPr lang="en-US" sz="2400" dirty="0">
                <a:latin typeface="Times New Roman" panose="02020603050405020304" pitchFamily="18" charset="0"/>
                <a:cs typeface="Times New Roman" panose="02020603050405020304" pitchFamily="18" charset="0"/>
              </a:rPr>
              <a:t>to be introduced later, the </a:t>
            </a:r>
            <a:r>
              <a:rPr lang="en-US" sz="2400" b="1" dirty="0">
                <a:latin typeface="Times New Roman" panose="02020603050405020304" pitchFamily="18" charset="0"/>
                <a:cs typeface="Times New Roman" panose="02020603050405020304" pitchFamily="18" charset="0"/>
              </a:rPr>
              <a:t>feedforward language </a:t>
            </a:r>
            <a:r>
              <a:rPr lang="en-US" sz="2400" dirty="0">
                <a:latin typeface="Times New Roman" panose="02020603050405020304" pitchFamily="18" charset="0"/>
                <a:cs typeface="Times New Roman" panose="02020603050405020304" pitchFamily="18" charset="0"/>
              </a:rPr>
              <a:t>model introduces many of the important concepts of neural language modeling.</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34</a:t>
            </a:fld>
            <a:endParaRPr lang="en-GB"/>
          </a:p>
        </p:txBody>
      </p:sp>
    </p:spTree>
    <p:extLst>
      <p:ext uri="{BB962C8B-B14F-4D97-AF65-F5344CB8AC3E}">
        <p14:creationId xmlns:p14="http://schemas.microsoft.com/office/powerpoint/2010/main" val="28410020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Feedforward Neural Language Modeling</a:t>
            </a:r>
            <a:endParaRPr lang="en-GB"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011949"/>
          </a:xfrm>
          <a:prstGeom prst="rect">
            <a:avLst/>
          </a:prstGeom>
          <a:noFill/>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Neural language models </a:t>
            </a:r>
            <a:r>
              <a:rPr lang="en-US" sz="2400" dirty="0">
                <a:latin typeface="Times New Roman" panose="02020603050405020304" pitchFamily="18" charset="0"/>
                <a:cs typeface="Times New Roman" panose="02020603050405020304" pitchFamily="18" charset="0"/>
              </a:rPr>
              <a:t>have many advantages over the </a:t>
            </a:r>
            <a:r>
              <a:rPr lang="en-US" sz="2400" b="1" dirty="0">
                <a:latin typeface="Times New Roman" panose="02020603050405020304" pitchFamily="18" charset="0"/>
                <a:cs typeface="Times New Roman" panose="02020603050405020304" pitchFamily="18" charset="0"/>
              </a:rPr>
              <a:t>n-gram language models </a:t>
            </a:r>
            <a:r>
              <a:rPr lang="en-US" sz="2400" dirty="0">
                <a:latin typeface="Times New Roman" panose="02020603050405020304" pitchFamily="18" charset="0"/>
                <a:cs typeface="Times New Roman" panose="02020603050405020304" pitchFamily="18" charset="0"/>
              </a:rPr>
              <a:t>(discussed earlier). Compared to n-gram models, neural language models can handle </a:t>
            </a:r>
            <a:r>
              <a:rPr lang="en-US" sz="2400" b="1" dirty="0">
                <a:latin typeface="Times New Roman" panose="02020603050405020304" pitchFamily="18" charset="0"/>
                <a:cs typeface="Times New Roman" panose="02020603050405020304" pitchFamily="18" charset="0"/>
              </a:rPr>
              <a:t>much longer histories</a:t>
            </a:r>
            <a:r>
              <a:rPr lang="en-US" sz="2400" dirty="0">
                <a:latin typeface="Times New Roman" panose="02020603050405020304" pitchFamily="18" charset="0"/>
                <a:cs typeface="Times New Roman" panose="02020603050405020304" pitchFamily="18" charset="0"/>
              </a:rPr>
              <a:t>, can generalize better over </a:t>
            </a:r>
            <a:r>
              <a:rPr lang="en-US" sz="2400" b="1" dirty="0">
                <a:latin typeface="Times New Roman" panose="02020603050405020304" pitchFamily="18" charset="0"/>
                <a:cs typeface="Times New Roman" panose="02020603050405020304" pitchFamily="18" charset="0"/>
              </a:rPr>
              <a:t>contexts</a:t>
            </a:r>
            <a:r>
              <a:rPr lang="en-US" sz="2400" dirty="0">
                <a:latin typeface="Times New Roman" panose="02020603050405020304" pitchFamily="18" charset="0"/>
                <a:cs typeface="Times New Roman" panose="02020603050405020304" pitchFamily="18" charset="0"/>
              </a:rPr>
              <a:t> of similar words, and are more </a:t>
            </a:r>
            <a:r>
              <a:rPr lang="en-US" sz="2400" b="1" dirty="0">
                <a:latin typeface="Times New Roman" panose="02020603050405020304" pitchFamily="18" charset="0"/>
                <a:cs typeface="Times New Roman" panose="02020603050405020304" pitchFamily="18" charset="0"/>
              </a:rPr>
              <a:t>accurate</a:t>
            </a:r>
            <a:r>
              <a:rPr lang="en-US" sz="2400" dirty="0">
                <a:latin typeface="Times New Roman" panose="02020603050405020304" pitchFamily="18" charset="0"/>
                <a:cs typeface="Times New Roman" panose="02020603050405020304" pitchFamily="18" charset="0"/>
              </a:rPr>
              <a:t> at word-prediction. </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On the other hand, neural net language models are much more </a:t>
            </a:r>
            <a:r>
              <a:rPr lang="en-US" sz="2400" b="1" dirty="0">
                <a:latin typeface="Times New Roman" panose="02020603050405020304" pitchFamily="18" charset="0"/>
                <a:cs typeface="Times New Roman" panose="02020603050405020304" pitchFamily="18" charset="0"/>
              </a:rPr>
              <a:t>complex</a:t>
            </a:r>
            <a:r>
              <a:rPr lang="en-US" sz="2400" dirty="0">
                <a:latin typeface="Times New Roman" panose="02020603050405020304" pitchFamily="18" charset="0"/>
                <a:cs typeface="Times New Roman" panose="02020603050405020304" pitchFamily="18" charset="0"/>
              </a:rPr>
              <a:t>, are </a:t>
            </a:r>
            <a:r>
              <a:rPr lang="en-US" sz="2400" b="1" dirty="0">
                <a:latin typeface="Times New Roman" panose="02020603050405020304" pitchFamily="18" charset="0"/>
                <a:cs typeface="Times New Roman" panose="02020603050405020304" pitchFamily="18" charset="0"/>
              </a:rPr>
              <a:t>slower</a:t>
            </a:r>
            <a:r>
              <a:rPr lang="en-US" sz="2400" dirty="0">
                <a:latin typeface="Times New Roman" panose="02020603050405020304" pitchFamily="18" charset="0"/>
                <a:cs typeface="Times New Roman" panose="02020603050405020304" pitchFamily="18" charset="0"/>
              </a:rPr>
              <a:t> and need </a:t>
            </a:r>
            <a:r>
              <a:rPr lang="en-US" sz="2400" b="1" dirty="0">
                <a:latin typeface="Times New Roman" panose="02020603050405020304" pitchFamily="18" charset="0"/>
                <a:cs typeface="Times New Roman" panose="02020603050405020304" pitchFamily="18" charset="0"/>
              </a:rPr>
              <a:t>more energy </a:t>
            </a:r>
            <a:r>
              <a:rPr lang="en-US" sz="2400" dirty="0">
                <a:latin typeface="Times New Roman" panose="02020603050405020304" pitchFamily="18" charset="0"/>
                <a:cs typeface="Times New Roman" panose="02020603050405020304" pitchFamily="18" charset="0"/>
              </a:rPr>
              <a:t>to train, and are less </a:t>
            </a:r>
            <a:r>
              <a:rPr lang="en-US" sz="2400" b="1" dirty="0">
                <a:latin typeface="Times New Roman" panose="02020603050405020304" pitchFamily="18" charset="0"/>
                <a:cs typeface="Times New Roman" panose="02020603050405020304" pitchFamily="18" charset="0"/>
              </a:rPr>
              <a:t>interpretable</a:t>
            </a:r>
            <a:r>
              <a:rPr lang="en-US" sz="2400" dirty="0">
                <a:latin typeface="Times New Roman" panose="02020603050405020304" pitchFamily="18" charset="0"/>
                <a:cs typeface="Times New Roman" panose="02020603050405020304" pitchFamily="18" charset="0"/>
              </a:rPr>
              <a:t> than n-gram models, so for many (especially smaller) tasks an n-gram language model is still the right tool.</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35</a:t>
            </a:fld>
            <a:endParaRPr lang="en-GB"/>
          </a:p>
        </p:txBody>
      </p:sp>
    </p:spTree>
    <p:extLst>
      <p:ext uri="{BB962C8B-B14F-4D97-AF65-F5344CB8AC3E}">
        <p14:creationId xmlns:p14="http://schemas.microsoft.com/office/powerpoint/2010/main" val="24840242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Feedforward Neural Language Modeling</a:t>
            </a:r>
            <a:endParaRPr lang="en-GB"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3903954"/>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A feedforward neural LM is a feedforward network that takes as input at time </a:t>
                </a:r>
                <a:r>
                  <a:rPr lang="en-US" sz="2400" b="1" i="1" dirty="0">
                    <a:latin typeface="Times New Roman" panose="02020603050405020304" pitchFamily="18" charset="0"/>
                    <a:cs typeface="Times New Roman" panose="02020603050405020304" pitchFamily="18" charset="0"/>
                  </a:rPr>
                  <a:t>t</a:t>
                </a:r>
              </a:p>
              <a:p>
                <a:pPr algn="just">
                  <a:lnSpc>
                    <a:spcPct val="150000"/>
                  </a:lnSpc>
                </a:pPr>
                <a:r>
                  <a:rPr lang="en-US" sz="2400" dirty="0">
                    <a:latin typeface="Times New Roman" panose="02020603050405020304" pitchFamily="18" charset="0"/>
                    <a:cs typeface="Times New Roman" panose="02020603050405020304" pitchFamily="18" charset="0"/>
                  </a:rPr>
                  <a:t>a representation of some number of previous words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−1</m:t>
                        </m:r>
                      </m:sub>
                    </m:sSub>
                  </m:oMath>
                </a14:m>
                <a:r>
                  <a:rPr lang="en-US" sz="2400" dirty="0">
                    <a:latin typeface="Times New Roman" panose="02020603050405020304" pitchFamily="18" charset="0"/>
                    <a:cs typeface="Times New Roman" panose="02020603050405020304" pitchFamily="18" charset="0"/>
                  </a:rPr>
                  <a:t>,</a:t>
                </a:r>
                <a:r>
                  <a:rPr lang="en-US" sz="2400" dirty="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𝑤</m:t>
                        </m:r>
                      </m:e>
                      <m:sub>
                        <m:r>
                          <a:rPr lang="en-US" sz="2400" i="1">
                            <a:latin typeface="Cambria Math" panose="02040503050406030204" pitchFamily="18" charset="0"/>
                            <a:cs typeface="Times New Roman" panose="02020603050405020304" pitchFamily="18" charset="0"/>
                          </a:rPr>
                          <m:t>𝑡</m:t>
                        </m:r>
                        <m:r>
                          <a:rPr lang="en-US" sz="2400" i="1">
                            <a:latin typeface="Cambria Math" panose="02040503050406030204" pitchFamily="18" charset="0"/>
                            <a:cs typeface="Times New Roman" panose="02020603050405020304" pitchFamily="18" charset="0"/>
                          </a:rPr>
                          <m:t>−2</m:t>
                        </m:r>
                      </m:sub>
                    </m:sSub>
                    <m:r>
                      <a:rPr lang="en-US" sz="2400" i="1">
                        <a:latin typeface="Cambria Math" panose="02040503050406030204" pitchFamily="18" charset="0"/>
                        <a:cs typeface="Times New Roman" panose="02020603050405020304" pitchFamily="18" charset="0"/>
                      </a:rPr>
                      <m:t> </m:t>
                    </m:r>
                  </m:oMath>
                </a14:m>
                <a:r>
                  <a:rPr lang="en-US" sz="2400" dirty="0">
                    <a:latin typeface="Times New Roman" panose="02020603050405020304" pitchFamily="18" charset="0"/>
                    <a:cs typeface="Times New Roman" panose="02020603050405020304" pitchFamily="18" charset="0"/>
                  </a:rPr>
                  <a:t>etc.) and outputs a probability distribution over possible next words. </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Thus—like the n-gram LM—the feedforward neural LM approximates the probability of a word given the entire prior context P(</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𝑡</m:t>
                        </m:r>
                      </m:sub>
                    </m:sSub>
                  </m:oMath>
                </a14:m>
                <a:r>
                  <a:rPr lang="en-US" sz="2400" dirty="0">
                    <a:latin typeface="Times New Roman" panose="02020603050405020304" pitchFamily="18" charset="0"/>
                    <a:cs typeface="Times New Roman" panose="02020603050405020304" pitchFamily="18" charset="0"/>
                  </a:rPr>
                  <a:t>|</a:t>
                </a:r>
                <a:r>
                  <a:rPr lang="en-US" sz="2400" dirty="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1:</m:t>
                        </m:r>
                        <m:r>
                          <a:rPr lang="en-US" sz="2400" i="1">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−1</m:t>
                        </m:r>
                      </m:sub>
                    </m:sSub>
                  </m:oMath>
                </a14:m>
                <a:r>
                  <a:rPr lang="en-US" sz="2400" dirty="0">
                    <a:latin typeface="Times New Roman" panose="02020603050405020304" pitchFamily="18" charset="0"/>
                    <a:cs typeface="Times New Roman" panose="02020603050405020304" pitchFamily="18" charset="0"/>
                  </a:rPr>
                  <a:t>) by approximating based on the N −1 previous words:</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8" y="1095708"/>
                <a:ext cx="9949543" cy="3903954"/>
              </a:xfrm>
              <a:prstGeom prst="rect">
                <a:avLst/>
              </a:prstGeom>
              <a:blipFill>
                <a:blip r:embed="rId2"/>
                <a:stretch>
                  <a:fillRect l="-980" r="-919" b="-281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36</a:t>
            </a:fld>
            <a:endParaRPr lang="en-GB"/>
          </a:p>
        </p:txBody>
      </p:sp>
      <p:pic>
        <p:nvPicPr>
          <p:cNvPr id="6" name="Picture 5">
            <a:extLst>
              <a:ext uri="{FF2B5EF4-FFF2-40B4-BE49-F238E27FC236}">
                <a16:creationId xmlns:a16="http://schemas.microsoft.com/office/drawing/2014/main" id="{46097948-E944-E16A-BAD1-EFFC2D12028D}"/>
              </a:ext>
            </a:extLst>
          </p:cNvPr>
          <p:cNvPicPr>
            <a:picLocks noChangeAspect="1"/>
          </p:cNvPicPr>
          <p:nvPr/>
        </p:nvPicPr>
        <p:blipFill>
          <a:blip r:embed="rId3"/>
          <a:stretch>
            <a:fillRect/>
          </a:stretch>
        </p:blipFill>
        <p:spPr>
          <a:xfrm>
            <a:off x="3629210" y="5295567"/>
            <a:ext cx="4667250" cy="466725"/>
          </a:xfrm>
          <a:prstGeom prst="rect">
            <a:avLst/>
          </a:prstGeom>
        </p:spPr>
      </p:pic>
    </p:spTree>
    <p:extLst>
      <p:ext uri="{BB962C8B-B14F-4D97-AF65-F5344CB8AC3E}">
        <p14:creationId xmlns:p14="http://schemas.microsoft.com/office/powerpoint/2010/main" val="27824422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Forward inference in the neural LM</a:t>
            </a:r>
            <a:endParaRPr lang="en-GB"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4457952"/>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Forward inference is the task, given an input, of running a forward pass on the network to produce a probability distribution over possible outputs, in this case next words.</a:t>
            </a:r>
          </a:p>
          <a:p>
            <a:pPr algn="just">
              <a:lnSpc>
                <a:spcPct val="150000"/>
              </a:lnSpc>
            </a:pPr>
            <a:r>
              <a:rPr lang="en-US" sz="2400" dirty="0">
                <a:latin typeface="Times New Roman" panose="02020603050405020304" pitchFamily="18" charset="0"/>
                <a:cs typeface="Times New Roman" panose="02020603050405020304" pitchFamily="18" charset="0"/>
              </a:rPr>
              <a:t>We first represent each of the N previous words as a one-hot vector of length |V|. A one-hot vector is a vector that has one element equal to 1—in the dimension corresponding to that word’s index in the vocabulary— while all the other elements are set to zero.  Thus, in a one-hot representation for the word “toothpaste”, supposing it is V5, as shown here:</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37</a:t>
            </a:fld>
            <a:endParaRPr lang="en-GB"/>
          </a:p>
        </p:txBody>
      </p:sp>
      <p:pic>
        <p:nvPicPr>
          <p:cNvPr id="7" name="Picture 6">
            <a:extLst>
              <a:ext uri="{FF2B5EF4-FFF2-40B4-BE49-F238E27FC236}">
                <a16:creationId xmlns:a16="http://schemas.microsoft.com/office/drawing/2014/main" id="{67605735-CD2A-781E-9AC2-41557B508D9F}"/>
              </a:ext>
            </a:extLst>
          </p:cNvPr>
          <p:cNvPicPr>
            <a:picLocks noChangeAspect="1"/>
          </p:cNvPicPr>
          <p:nvPr/>
        </p:nvPicPr>
        <p:blipFill>
          <a:blip r:embed="rId2"/>
          <a:stretch>
            <a:fillRect/>
          </a:stretch>
        </p:blipFill>
        <p:spPr>
          <a:xfrm>
            <a:off x="3925085" y="5718175"/>
            <a:ext cx="3667125" cy="638175"/>
          </a:xfrm>
          <a:prstGeom prst="rect">
            <a:avLst/>
          </a:prstGeom>
        </p:spPr>
      </p:pic>
    </p:spTree>
    <p:extLst>
      <p:ext uri="{BB962C8B-B14F-4D97-AF65-F5344CB8AC3E}">
        <p14:creationId xmlns:p14="http://schemas.microsoft.com/office/powerpoint/2010/main" val="17456106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Forward inference in the neural LM</a:t>
            </a:r>
            <a:endParaRPr lang="en-GB"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2241960"/>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embedding weight matrix </a:t>
                </a:r>
                <a:r>
                  <a:rPr lang="en-US" sz="2400" b="1" i="1" dirty="0">
                    <a:latin typeface="Times New Roman" panose="02020603050405020304" pitchFamily="18" charset="0"/>
                    <a:cs typeface="Times New Roman" panose="02020603050405020304" pitchFamily="18" charset="0"/>
                  </a:rPr>
                  <a:t>E</a:t>
                </a:r>
                <a:r>
                  <a:rPr lang="en-US" sz="2400" dirty="0">
                    <a:latin typeface="Times New Roman" panose="02020603050405020304" pitchFamily="18" charset="0"/>
                    <a:cs typeface="Times New Roman" panose="02020603050405020304" pitchFamily="18" charset="0"/>
                  </a:rPr>
                  <a:t> has a column for each word, each a column vector of </a:t>
                </a:r>
                <a:r>
                  <a:rPr lang="en-US" sz="2400" b="1" i="1" dirty="0">
                    <a:latin typeface="Times New Roman" panose="02020603050405020304" pitchFamily="18" charset="0"/>
                    <a:cs typeface="Times New Roman" panose="02020603050405020304" pitchFamily="18" charset="0"/>
                  </a:rPr>
                  <a:t>d</a:t>
                </a:r>
                <a:r>
                  <a:rPr lang="en-US" sz="2400" dirty="0">
                    <a:latin typeface="Times New Roman" panose="02020603050405020304" pitchFamily="18" charset="0"/>
                    <a:cs typeface="Times New Roman" panose="02020603050405020304" pitchFamily="18" charset="0"/>
                  </a:rPr>
                  <a:t> dimensions, and hence has dimensionality d × |V|. Multiplying by a one-hot vector that has only one non-zero element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latin typeface="Times New Roman" panose="02020603050405020304" pitchFamily="18" charset="0"/>
                    <a:cs typeface="Times New Roman" panose="02020603050405020304" pitchFamily="18" charset="0"/>
                  </a:rPr>
                  <a:t>= 1 simply selects out the relevant column vector for word </a:t>
                </a:r>
                <a:r>
                  <a:rPr lang="en-US" sz="2400" b="1" i="1"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resulting in the embedding for word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8" y="1095708"/>
                <a:ext cx="9949543" cy="2241960"/>
              </a:xfrm>
              <a:prstGeom prst="rect">
                <a:avLst/>
              </a:prstGeom>
              <a:blipFill>
                <a:blip r:embed="rId2"/>
                <a:stretch>
                  <a:fillRect l="-980" r="-919" b="-5435"/>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38</a:t>
            </a:fld>
            <a:endParaRPr lang="en-GB"/>
          </a:p>
        </p:txBody>
      </p:sp>
      <p:pic>
        <p:nvPicPr>
          <p:cNvPr id="6" name="Picture 5">
            <a:extLst>
              <a:ext uri="{FF2B5EF4-FFF2-40B4-BE49-F238E27FC236}">
                <a16:creationId xmlns:a16="http://schemas.microsoft.com/office/drawing/2014/main" id="{C66B29F3-F7A0-A020-9045-B9ACAA2F9345}"/>
              </a:ext>
            </a:extLst>
          </p:cNvPr>
          <p:cNvPicPr>
            <a:picLocks noChangeAspect="1"/>
          </p:cNvPicPr>
          <p:nvPr/>
        </p:nvPicPr>
        <p:blipFill>
          <a:blip r:embed="rId3"/>
          <a:stretch>
            <a:fillRect/>
          </a:stretch>
        </p:blipFill>
        <p:spPr>
          <a:xfrm>
            <a:off x="3429138" y="3823071"/>
            <a:ext cx="4676775" cy="2047875"/>
          </a:xfrm>
          <a:prstGeom prst="rect">
            <a:avLst/>
          </a:prstGeom>
        </p:spPr>
      </p:pic>
    </p:spTree>
    <p:extLst>
      <p:ext uri="{BB962C8B-B14F-4D97-AF65-F5344CB8AC3E}">
        <p14:creationId xmlns:p14="http://schemas.microsoft.com/office/powerpoint/2010/main" val="11041494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Forward inference in the neural LM</a:t>
            </a:r>
            <a:endParaRPr lang="en-GB"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455403" y="986861"/>
            <a:ext cx="4675890" cy="3730317"/>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Forward inference in a feedforward neural language model. At each timestep </a:t>
            </a:r>
            <a:r>
              <a:rPr lang="en-US" sz="2000" b="1" i="1" dirty="0">
                <a:latin typeface="Times New Roman" panose="02020603050405020304" pitchFamily="18" charset="0"/>
                <a:cs typeface="Times New Roman" panose="02020603050405020304" pitchFamily="18" charset="0"/>
              </a:rPr>
              <a:t>t</a:t>
            </a:r>
            <a:r>
              <a:rPr lang="en-US" sz="2000" dirty="0">
                <a:latin typeface="Times New Roman" panose="02020603050405020304" pitchFamily="18" charset="0"/>
                <a:cs typeface="Times New Roman" panose="02020603050405020304" pitchFamily="18" charset="0"/>
              </a:rPr>
              <a:t> the network computes a </a:t>
            </a:r>
            <a:r>
              <a:rPr lang="en-US" sz="2000" b="1" i="1" dirty="0">
                <a:latin typeface="Times New Roman" panose="02020603050405020304" pitchFamily="18" charset="0"/>
                <a:cs typeface="Times New Roman" panose="02020603050405020304" pitchFamily="18" charset="0"/>
              </a:rPr>
              <a:t>d</a:t>
            </a:r>
            <a:r>
              <a:rPr lang="en-US" sz="2000" dirty="0">
                <a:latin typeface="Times New Roman" panose="02020603050405020304" pitchFamily="18" charset="0"/>
                <a:cs typeface="Times New Roman" panose="02020603050405020304" pitchFamily="18" charset="0"/>
              </a:rPr>
              <a:t>-dimensional embedding for each context word (by multiplying a one-hot vector by the embedding matrix </a:t>
            </a:r>
            <a:r>
              <a:rPr lang="en-US" sz="2000" b="1" i="1" dirty="0">
                <a:latin typeface="Times New Roman" panose="02020603050405020304" pitchFamily="18" charset="0"/>
                <a:cs typeface="Times New Roman" panose="02020603050405020304" pitchFamily="18" charset="0"/>
              </a:rPr>
              <a:t>E</a:t>
            </a:r>
            <a:r>
              <a:rPr lang="en-US" sz="2000" dirty="0">
                <a:latin typeface="Times New Roman" panose="02020603050405020304" pitchFamily="18" charset="0"/>
                <a:cs typeface="Times New Roman" panose="02020603050405020304" pitchFamily="18" charset="0"/>
              </a:rPr>
              <a:t>), and concatenates the 3 resulting embeddings to get the embedding layer </a:t>
            </a:r>
            <a:r>
              <a:rPr lang="en-US" sz="2000" b="1" i="1" dirty="0">
                <a:latin typeface="Times New Roman" panose="02020603050405020304" pitchFamily="18" charset="0"/>
                <a:cs typeface="Times New Roman" panose="02020603050405020304" pitchFamily="18" charset="0"/>
              </a:rPr>
              <a:t>e</a:t>
            </a:r>
            <a:r>
              <a:rPr lang="en-US" sz="2000" dirty="0">
                <a:latin typeface="Times New Roman" panose="02020603050405020304" pitchFamily="18" charset="0"/>
                <a:cs typeface="Times New Roman" panose="02020603050405020304" pitchFamily="18" charset="0"/>
              </a:rPr>
              <a:t>. </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39</a:t>
            </a:fld>
            <a:endParaRPr lang="en-GB"/>
          </a:p>
        </p:txBody>
      </p:sp>
      <p:pic>
        <p:nvPicPr>
          <p:cNvPr id="7" name="Picture 6">
            <a:extLst>
              <a:ext uri="{FF2B5EF4-FFF2-40B4-BE49-F238E27FC236}">
                <a16:creationId xmlns:a16="http://schemas.microsoft.com/office/drawing/2014/main" id="{25DA0194-3455-ADCC-9FB3-C65099AD1BB9}"/>
              </a:ext>
            </a:extLst>
          </p:cNvPr>
          <p:cNvPicPr>
            <a:picLocks noChangeAspect="1"/>
          </p:cNvPicPr>
          <p:nvPr/>
        </p:nvPicPr>
        <p:blipFill>
          <a:blip r:embed="rId2"/>
          <a:stretch>
            <a:fillRect/>
          </a:stretch>
        </p:blipFill>
        <p:spPr>
          <a:xfrm>
            <a:off x="5370989" y="1029172"/>
            <a:ext cx="6698711" cy="5559754"/>
          </a:xfrm>
          <a:prstGeom prst="rect">
            <a:avLst/>
          </a:prstGeom>
        </p:spPr>
      </p:pic>
      <p:pic>
        <p:nvPicPr>
          <p:cNvPr id="9" name="Picture 8">
            <a:extLst>
              <a:ext uri="{FF2B5EF4-FFF2-40B4-BE49-F238E27FC236}">
                <a16:creationId xmlns:a16="http://schemas.microsoft.com/office/drawing/2014/main" id="{56AF8F0B-BC96-8ADF-1117-26DD7F228C07}"/>
              </a:ext>
            </a:extLst>
          </p:cNvPr>
          <p:cNvPicPr>
            <a:picLocks noChangeAspect="1"/>
          </p:cNvPicPr>
          <p:nvPr/>
        </p:nvPicPr>
        <p:blipFill>
          <a:blip r:embed="rId3"/>
          <a:stretch>
            <a:fillRect/>
          </a:stretch>
        </p:blipFill>
        <p:spPr>
          <a:xfrm>
            <a:off x="482035" y="4851802"/>
            <a:ext cx="3067050" cy="1543050"/>
          </a:xfrm>
          <a:prstGeom prst="rect">
            <a:avLst/>
          </a:prstGeom>
        </p:spPr>
      </p:pic>
    </p:spTree>
    <p:extLst>
      <p:ext uri="{BB962C8B-B14F-4D97-AF65-F5344CB8AC3E}">
        <p14:creationId xmlns:p14="http://schemas.microsoft.com/office/powerpoint/2010/main" val="31239883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Training Neural Nets</a:t>
            </a:r>
            <a:endParaRPr lang="en-GB"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589607"/>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A feedforward neural net is an instance of supervised machine learning in which we know the correct output </a:t>
                </a:r>
                <a:r>
                  <a:rPr lang="en-US" sz="2400" b="1" i="1" dirty="0">
                    <a:latin typeface="Times New Roman" panose="02020603050405020304" pitchFamily="18" charset="0"/>
                    <a:cs typeface="Times New Roman" panose="02020603050405020304" pitchFamily="18" charset="0"/>
                  </a:rPr>
                  <a:t>y</a:t>
                </a:r>
                <a:r>
                  <a:rPr lang="en-US" sz="2400" dirty="0">
                    <a:latin typeface="Times New Roman" panose="02020603050405020304" pitchFamily="18" charset="0"/>
                    <a:cs typeface="Times New Roman" panose="02020603050405020304" pitchFamily="18" charset="0"/>
                  </a:rPr>
                  <a:t> for each observation </a:t>
                </a:r>
                <a:r>
                  <a:rPr lang="en-US" sz="2400" b="1" i="1" dirty="0">
                    <a:latin typeface="Times New Roman" panose="02020603050405020304" pitchFamily="18" charset="0"/>
                    <a:cs typeface="Times New Roman" panose="02020603050405020304" pitchFamily="18" charset="0"/>
                  </a:rPr>
                  <a:t>x</a:t>
                </a:r>
                <a:r>
                  <a:rPr lang="en-US" sz="2400" dirty="0">
                    <a:latin typeface="Times New Roman" panose="02020603050405020304" pitchFamily="18" charset="0"/>
                    <a:cs typeface="Times New Roman" panose="02020603050405020304" pitchFamily="18" charset="0"/>
                  </a:rPr>
                  <a:t>.</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What the system produces, is </a:t>
                </a:r>
                <a14:m>
                  <m:oMath xmlns:m="http://schemas.openxmlformats.org/officeDocument/2006/math">
                    <m:acc>
                      <m:accPr>
                        <m:chr m:val="̂"/>
                        <m:ctrlPr>
                          <a:rPr lang="en-US" sz="2400" b="1" i="1" smtClean="0">
                            <a:latin typeface="Cambria Math" panose="02040503050406030204" pitchFamily="18" charset="0"/>
                            <a:cs typeface="Times New Roman" panose="02020603050405020304" pitchFamily="18" charset="0"/>
                          </a:rPr>
                        </m:ctrlPr>
                      </m:accPr>
                      <m:e>
                        <m:r>
                          <a:rPr lang="en-US" sz="2400" b="1" i="0" smtClean="0">
                            <a:latin typeface="Cambria Math" panose="02040503050406030204" pitchFamily="18" charset="0"/>
                            <a:cs typeface="Times New Roman" panose="02020603050405020304" pitchFamily="18" charset="0"/>
                          </a:rPr>
                          <m:t>𝐲</m:t>
                        </m:r>
                      </m:e>
                    </m:acc>
                  </m:oMath>
                </a14:m>
                <a:r>
                  <a:rPr lang="en-US" sz="2400" dirty="0">
                    <a:latin typeface="Times New Roman" panose="02020603050405020304" pitchFamily="18" charset="0"/>
                    <a:cs typeface="Times New Roman" panose="02020603050405020304" pitchFamily="18" charset="0"/>
                  </a:rPr>
                  <a:t>, the system’s estimate of the true </a:t>
                </a:r>
                <a:r>
                  <a:rPr lang="en-US" sz="2400" b="1" dirty="0">
                    <a:latin typeface="Times New Roman" panose="02020603050405020304" pitchFamily="18" charset="0"/>
                    <a:cs typeface="Times New Roman" panose="02020603050405020304" pitchFamily="18" charset="0"/>
                  </a:rPr>
                  <a:t>y</a:t>
                </a:r>
                <a:r>
                  <a:rPr lang="en-US" sz="2400" dirty="0">
                    <a:latin typeface="Times New Roman" panose="02020603050405020304" pitchFamily="18" charset="0"/>
                    <a:cs typeface="Times New Roman" panose="02020603050405020304" pitchFamily="18" charset="0"/>
                  </a:rPr>
                  <a:t>. The goal of the training procedure	is to learn parameters </a:t>
                </a:r>
                <a14:m>
                  <m:oMath xmlns:m="http://schemas.openxmlformats.org/officeDocument/2006/math">
                    <m:sSup>
                      <m:sSupPr>
                        <m:ctrlPr>
                          <a:rPr lang="en-US" sz="2400" b="1" i="1" smtClean="0">
                            <a:latin typeface="Cambria Math" panose="02040503050406030204" pitchFamily="18" charset="0"/>
                            <a:cs typeface="Times New Roman" panose="02020603050405020304" pitchFamily="18" charset="0"/>
                          </a:rPr>
                        </m:ctrlPr>
                      </m:sSupPr>
                      <m:e>
                        <m:r>
                          <a:rPr lang="en-US" sz="2400" b="1" i="1" smtClean="0">
                            <a:latin typeface="Cambria Math" panose="02040503050406030204" pitchFamily="18" charset="0"/>
                            <a:cs typeface="Times New Roman" panose="02020603050405020304" pitchFamily="18" charset="0"/>
                          </a:rPr>
                          <m:t>𝑾</m:t>
                        </m:r>
                      </m:e>
                      <m:sup>
                        <m:r>
                          <a:rPr lang="en-US" sz="2400" b="1" i="1" smtClean="0">
                            <a:latin typeface="Cambria Math" panose="02040503050406030204" pitchFamily="18" charset="0"/>
                            <a:cs typeface="Times New Roman" panose="02020603050405020304" pitchFamily="18" charset="0"/>
                          </a:rPr>
                          <m:t>[</m:t>
                        </m:r>
                        <m:r>
                          <a:rPr lang="en-US" sz="2400" b="1" i="1" smtClean="0">
                            <a:latin typeface="Cambria Math" panose="02040503050406030204" pitchFamily="18" charset="0"/>
                            <a:cs typeface="Times New Roman" panose="02020603050405020304" pitchFamily="18" charset="0"/>
                          </a:rPr>
                          <m:t>𝒊</m:t>
                        </m:r>
                        <m:r>
                          <a:rPr lang="en-US" sz="2400" b="1" i="1" smtClean="0">
                            <a:latin typeface="Cambria Math" panose="02040503050406030204" pitchFamily="18" charset="0"/>
                            <a:cs typeface="Times New Roman" panose="02020603050405020304" pitchFamily="18" charset="0"/>
                          </a:rPr>
                          <m:t>]</m:t>
                        </m:r>
                      </m:sup>
                    </m:sSup>
                  </m:oMath>
                </a14:m>
                <a:r>
                  <a:rPr lang="en-US" sz="2400" dirty="0">
                    <a:latin typeface="Times New Roman" panose="02020603050405020304" pitchFamily="18" charset="0"/>
                    <a:cs typeface="Times New Roman" panose="02020603050405020304" pitchFamily="18" charset="0"/>
                  </a:rPr>
                  <a:t>and </a:t>
                </a:r>
                <a14:m>
                  <m:oMath xmlns:m="http://schemas.openxmlformats.org/officeDocument/2006/math">
                    <m:sSup>
                      <m:sSupPr>
                        <m:ctrlPr>
                          <a:rPr lang="en-US" sz="2400" b="1" i="1">
                            <a:latin typeface="Cambria Math" panose="02040503050406030204" pitchFamily="18" charset="0"/>
                            <a:cs typeface="Times New Roman" panose="02020603050405020304" pitchFamily="18" charset="0"/>
                          </a:rPr>
                        </m:ctrlPr>
                      </m:sSupPr>
                      <m:e>
                        <m:r>
                          <a:rPr lang="en-US" sz="2400" b="1" i="1" smtClean="0">
                            <a:latin typeface="Cambria Math" panose="02040503050406030204" pitchFamily="18" charset="0"/>
                            <a:cs typeface="Times New Roman" panose="02020603050405020304" pitchFamily="18" charset="0"/>
                          </a:rPr>
                          <m:t>𝒃</m:t>
                        </m:r>
                      </m:e>
                      <m:sup>
                        <m:r>
                          <a:rPr lang="en-US" sz="2400" b="1" i="1">
                            <a:latin typeface="Cambria Math" panose="02040503050406030204" pitchFamily="18" charset="0"/>
                            <a:cs typeface="Times New Roman" panose="02020603050405020304" pitchFamily="18" charset="0"/>
                          </a:rPr>
                          <m:t>[</m:t>
                        </m:r>
                        <m:r>
                          <a:rPr lang="en-US" sz="2400" b="1" i="1">
                            <a:latin typeface="Cambria Math" panose="02040503050406030204" pitchFamily="18" charset="0"/>
                            <a:cs typeface="Times New Roman" panose="02020603050405020304" pitchFamily="18" charset="0"/>
                          </a:rPr>
                          <m:t>𝒊</m:t>
                        </m:r>
                        <m:r>
                          <a:rPr lang="en-US" sz="2400" b="1" i="1">
                            <a:latin typeface="Cambria Math" panose="02040503050406030204" pitchFamily="18" charset="0"/>
                            <a:cs typeface="Times New Roman" panose="02020603050405020304" pitchFamily="18" charset="0"/>
                          </a:rPr>
                          <m:t>]</m:t>
                        </m:r>
                      </m:sup>
                    </m:sSup>
                  </m:oMath>
                </a14:m>
                <a:r>
                  <a:rPr lang="en-US" sz="2400" dirty="0">
                    <a:latin typeface="Times New Roman" panose="02020603050405020304" pitchFamily="18" charset="0"/>
                    <a:cs typeface="Times New Roman" panose="02020603050405020304" pitchFamily="18" charset="0"/>
                  </a:rPr>
                  <a:t> for each layer </a:t>
                </a:r>
                <a:r>
                  <a:rPr lang="en-US" sz="2400" b="1" i="1"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that make </a:t>
                </a:r>
                <a14:m>
                  <m:oMath xmlns:m="http://schemas.openxmlformats.org/officeDocument/2006/math">
                    <m:acc>
                      <m:accPr>
                        <m:chr m:val="̂"/>
                        <m:ctrlPr>
                          <a:rPr lang="en-US" sz="2400" b="1" i="1">
                            <a:latin typeface="Cambria Math" panose="02040503050406030204" pitchFamily="18" charset="0"/>
                            <a:cs typeface="Times New Roman" panose="02020603050405020304" pitchFamily="18" charset="0"/>
                          </a:rPr>
                        </m:ctrlPr>
                      </m:accPr>
                      <m:e>
                        <m:r>
                          <a:rPr lang="en-US" sz="2400" b="1">
                            <a:latin typeface="Cambria Math" panose="02040503050406030204" pitchFamily="18" charset="0"/>
                            <a:cs typeface="Times New Roman" panose="02020603050405020304" pitchFamily="18" charset="0"/>
                          </a:rPr>
                          <m:t>𝐲</m:t>
                        </m:r>
                      </m:e>
                    </m:acc>
                  </m:oMath>
                </a14:m>
                <a:r>
                  <a:rPr lang="en-US" sz="2400" dirty="0">
                    <a:latin typeface="Times New Roman" panose="02020603050405020304" pitchFamily="18" charset="0"/>
                    <a:cs typeface="Times New Roman" panose="02020603050405020304" pitchFamily="18" charset="0"/>
                  </a:rPr>
                  <a:t> for each training observation as close as possible to the true </a:t>
                </a:r>
                <a:r>
                  <a:rPr lang="en-US" sz="2400" b="1" i="1" dirty="0">
                    <a:latin typeface="Times New Roman" panose="02020603050405020304" pitchFamily="18" charset="0"/>
                    <a:cs typeface="Times New Roman" panose="02020603050405020304" pitchFamily="18" charset="0"/>
                  </a:rPr>
                  <a:t>y</a:t>
                </a:r>
                <a:r>
                  <a:rPr lang="en-US" sz="2400" dirty="0">
                    <a:latin typeface="Times New Roman" panose="02020603050405020304" pitchFamily="18" charset="0"/>
                    <a:cs typeface="Times New Roman" panose="02020603050405020304" pitchFamily="18" charset="0"/>
                  </a:rPr>
                  <a:t>. </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First</a:t>
                </a:r>
                <a:r>
                  <a:rPr lang="en-US" sz="2400" dirty="0">
                    <a:latin typeface="Times New Roman" panose="02020603050405020304" pitchFamily="18" charset="0"/>
                    <a:cs typeface="Times New Roman" panose="02020603050405020304" pitchFamily="18" charset="0"/>
                  </a:rPr>
                  <a:t>, we’ll need a loss function that models the distance between the system output and the gold output, and it’s common to use the loss function used for logistic regression, the </a:t>
                </a:r>
                <a:r>
                  <a:rPr lang="en-US" sz="2400" b="1" dirty="0">
                    <a:latin typeface="Times New Roman" panose="02020603050405020304" pitchFamily="18" charset="0"/>
                    <a:cs typeface="Times New Roman" panose="02020603050405020304" pitchFamily="18" charset="0"/>
                  </a:rPr>
                  <a:t>cross-entropy</a:t>
                </a:r>
                <a:r>
                  <a:rPr lang="en-US" sz="2400" dirty="0">
                    <a:latin typeface="Times New Roman" panose="02020603050405020304" pitchFamily="18" charset="0"/>
                    <a:cs typeface="Times New Roman" panose="02020603050405020304" pitchFamily="18" charset="0"/>
                  </a:rPr>
                  <a:t> loss.</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8" y="1095708"/>
                <a:ext cx="9949543" cy="5589607"/>
              </a:xfrm>
              <a:prstGeom prst="rect">
                <a:avLst/>
              </a:prstGeom>
              <a:blipFill>
                <a:blip r:embed="rId2"/>
                <a:stretch>
                  <a:fillRect l="-980" r="-919" b="-1527"/>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40</a:t>
            </a:fld>
            <a:endParaRPr lang="en-GB"/>
          </a:p>
        </p:txBody>
      </p:sp>
    </p:spTree>
    <p:extLst>
      <p:ext uri="{BB962C8B-B14F-4D97-AF65-F5344CB8AC3E}">
        <p14:creationId xmlns:p14="http://schemas.microsoft.com/office/powerpoint/2010/main" val="18985834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Training Neural Nets</a:t>
            </a:r>
            <a:endParaRPr lang="en-GB"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565947"/>
          </a:xfrm>
          <a:prstGeom prst="rect">
            <a:avLst/>
          </a:prstGeom>
          <a:noFill/>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Second</a:t>
            </a:r>
            <a:r>
              <a:rPr lang="en-US" sz="2400" dirty="0">
                <a:latin typeface="Times New Roman" panose="02020603050405020304" pitchFamily="18" charset="0"/>
                <a:cs typeface="Times New Roman" panose="02020603050405020304" pitchFamily="18" charset="0"/>
              </a:rPr>
              <a:t>, to find the parameters that minimize this loss function, we’ll use the</a:t>
            </a:r>
          </a:p>
          <a:p>
            <a:pPr algn="just">
              <a:lnSpc>
                <a:spcPct val="150000"/>
              </a:lnSpc>
            </a:pPr>
            <a:r>
              <a:rPr lang="en-US" sz="2400" b="1" dirty="0">
                <a:latin typeface="Times New Roman" panose="02020603050405020304" pitchFamily="18" charset="0"/>
                <a:cs typeface="Times New Roman" panose="02020603050405020304" pitchFamily="18" charset="0"/>
              </a:rPr>
              <a:t>gradient descent </a:t>
            </a:r>
            <a:r>
              <a:rPr lang="en-US" sz="2400" dirty="0">
                <a:latin typeface="Times New Roman" panose="02020603050405020304" pitchFamily="18" charset="0"/>
                <a:cs typeface="Times New Roman" panose="02020603050405020304" pitchFamily="18" charset="0"/>
              </a:rPr>
              <a:t>optimization algorithm.</a:t>
            </a:r>
          </a:p>
          <a:p>
            <a:pPr algn="just">
              <a:lnSpc>
                <a:spcPct val="150000"/>
              </a:lnSpc>
            </a:pPr>
            <a:r>
              <a:rPr lang="en-US" sz="2400" b="1" dirty="0">
                <a:latin typeface="Times New Roman" panose="02020603050405020304" pitchFamily="18" charset="0"/>
                <a:cs typeface="Times New Roman" panose="02020603050405020304" pitchFamily="18" charset="0"/>
              </a:rPr>
              <a:t>Third</a:t>
            </a:r>
            <a:r>
              <a:rPr lang="en-US" sz="2400" dirty="0">
                <a:latin typeface="Times New Roman" panose="02020603050405020304" pitchFamily="18" charset="0"/>
                <a:cs typeface="Times New Roman" panose="02020603050405020304" pitchFamily="18" charset="0"/>
              </a:rPr>
              <a:t>, gradient descent requires knowing </a:t>
            </a:r>
            <a:r>
              <a:rPr lang="en-US" sz="2400" b="1" dirty="0">
                <a:latin typeface="Times New Roman" panose="02020603050405020304" pitchFamily="18" charset="0"/>
                <a:cs typeface="Times New Roman" panose="02020603050405020304" pitchFamily="18" charset="0"/>
              </a:rPr>
              <a:t>the gradient </a:t>
            </a:r>
            <a:r>
              <a:rPr lang="en-US" sz="2400" dirty="0">
                <a:latin typeface="Times New Roman" panose="02020603050405020304" pitchFamily="18" charset="0"/>
                <a:cs typeface="Times New Roman" panose="02020603050405020304" pitchFamily="18" charset="0"/>
              </a:rPr>
              <a:t>of the loss function, the</a:t>
            </a:r>
          </a:p>
          <a:p>
            <a:pPr algn="just">
              <a:lnSpc>
                <a:spcPct val="150000"/>
              </a:lnSpc>
            </a:pPr>
            <a:r>
              <a:rPr lang="en-US" sz="2400" dirty="0">
                <a:latin typeface="Times New Roman" panose="02020603050405020304" pitchFamily="18" charset="0"/>
                <a:cs typeface="Times New Roman" panose="02020603050405020304" pitchFamily="18" charset="0"/>
              </a:rPr>
              <a:t>vector that contains the partial derivative of the loss function with respect to each of the parameters. </a:t>
            </a:r>
          </a:p>
          <a:p>
            <a:pPr algn="just">
              <a:lnSpc>
                <a:spcPct val="150000"/>
              </a:lnSpc>
            </a:pPr>
            <a:r>
              <a:rPr lang="en-US" sz="2400" dirty="0">
                <a:latin typeface="Times New Roman" panose="02020603050405020304" pitchFamily="18" charset="0"/>
                <a:cs typeface="Times New Roman" panose="02020603050405020304" pitchFamily="18" charset="0"/>
              </a:rPr>
              <a:t>In logistic regression, for each observation we could directly compute the derivative of the loss function with respect to an individual </a:t>
            </a:r>
            <a:r>
              <a:rPr lang="en-US" sz="2400" b="1" dirty="0">
                <a:latin typeface="Times New Roman" panose="02020603050405020304" pitchFamily="18" charset="0"/>
                <a:cs typeface="Times New Roman" panose="02020603050405020304" pitchFamily="18" charset="0"/>
              </a:rPr>
              <a:t>w</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But for neural networks, with millions of parameters in many layers, it’s much harder to see how to compute the partial derivative of some weight in layer 1 when the loss is attached to some much later layer. </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41</a:t>
            </a:fld>
            <a:endParaRPr lang="en-GB"/>
          </a:p>
        </p:txBody>
      </p:sp>
    </p:spTree>
    <p:extLst>
      <p:ext uri="{BB962C8B-B14F-4D97-AF65-F5344CB8AC3E}">
        <p14:creationId xmlns:p14="http://schemas.microsoft.com/office/powerpoint/2010/main" val="16740924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Training Neural Nets</a:t>
            </a:r>
            <a:endParaRPr lang="en-GB"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1687963"/>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How do we partial out the loss over all those intermediate layers? </a:t>
            </a:r>
          </a:p>
          <a:p>
            <a:pPr algn="just">
              <a:lnSpc>
                <a:spcPct val="150000"/>
              </a:lnSpc>
            </a:pPr>
            <a:r>
              <a:rPr lang="en-US" sz="2400" dirty="0">
                <a:latin typeface="Times New Roman" panose="02020603050405020304" pitchFamily="18" charset="0"/>
                <a:cs typeface="Times New Roman" panose="02020603050405020304" pitchFamily="18" charset="0"/>
              </a:rPr>
              <a:t>The answer is the algorithm called </a:t>
            </a:r>
            <a:r>
              <a:rPr lang="en-US" sz="2400" b="1" dirty="0">
                <a:latin typeface="Times New Roman" panose="02020603050405020304" pitchFamily="18" charset="0"/>
                <a:cs typeface="Times New Roman" panose="02020603050405020304" pitchFamily="18" charset="0"/>
              </a:rPr>
              <a:t>error backpropagation </a:t>
            </a:r>
            <a:r>
              <a:rPr lang="en-US" sz="2400" dirty="0">
                <a:latin typeface="Times New Roman" panose="02020603050405020304" pitchFamily="18" charset="0"/>
                <a:cs typeface="Times New Roman" panose="02020603050405020304" pitchFamily="18" charset="0"/>
              </a:rPr>
              <a:t>or </a:t>
            </a:r>
            <a:r>
              <a:rPr lang="en-US" sz="2400" b="1" dirty="0">
                <a:latin typeface="Times New Roman" panose="02020603050405020304" pitchFamily="18" charset="0"/>
                <a:cs typeface="Times New Roman" panose="02020603050405020304" pitchFamily="18" charset="0"/>
              </a:rPr>
              <a:t>backward differentiatio</a:t>
            </a:r>
            <a:r>
              <a:rPr lang="en-US" sz="2400" dirty="0">
                <a:latin typeface="Times New Roman" panose="02020603050405020304" pitchFamily="18" charset="0"/>
                <a:cs typeface="Times New Roman" panose="02020603050405020304" pitchFamily="18" charset="0"/>
              </a:rPr>
              <a:t>n.</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42</a:t>
            </a:fld>
            <a:endParaRPr lang="en-GB"/>
          </a:p>
        </p:txBody>
      </p:sp>
    </p:spTree>
    <p:extLst>
      <p:ext uri="{BB962C8B-B14F-4D97-AF65-F5344CB8AC3E}">
        <p14:creationId xmlns:p14="http://schemas.microsoft.com/office/powerpoint/2010/main" val="34875010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86253" y="585404"/>
            <a:ext cx="7471117" cy="520034"/>
          </a:xfrm>
        </p:spPr>
        <p:txBody>
          <a:bodyPr>
            <a:normAutofit fontScale="90000"/>
          </a:bodyPr>
          <a:lstStyle/>
          <a:p>
            <a:r>
              <a:rPr lang="en-US" sz="3200" b="1" dirty="0">
                <a:latin typeface="Times New Roman" panose="02020603050405020304" pitchFamily="18" charset="0"/>
                <a:ea typeface="+mn-ea"/>
                <a:cs typeface="Times New Roman" panose="02020603050405020304" pitchFamily="18" charset="0"/>
              </a:rPr>
              <a:t>The Backpropagation Algorithm</a:t>
            </a:r>
          </a:p>
        </p:txBody>
      </p:sp>
      <p:sp>
        <p:nvSpPr>
          <p:cNvPr id="3" name="Rectangle 3">
            <a:extLst>
              <a:ext uri="{FF2B5EF4-FFF2-40B4-BE49-F238E27FC236}">
                <a16:creationId xmlns:a16="http://schemas.microsoft.com/office/drawing/2014/main" id="{189B326F-4A0C-474C-95CE-B0208DBA7FAE}"/>
              </a:ext>
            </a:extLst>
          </p:cNvPr>
          <p:cNvSpPr txBox="1">
            <a:spLocks noChangeArrowheads="1"/>
          </p:cNvSpPr>
          <p:nvPr/>
        </p:nvSpPr>
        <p:spPr>
          <a:xfrm>
            <a:off x="1003177" y="1393795"/>
            <a:ext cx="10306974" cy="4785063"/>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gn="just">
              <a:lnSpc>
                <a:spcPct val="90000"/>
              </a:lnSpc>
              <a:buFont typeface="Wingdings" pitchFamily="2" charset="2"/>
              <a:buChar char="ü"/>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AA5425A-4938-ACF9-5416-A86E79A24332}"/>
              </a:ext>
            </a:extLst>
          </p:cNvPr>
          <p:cNvSpPr txBox="1"/>
          <p:nvPr/>
        </p:nvSpPr>
        <p:spPr>
          <a:xfrm>
            <a:off x="1121228" y="1407280"/>
            <a:ext cx="9949543" cy="3416320"/>
          </a:xfrm>
          <a:prstGeom prst="rect">
            <a:avLst/>
          </a:prstGeom>
          <a:noFill/>
        </p:spPr>
        <p:txBody>
          <a:bodyPr wrap="square">
            <a:spAutoFit/>
          </a:bodyPr>
          <a:lstStyle/>
          <a:p>
            <a:pPr algn="just">
              <a:lnSpc>
                <a:spcPct val="90000"/>
              </a:lnSpc>
              <a:buFont typeface="Wingdings"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The goal of backpropagation is to optimize the weights so that the neural network can learn how to correctly map arbitrary inputs to outputs.</a:t>
            </a:r>
          </a:p>
          <a:p>
            <a:pPr algn="just">
              <a:lnSpc>
                <a:spcPct val="90000"/>
              </a:lnSpc>
              <a:buFont typeface="Wingdings" pitchFamily="2" charset="2"/>
              <a:buChar char="ü"/>
            </a:pPr>
            <a:endParaRPr lang="en-US" sz="2400" dirty="0">
              <a:solidFill>
                <a:schemeClr val="tx1"/>
              </a:solidFill>
              <a:latin typeface="Times New Roman" panose="02020603050405020304" pitchFamily="18" charset="0"/>
              <a:cs typeface="Times New Roman" panose="02020603050405020304" pitchFamily="18" charset="0"/>
            </a:endParaRPr>
          </a:p>
          <a:p>
            <a:pPr algn="just">
              <a:lnSpc>
                <a:spcPct val="90000"/>
              </a:lnSpc>
              <a:buFont typeface="Wingdings"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The most basic method of training a neural network is trial and error. </a:t>
            </a:r>
          </a:p>
          <a:p>
            <a:pPr algn="just">
              <a:lnSpc>
                <a:spcPct val="90000"/>
              </a:lnSpc>
              <a:buFont typeface="Wingdings" pitchFamily="2" charset="2"/>
              <a:buChar char="ü"/>
            </a:pPr>
            <a:endParaRPr lang="en-US" sz="2400" dirty="0">
              <a:solidFill>
                <a:schemeClr val="tx1"/>
              </a:solidFill>
              <a:latin typeface="Times New Roman" panose="02020603050405020304" pitchFamily="18" charset="0"/>
              <a:cs typeface="Times New Roman" panose="02020603050405020304" pitchFamily="18" charset="0"/>
            </a:endParaRPr>
          </a:p>
          <a:p>
            <a:pPr algn="just">
              <a:lnSpc>
                <a:spcPct val="90000"/>
              </a:lnSpc>
              <a:buFont typeface="Wingdings"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If the network isn't behaving the way it should, change the weighting of a random link by a random amount. If the accuracy of the network declines, undo the change and make a different one. </a:t>
            </a:r>
          </a:p>
          <a:p>
            <a:pPr algn="just">
              <a:lnSpc>
                <a:spcPct val="90000"/>
              </a:lnSpc>
              <a:buFont typeface="Wingdings" pitchFamily="2" charset="2"/>
              <a:buChar char="ü"/>
            </a:pPr>
            <a:endParaRPr lang="en-US" sz="2400" dirty="0">
              <a:solidFill>
                <a:schemeClr val="tx1"/>
              </a:solidFill>
              <a:latin typeface="Times New Roman" panose="02020603050405020304" pitchFamily="18" charset="0"/>
              <a:cs typeface="Times New Roman" panose="02020603050405020304" pitchFamily="18" charset="0"/>
            </a:endParaRPr>
          </a:p>
          <a:p>
            <a:pPr algn="just">
              <a:lnSpc>
                <a:spcPct val="90000"/>
              </a:lnSpc>
              <a:buFont typeface="Wingdings"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It takes time, but the trial and error method does produce results.</a:t>
            </a:r>
          </a:p>
        </p:txBody>
      </p:sp>
    </p:spTree>
    <p:extLst>
      <p:ext uri="{BB962C8B-B14F-4D97-AF65-F5344CB8AC3E}">
        <p14:creationId xmlns:p14="http://schemas.microsoft.com/office/powerpoint/2010/main" val="30438187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422400" y="381001"/>
            <a:ext cx="88392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609600" y="1447800"/>
            <a:ext cx="109728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Learning using Back-Propagation</a:t>
            </a:r>
          </a:p>
          <a:p>
            <a:pPr algn="just"/>
            <a:r>
              <a:rPr lang="en-US" sz="1800" dirty="0">
                <a:solidFill>
                  <a:schemeClr val="tx1"/>
                </a:solidFill>
                <a:latin typeface="Times New Roman" pitchFamily="18" charset="0"/>
                <a:cs typeface="Times New Roman" pitchFamily="18" charset="0"/>
              </a:rPr>
              <a:t>Sample Neural Network to Calculate </a:t>
            </a:r>
            <a:r>
              <a:rPr lang="en-US" sz="1800" dirty="0">
                <a:solidFill>
                  <a:srgbClr val="FF0000"/>
                </a:solidFill>
                <a:latin typeface="Times New Roman" pitchFamily="18" charset="0"/>
                <a:cs typeface="Times New Roman" pitchFamily="18" charset="0"/>
              </a:rPr>
              <a:t>Total Error </a:t>
            </a:r>
            <a:r>
              <a:rPr lang="en-US" sz="1800" dirty="0">
                <a:solidFill>
                  <a:schemeClr val="tx1"/>
                </a:solidFill>
                <a:latin typeface="Times New Roman" pitchFamily="18" charset="0"/>
                <a:cs typeface="Times New Roman" pitchFamily="18" charset="0"/>
              </a:rPr>
              <a:t>Using Forward Pass Back propagation</a:t>
            </a:r>
          </a:p>
        </p:txBody>
      </p:sp>
      <p:pic>
        <p:nvPicPr>
          <p:cNvPr id="6" name="Picture 5" descr="C:\Users\Teacher\Desktop\AIUB\Artificial Intelligence and Expert Systems\Course - From Me\Neural Networks -  Fundamental\3.jpg">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srcRect/>
          <a:stretch>
            <a:fillRect/>
          </a:stretch>
        </p:blipFill>
        <p:spPr bwMode="auto">
          <a:xfrm>
            <a:off x="406400" y="2362201"/>
            <a:ext cx="8044448" cy="3089563"/>
          </a:xfrm>
          <a:prstGeom prst="rect">
            <a:avLst/>
          </a:prstGeom>
          <a:noFill/>
          <a:ln w="9525">
            <a:noFill/>
            <a:miter lim="800000"/>
            <a:headEnd/>
            <a:tailEnd/>
          </a:ln>
        </p:spPr>
      </p:pic>
      <p:sp>
        <p:nvSpPr>
          <p:cNvPr id="7" name="TextBox 6"/>
          <p:cNvSpPr txBox="1"/>
          <p:nvPr/>
        </p:nvSpPr>
        <p:spPr>
          <a:xfrm>
            <a:off x="2342750" y="6400801"/>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8" name="TextBox 7"/>
          <p:cNvSpPr txBox="1"/>
          <p:nvPr/>
        </p:nvSpPr>
        <p:spPr>
          <a:xfrm>
            <a:off x="6096000" y="4495800"/>
            <a:ext cx="5080001" cy="1477328"/>
          </a:xfrm>
          <a:prstGeom prst="rect">
            <a:avLst/>
          </a:prstGeom>
          <a:solidFill>
            <a:schemeClr val="bg1">
              <a:lumMod val="75000"/>
            </a:schemeClr>
          </a:solidFill>
        </p:spPr>
        <p:txBody>
          <a:bodyPr wrap="square" rtlCol="0">
            <a:spAutoFit/>
          </a:bodyPr>
          <a:lstStyle/>
          <a:p>
            <a:r>
              <a:rPr lang="en-US" b="1" dirty="0">
                <a:latin typeface="Times New Roman" pitchFamily="18" charset="0"/>
                <a:cs typeface="Times New Roman" pitchFamily="18" charset="0"/>
              </a:rPr>
              <a:t>The network contains the following:</a:t>
            </a:r>
          </a:p>
          <a:p>
            <a:r>
              <a:rPr lang="en-US" dirty="0">
                <a:latin typeface="Times New Roman" pitchFamily="18" charset="0"/>
                <a:cs typeface="Times New Roman" pitchFamily="18" charset="0"/>
              </a:rPr>
              <a:t>two inputs</a:t>
            </a:r>
          </a:p>
          <a:p>
            <a:r>
              <a:rPr lang="en-US" dirty="0">
                <a:latin typeface="Times New Roman" pitchFamily="18" charset="0"/>
                <a:cs typeface="Times New Roman" pitchFamily="18" charset="0"/>
              </a:rPr>
              <a:t>two hidden neurons</a:t>
            </a:r>
          </a:p>
          <a:p>
            <a:r>
              <a:rPr lang="en-US" dirty="0">
                <a:latin typeface="Times New Roman" pitchFamily="18" charset="0"/>
                <a:cs typeface="Times New Roman" pitchFamily="18" charset="0"/>
              </a:rPr>
              <a:t>two output neurons</a:t>
            </a:r>
          </a:p>
          <a:p>
            <a:r>
              <a:rPr lang="en-US" dirty="0">
                <a:latin typeface="Times New Roman" pitchFamily="18" charset="0"/>
                <a:cs typeface="Times New Roman" pitchFamily="18" charset="0"/>
              </a:rPr>
              <a:t>two biases</a:t>
            </a:r>
          </a:p>
        </p:txBody>
      </p:sp>
    </p:spTree>
    <p:extLst>
      <p:ext uri="{BB962C8B-B14F-4D97-AF65-F5344CB8AC3E}">
        <p14:creationId xmlns:p14="http://schemas.microsoft.com/office/powerpoint/2010/main" val="4195619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422400" y="381001"/>
            <a:ext cx="88392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609600" y="1447800"/>
            <a:ext cx="109728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Learning using Back-Propagation: Error Calculation</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6400" y="2361947"/>
            <a:ext cx="8044448" cy="2306583"/>
          </a:xfrm>
          <a:prstGeom prst="rect">
            <a:avLst/>
          </a:prstGeom>
          <a:noFill/>
          <a:ln w="9525">
            <a:noFill/>
            <a:miter lim="800000"/>
            <a:headEnd/>
            <a:tailEnd/>
          </a:ln>
        </p:spPr>
      </p:pic>
      <p:sp>
        <p:nvSpPr>
          <p:cNvPr id="7" name="TextBox 6"/>
          <p:cNvSpPr txBox="1"/>
          <p:nvPr/>
        </p:nvSpPr>
        <p:spPr>
          <a:xfrm>
            <a:off x="2342750" y="6400801"/>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mc:AlternateContent xmlns:mc="http://schemas.openxmlformats.org/markup-compatibility/2006" xmlns:a14="http://schemas.microsoft.com/office/drawing/2010/main">
        <mc:Choice Requires="a14">
          <p:sp>
            <p:nvSpPr>
              <p:cNvPr id="9" name="Subtitle 2">
                <a:extLst>
                  <a:ext uri="{FF2B5EF4-FFF2-40B4-BE49-F238E27FC236}">
                    <a16:creationId xmlns:a16="http://schemas.microsoft.com/office/drawing/2014/main" id="{D6F78EE4-952C-15F5-5A5E-ECFC2F2EE2DE}"/>
                  </a:ext>
                </a:extLst>
              </p:cNvPr>
              <p:cNvSpPr txBox="1">
                <a:spLocks/>
              </p:cNvSpPr>
              <p:nvPr/>
            </p:nvSpPr>
            <p:spPr>
              <a:xfrm>
                <a:off x="609600" y="4876800"/>
                <a:ext cx="10972800" cy="1371600"/>
              </a:xfrm>
              <a:prstGeom prst="rect">
                <a:avLst/>
              </a:prstGeom>
            </p:spPr>
            <p:txBody>
              <a:bodyPr vert="horz" lIns="91440" tIns="45720" rIns="91440" bIns="45720" rtlCol="0">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Calculation at node h1</a:t>
                </a:r>
              </a:p>
              <a:p>
                <a:pPr algn="just"/>
                <a14:m>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𝒏𝒆𝒕</m:t>
                        </m:r>
                      </m:e>
                      <m:sub>
                        <m:r>
                          <a:rPr lang="en-US" sz="1800" b="1" i="1" smtClean="0">
                            <a:solidFill>
                              <a:schemeClr val="tx1"/>
                            </a:solidFill>
                            <a:latin typeface="Cambria Math"/>
                            <a:cs typeface="Times New Roman" pitchFamily="18" charset="0"/>
                          </a:rPr>
                          <m:t>𝒉</m:t>
                        </m:r>
                        <m:r>
                          <a:rPr lang="en-US" sz="1800" b="1" i="1" smtClean="0">
                            <a:solidFill>
                              <a:schemeClr val="tx1"/>
                            </a:solidFill>
                            <a:latin typeface="Cambria Math"/>
                            <a:cs typeface="Times New Roman" pitchFamily="18" charset="0"/>
                          </a:rPr>
                          <m:t>𝟏</m:t>
                        </m:r>
                      </m:sub>
                    </m:sSub>
                    <m:r>
                      <a:rPr lang="en-US" sz="1800" b="0" i="1" smtClean="0">
                        <a:solidFill>
                          <a:schemeClr val="tx1"/>
                        </a:solidFill>
                        <a:latin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1</m:t>
                        </m:r>
                      </m:sub>
                    </m:sSub>
                    <m:r>
                      <a:rPr lang="en-US" sz="1800" b="0" i="1" smtClean="0">
                        <a:solidFill>
                          <a:schemeClr val="tx1"/>
                        </a:solidFill>
                        <a:latin typeface="Cambria Math"/>
                        <a:ea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𝑖</m:t>
                        </m:r>
                      </m:e>
                      <m:sub>
                        <m:r>
                          <a:rPr lang="en-US" sz="1800" b="0" i="1" smtClean="0">
                            <a:solidFill>
                              <a:schemeClr val="tx1"/>
                            </a:solidFill>
                            <a:latin typeface="Cambria Math"/>
                            <a:cs typeface="Times New Roman" pitchFamily="18" charset="0"/>
                          </a:rPr>
                          <m:t>1</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2</m:t>
                        </m:r>
                      </m:sub>
                    </m:sSub>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ea typeface="Cambria Math"/>
                            <a:cs typeface="Times New Roman" pitchFamily="18" charset="0"/>
                          </a:rPr>
                          <m:t>×</m:t>
                        </m:r>
                        <m:r>
                          <a:rPr lang="en-US" sz="1800" b="0" i="1">
                            <a:solidFill>
                              <a:schemeClr val="tx1"/>
                            </a:solidFill>
                            <a:latin typeface="Cambria Math"/>
                            <a:cs typeface="Times New Roman" pitchFamily="18" charset="0"/>
                          </a:rPr>
                          <m:t>𝑖</m:t>
                        </m:r>
                      </m:e>
                      <m:sub>
                        <m:r>
                          <a:rPr lang="en-US" sz="1800" b="0" i="1" smtClean="0">
                            <a:solidFill>
                              <a:schemeClr val="tx1"/>
                            </a:solidFill>
                            <a:latin typeface="Cambria Math"/>
                            <a:cs typeface="Times New Roman" pitchFamily="18" charset="0"/>
                          </a:rPr>
                          <m:t>2</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𝑏</m:t>
                        </m:r>
                      </m:e>
                      <m:sub>
                        <m:r>
                          <a:rPr lang="en-US" sz="1800" b="0" i="1">
                            <a:solidFill>
                              <a:schemeClr val="tx1"/>
                            </a:solidFill>
                            <a:latin typeface="Cambria Math"/>
                            <a:cs typeface="Times New Roman" pitchFamily="18" charset="0"/>
                          </a:rPr>
                          <m:t>1</m:t>
                        </m:r>
                      </m:sub>
                    </m:sSub>
                    <m:r>
                      <a:rPr lang="en-US" sz="1800" b="0" i="1" smtClean="0">
                        <a:solidFill>
                          <a:schemeClr val="tx1"/>
                        </a:solidFill>
                        <a:latin typeface="Cambria Math"/>
                        <a:ea typeface="Cambria Math"/>
                        <a:cs typeface="Times New Roman" pitchFamily="18" charset="0"/>
                      </a:rPr>
                      <m:t>×</m:t>
                    </m:r>
                    <m:r>
                      <a:rPr lang="en-US" sz="1800" b="0" i="1" smtClean="0">
                        <a:solidFill>
                          <a:schemeClr val="tx1"/>
                        </a:solidFill>
                        <a:latin typeface="Cambria Math"/>
                        <a:cs typeface="Times New Roman" pitchFamily="18" charset="0"/>
                      </a:rPr>
                      <m:t>1=0.15</m:t>
                    </m:r>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0.05+0.2</a:t>
                </a:r>
                <a14:m>
                  <m:oMath xmlns:m="http://schemas.openxmlformats.org/officeDocument/2006/math">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0.1+0.35</a:t>
                </a:r>
                <a14:m>
                  <m:oMath xmlns:m="http://schemas.openxmlformats.org/officeDocument/2006/math">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1=0.3775</a:t>
                </a:r>
              </a:p>
              <a:p>
                <a:pPr algn="just"/>
                <a:endParaRPr lang="en-US" sz="1800" b="1"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b="1" i="1">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𝒐𝒖</m:t>
                          </m:r>
                          <m:r>
                            <a:rPr lang="en-US" sz="1800" b="1" i="1">
                              <a:solidFill>
                                <a:schemeClr val="tx1"/>
                              </a:solidFill>
                              <a:latin typeface="Cambria Math"/>
                              <a:cs typeface="Times New Roman" pitchFamily="18" charset="0"/>
                            </a:rPr>
                            <m:t>𝒕</m:t>
                          </m:r>
                        </m:e>
                        <m:sub>
                          <m:r>
                            <a:rPr lang="en-US" sz="1800" b="1" i="1">
                              <a:solidFill>
                                <a:schemeClr val="tx1"/>
                              </a:solidFill>
                              <a:latin typeface="Cambria Math"/>
                              <a:cs typeface="Times New Roman" pitchFamily="18" charset="0"/>
                            </a:rPr>
                            <m:t>𝒉</m:t>
                          </m:r>
                          <m:r>
                            <a:rPr lang="en-US" sz="1800" b="1" i="1">
                              <a:solidFill>
                                <a:schemeClr val="tx1"/>
                              </a:solidFill>
                              <a:latin typeface="Cambria Math"/>
                              <a:cs typeface="Times New Roman" pitchFamily="18" charset="0"/>
                            </a:rPr>
                            <m:t>𝟏</m:t>
                          </m:r>
                        </m:sub>
                      </m:sSub>
                      <m:r>
                        <a:rPr lang="en-US" sz="1800" i="1">
                          <a:solidFill>
                            <a:schemeClr val="tx1"/>
                          </a:solidFill>
                          <a:latin typeface="Cambria Math"/>
                          <a:cs typeface="Times New Roman" pitchFamily="18" charset="0"/>
                        </a:rPr>
                        <m:t>=</m:t>
                      </m:r>
                      <m:f>
                        <m:fPr>
                          <m:ctrlPr>
                            <a:rPr lang="en-US" sz="1800" i="1" smtClean="0">
                              <a:solidFill>
                                <a:schemeClr val="tx1"/>
                              </a:solidFill>
                              <a:latin typeface="Cambria Math" panose="02040503050406030204" pitchFamily="18" charset="0"/>
                              <a:cs typeface="Times New Roman" pitchFamily="18" charset="0"/>
                            </a:rPr>
                          </m:ctrlPr>
                        </m:fPr>
                        <m:num>
                          <m:r>
                            <a:rPr lang="en-US" sz="1800" b="0" i="1" smtClean="0">
                              <a:solidFill>
                                <a:schemeClr val="tx1"/>
                              </a:solidFill>
                              <a:latin typeface="Cambria Math"/>
                              <a:cs typeface="Times New Roman" pitchFamily="18" charset="0"/>
                            </a:rPr>
                            <m:t>1</m:t>
                          </m:r>
                        </m:num>
                        <m:den>
                          <m:r>
                            <a:rPr lang="en-US" sz="1800" b="0" i="1" smtClean="0">
                              <a:solidFill>
                                <a:schemeClr val="tx1"/>
                              </a:solidFill>
                              <a:latin typeface="Cambria Math"/>
                              <a:cs typeface="Times New Roman" pitchFamily="18" charset="0"/>
                            </a:rPr>
                            <m:t>1+</m:t>
                          </m:r>
                          <m:sSup>
                            <m:sSupPr>
                              <m:ctrlPr>
                                <a:rPr lang="en-US" sz="1800" b="0" i="1" smtClean="0">
                                  <a:solidFill>
                                    <a:schemeClr val="tx1"/>
                                  </a:solidFill>
                                  <a:latin typeface="Cambria Math" panose="02040503050406030204" pitchFamily="18" charset="0"/>
                                  <a:cs typeface="Times New Roman" pitchFamily="18" charset="0"/>
                                </a:rPr>
                              </m:ctrlPr>
                            </m:sSupPr>
                            <m:e>
                              <m:r>
                                <a:rPr lang="en-US" sz="1800" b="0" i="1" smtClean="0">
                                  <a:solidFill>
                                    <a:schemeClr val="tx1"/>
                                  </a:solidFill>
                                  <a:latin typeface="Cambria Math"/>
                                  <a:cs typeface="Times New Roman" pitchFamily="18" charset="0"/>
                                </a:rPr>
                                <m:t>𝑒</m:t>
                              </m:r>
                            </m:e>
                            <m:sup>
                              <m:r>
                                <a:rPr lang="en-US" sz="1800" b="0" i="1" smtClean="0">
                                  <a:solidFill>
                                    <a:schemeClr val="tx1"/>
                                  </a:solidFill>
                                  <a:latin typeface="Cambria Math"/>
                                  <a:cs typeface="Times New Roman" pitchFamily="18" charset="0"/>
                                </a:rPr>
                                <m:t>−</m:t>
                              </m:r>
                              <m:sSub>
                                <m:sSubPr>
                                  <m:ctrlPr>
                                    <a:rPr lang="en-US" sz="1800" b="1" i="1">
                                      <a:solidFill>
                                        <a:schemeClr val="tx1"/>
                                      </a:solidFill>
                                      <a:latin typeface="Cambria Math" panose="02040503050406030204" pitchFamily="18" charset="0"/>
                                      <a:cs typeface="Times New Roman" pitchFamily="18" charset="0"/>
                                    </a:rPr>
                                  </m:ctrlPr>
                                </m:sSubPr>
                                <m:e>
                                  <m:r>
                                    <a:rPr lang="en-US" sz="1800" b="1" i="1">
                                      <a:solidFill>
                                        <a:schemeClr val="tx1"/>
                                      </a:solidFill>
                                      <a:latin typeface="Cambria Math"/>
                                      <a:cs typeface="Times New Roman" pitchFamily="18" charset="0"/>
                                    </a:rPr>
                                    <m:t>𝒏𝒆𝒕</m:t>
                                  </m:r>
                                </m:e>
                                <m:sub>
                                  <m:r>
                                    <a:rPr lang="en-US" sz="1800" b="1" i="1">
                                      <a:solidFill>
                                        <a:schemeClr val="tx1"/>
                                      </a:solidFill>
                                      <a:latin typeface="Cambria Math"/>
                                      <a:cs typeface="Times New Roman" pitchFamily="18" charset="0"/>
                                    </a:rPr>
                                    <m:t>𝒉</m:t>
                                  </m:r>
                                  <m:r>
                                    <a:rPr lang="en-US" sz="1800" b="1" i="1">
                                      <a:solidFill>
                                        <a:schemeClr val="tx1"/>
                                      </a:solidFill>
                                      <a:latin typeface="Cambria Math"/>
                                      <a:cs typeface="Times New Roman" pitchFamily="18" charset="0"/>
                                    </a:rPr>
                                    <m:t>𝟏</m:t>
                                  </m:r>
                                </m:sub>
                              </m:sSub>
                            </m:sup>
                          </m:sSup>
                        </m:den>
                      </m:f>
                      <m:r>
                        <a:rPr lang="en-US" sz="1800" i="1">
                          <a:solidFill>
                            <a:schemeClr val="tx1"/>
                          </a:solidFill>
                          <a:latin typeface="Cambria Math"/>
                          <a:cs typeface="Times New Roman" pitchFamily="18" charset="0"/>
                        </a:rPr>
                        <m:t>=</m:t>
                      </m:r>
                      <m:f>
                        <m:fPr>
                          <m:ctrlPr>
                            <a:rPr lang="en-US" sz="1800" i="1">
                              <a:solidFill>
                                <a:schemeClr val="tx1"/>
                              </a:solidFill>
                              <a:latin typeface="Cambria Math" panose="02040503050406030204" pitchFamily="18" charset="0"/>
                              <a:cs typeface="Times New Roman" pitchFamily="18" charset="0"/>
                            </a:rPr>
                          </m:ctrlPr>
                        </m:fPr>
                        <m:num>
                          <m:r>
                            <a:rPr lang="en-US" sz="1800" i="1">
                              <a:solidFill>
                                <a:schemeClr val="tx1"/>
                              </a:solidFill>
                              <a:latin typeface="Cambria Math"/>
                              <a:cs typeface="Times New Roman" pitchFamily="18" charset="0"/>
                            </a:rPr>
                            <m:t>1</m:t>
                          </m:r>
                        </m:num>
                        <m:den>
                          <m:r>
                            <a:rPr lang="en-US" sz="1800" i="1">
                              <a:solidFill>
                                <a:schemeClr val="tx1"/>
                              </a:solidFill>
                              <a:latin typeface="Cambria Math"/>
                              <a:cs typeface="Times New Roman" pitchFamily="18" charset="0"/>
                            </a:rPr>
                            <m:t>1+</m:t>
                          </m:r>
                          <m:sSup>
                            <m:sSupPr>
                              <m:ctrlPr>
                                <a:rPr lang="en-US" sz="1800" i="1">
                                  <a:solidFill>
                                    <a:schemeClr val="tx1"/>
                                  </a:solidFill>
                                  <a:latin typeface="Cambria Math" panose="02040503050406030204" pitchFamily="18" charset="0"/>
                                  <a:cs typeface="Times New Roman" pitchFamily="18" charset="0"/>
                                </a:rPr>
                              </m:ctrlPr>
                            </m:sSupPr>
                            <m:e>
                              <m:r>
                                <a:rPr lang="en-US" sz="1800" i="1">
                                  <a:solidFill>
                                    <a:schemeClr val="tx1"/>
                                  </a:solidFill>
                                  <a:latin typeface="Cambria Math"/>
                                  <a:cs typeface="Times New Roman" pitchFamily="18" charset="0"/>
                                </a:rPr>
                                <m:t>𝑒</m:t>
                              </m:r>
                            </m:e>
                            <m:sup>
                              <m:r>
                                <a:rPr lang="en-US" sz="1800"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𝟎</m:t>
                              </m:r>
                              <m:r>
                                <a:rPr lang="en-US" sz="1800" b="1"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𝟑𝟕𝟕𝟓</m:t>
                              </m:r>
                            </m:sup>
                          </m:sSup>
                        </m:den>
                      </m:f>
                      <m:r>
                        <a:rPr lang="en-US" sz="1800" b="0"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𝟎</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𝟓𝟗𝟑𝟐𝟔𝟗</m:t>
                      </m:r>
                    </m:oMath>
                  </m:oMathPara>
                </a14:m>
                <a:endParaRPr lang="en-US" sz="1800" b="1" dirty="0">
                  <a:solidFill>
                    <a:schemeClr val="tx1"/>
                  </a:solidFill>
                  <a:latin typeface="Times New Roman" pitchFamily="18" charset="0"/>
                  <a:cs typeface="Times New Roman" pitchFamily="18" charset="0"/>
                </a:endParaRPr>
              </a:p>
            </p:txBody>
          </p:sp>
        </mc:Choice>
        <mc:Fallback xmlns="">
          <p:sp>
            <p:nvSpPr>
              <p:cNvPr id="9" name="Subtitle 2">
                <a:extLst>
                  <a:ext uri="{FF2B5EF4-FFF2-40B4-BE49-F238E27FC236}">
                    <a16:creationId xmlns:a16="http://schemas.microsoft.com/office/drawing/2014/main" xmlns:a14="http://schemas.microsoft.com/office/drawing/2010/main" xmlns="" id="{D6F78EE4-952C-15F5-5A5E-ECFC2F2EE2DE}"/>
                  </a:ext>
                </a:extLst>
              </p:cNvPr>
              <p:cNvSpPr txBox="1">
                <a:spLocks noRot="1" noChangeAspect="1" noMove="1" noResize="1" noEditPoints="1" noAdjustHandles="1" noChangeArrowheads="1" noChangeShapeType="1" noTextEdit="1"/>
              </p:cNvSpPr>
              <p:nvPr/>
            </p:nvSpPr>
            <p:spPr>
              <a:xfrm>
                <a:off x="457200" y="4876800"/>
                <a:ext cx="8229600" cy="1371600"/>
              </a:xfrm>
              <a:prstGeom prst="rect">
                <a:avLst/>
              </a:prstGeom>
              <a:blipFill rotWithShape="1">
                <a:blip r:embed="rId3"/>
                <a:stretch>
                  <a:fillRect l="-444" t="-4444"/>
                </a:stretch>
              </a:blipFill>
            </p:spPr>
            <p:txBody>
              <a:bodyPr/>
              <a:lstStyle/>
              <a:p>
                <a:r>
                  <a:rPr lang="en-US">
                    <a:noFill/>
                  </a:rPr>
                  <a:t> </a:t>
                </a:r>
              </a:p>
            </p:txBody>
          </p:sp>
        </mc:Fallback>
      </mc:AlternateContent>
    </p:spTree>
    <p:extLst>
      <p:ext uri="{BB962C8B-B14F-4D97-AF65-F5344CB8AC3E}">
        <p14:creationId xmlns:p14="http://schemas.microsoft.com/office/powerpoint/2010/main" val="20014434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422400" y="381001"/>
            <a:ext cx="88392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609600" y="1447800"/>
            <a:ext cx="109728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Learning using Back-Propagation: Error Calculation</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6402" y="2361947"/>
            <a:ext cx="8044445" cy="2306583"/>
          </a:xfrm>
          <a:prstGeom prst="rect">
            <a:avLst/>
          </a:prstGeom>
          <a:noFill/>
          <a:ln w="9525">
            <a:noFill/>
            <a:miter lim="800000"/>
            <a:headEnd/>
            <a:tailEnd/>
          </a:ln>
        </p:spPr>
      </p:pic>
      <p:sp>
        <p:nvSpPr>
          <p:cNvPr id="7" name="TextBox 6"/>
          <p:cNvSpPr txBox="1"/>
          <p:nvPr/>
        </p:nvSpPr>
        <p:spPr>
          <a:xfrm>
            <a:off x="2342750" y="6400801"/>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mc:AlternateContent xmlns:mc="http://schemas.openxmlformats.org/markup-compatibility/2006" xmlns:a14="http://schemas.microsoft.com/office/drawing/2010/main">
        <mc:Choice Requires="a14">
          <p:sp>
            <p:nvSpPr>
              <p:cNvPr id="9" name="Subtitle 2">
                <a:extLst>
                  <a:ext uri="{FF2B5EF4-FFF2-40B4-BE49-F238E27FC236}">
                    <a16:creationId xmlns:a16="http://schemas.microsoft.com/office/drawing/2014/main" id="{D6F78EE4-952C-15F5-5A5E-ECFC2F2EE2DE}"/>
                  </a:ext>
                </a:extLst>
              </p:cNvPr>
              <p:cNvSpPr txBox="1">
                <a:spLocks/>
              </p:cNvSpPr>
              <p:nvPr/>
            </p:nvSpPr>
            <p:spPr>
              <a:xfrm>
                <a:off x="609600" y="4876800"/>
                <a:ext cx="10972800" cy="1371600"/>
              </a:xfrm>
              <a:prstGeom prst="rect">
                <a:avLst/>
              </a:prstGeom>
            </p:spPr>
            <p:txBody>
              <a:bodyPr vert="horz" lIns="91440" tIns="45720" rIns="91440" bIns="45720" rtlCol="0">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Calculation at node h2</a:t>
                </a:r>
              </a:p>
              <a:p>
                <a:pPr algn="just"/>
                <a14:m>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𝒏𝒆𝒕</m:t>
                        </m:r>
                      </m:e>
                      <m:sub>
                        <m:r>
                          <a:rPr lang="en-US" sz="1800" b="1" i="1" smtClean="0">
                            <a:solidFill>
                              <a:schemeClr val="tx1"/>
                            </a:solidFill>
                            <a:latin typeface="Cambria Math"/>
                            <a:cs typeface="Times New Roman" pitchFamily="18" charset="0"/>
                          </a:rPr>
                          <m:t>𝒉</m:t>
                        </m:r>
                        <m:r>
                          <a:rPr lang="en-US" sz="1800" b="1" i="1" smtClean="0">
                            <a:solidFill>
                              <a:schemeClr val="tx1"/>
                            </a:solidFill>
                            <a:latin typeface="Cambria Math"/>
                            <a:cs typeface="Times New Roman" pitchFamily="18" charset="0"/>
                          </a:rPr>
                          <m:t>𝟐</m:t>
                        </m:r>
                      </m:sub>
                    </m:sSub>
                    <m:r>
                      <a:rPr lang="en-US" sz="1800" b="0" i="1" smtClean="0">
                        <a:solidFill>
                          <a:schemeClr val="tx1"/>
                        </a:solidFill>
                        <a:latin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3</m:t>
                        </m:r>
                      </m:sub>
                    </m:sSub>
                    <m:r>
                      <a:rPr lang="en-US" sz="1800" b="0" i="1" smtClean="0">
                        <a:solidFill>
                          <a:schemeClr val="tx1"/>
                        </a:solidFill>
                        <a:latin typeface="Cambria Math"/>
                        <a:ea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𝑖</m:t>
                        </m:r>
                      </m:e>
                      <m:sub>
                        <m:r>
                          <a:rPr lang="en-US" sz="1800" b="0" i="1" smtClean="0">
                            <a:solidFill>
                              <a:schemeClr val="tx1"/>
                            </a:solidFill>
                            <a:latin typeface="Cambria Math"/>
                            <a:cs typeface="Times New Roman" pitchFamily="18" charset="0"/>
                          </a:rPr>
                          <m:t>1</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4</m:t>
                        </m:r>
                      </m:sub>
                    </m:sSub>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ea typeface="Cambria Math"/>
                            <a:cs typeface="Times New Roman" pitchFamily="18" charset="0"/>
                          </a:rPr>
                          <m:t>×</m:t>
                        </m:r>
                        <m:r>
                          <a:rPr lang="en-US" sz="1800" b="0" i="1">
                            <a:solidFill>
                              <a:schemeClr val="tx1"/>
                            </a:solidFill>
                            <a:latin typeface="Cambria Math"/>
                            <a:cs typeface="Times New Roman" pitchFamily="18" charset="0"/>
                          </a:rPr>
                          <m:t>𝑖</m:t>
                        </m:r>
                      </m:e>
                      <m:sub>
                        <m:r>
                          <a:rPr lang="en-US" sz="1800" b="0" i="1" smtClean="0">
                            <a:solidFill>
                              <a:schemeClr val="tx1"/>
                            </a:solidFill>
                            <a:latin typeface="Cambria Math"/>
                            <a:cs typeface="Times New Roman" pitchFamily="18" charset="0"/>
                          </a:rPr>
                          <m:t>2</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𝑏</m:t>
                        </m:r>
                      </m:e>
                      <m:sub>
                        <m:r>
                          <a:rPr lang="en-US" sz="1800" b="0" i="1">
                            <a:solidFill>
                              <a:schemeClr val="tx1"/>
                            </a:solidFill>
                            <a:latin typeface="Cambria Math"/>
                            <a:cs typeface="Times New Roman" pitchFamily="18" charset="0"/>
                          </a:rPr>
                          <m:t>1</m:t>
                        </m:r>
                      </m:sub>
                    </m:sSub>
                    <m:r>
                      <a:rPr lang="en-US" sz="1800" b="0" i="1" smtClean="0">
                        <a:solidFill>
                          <a:schemeClr val="tx1"/>
                        </a:solidFill>
                        <a:latin typeface="Cambria Math"/>
                        <a:ea typeface="Cambria Math"/>
                        <a:cs typeface="Times New Roman" pitchFamily="18" charset="0"/>
                      </a:rPr>
                      <m:t>×</m:t>
                    </m:r>
                    <m:r>
                      <a:rPr lang="en-US" sz="1800" b="0" i="1" smtClean="0">
                        <a:solidFill>
                          <a:schemeClr val="tx1"/>
                        </a:solidFill>
                        <a:latin typeface="Cambria Math"/>
                        <a:cs typeface="Times New Roman" pitchFamily="18" charset="0"/>
                      </a:rPr>
                      <m:t>1=0.25</m:t>
                    </m:r>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0.05+0.3</a:t>
                </a:r>
                <a14:m>
                  <m:oMath xmlns:m="http://schemas.openxmlformats.org/officeDocument/2006/math">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0.1+0.35</a:t>
                </a:r>
                <a14:m>
                  <m:oMath xmlns:m="http://schemas.openxmlformats.org/officeDocument/2006/math">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1=0.3925</a:t>
                </a:r>
              </a:p>
              <a:p>
                <a:pPr algn="just"/>
                <a:endParaRPr lang="en-US" sz="1800" b="1"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b="1" i="1">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𝒐𝒖</m:t>
                          </m:r>
                          <m:r>
                            <a:rPr lang="en-US" sz="1800" b="1" i="1">
                              <a:solidFill>
                                <a:schemeClr val="tx1"/>
                              </a:solidFill>
                              <a:latin typeface="Cambria Math"/>
                              <a:cs typeface="Times New Roman" pitchFamily="18" charset="0"/>
                            </a:rPr>
                            <m:t>𝒕</m:t>
                          </m:r>
                        </m:e>
                        <m:sub>
                          <m:r>
                            <a:rPr lang="en-US" sz="1800" b="1" i="1">
                              <a:solidFill>
                                <a:schemeClr val="tx1"/>
                              </a:solidFill>
                              <a:latin typeface="Cambria Math"/>
                              <a:cs typeface="Times New Roman" pitchFamily="18" charset="0"/>
                            </a:rPr>
                            <m:t>𝒉</m:t>
                          </m:r>
                          <m:r>
                            <a:rPr lang="en-US" sz="1800" b="1" i="1" smtClean="0">
                              <a:solidFill>
                                <a:schemeClr val="tx1"/>
                              </a:solidFill>
                              <a:latin typeface="Cambria Math"/>
                              <a:cs typeface="Times New Roman" pitchFamily="18" charset="0"/>
                            </a:rPr>
                            <m:t>𝟐</m:t>
                          </m:r>
                        </m:sub>
                      </m:sSub>
                      <m:r>
                        <a:rPr lang="en-US" sz="1800" i="1">
                          <a:solidFill>
                            <a:schemeClr val="tx1"/>
                          </a:solidFill>
                          <a:latin typeface="Cambria Math"/>
                          <a:cs typeface="Times New Roman" pitchFamily="18" charset="0"/>
                        </a:rPr>
                        <m:t>=</m:t>
                      </m:r>
                      <m:f>
                        <m:fPr>
                          <m:ctrlPr>
                            <a:rPr lang="en-US" sz="1800" i="1" smtClean="0">
                              <a:solidFill>
                                <a:schemeClr val="tx1"/>
                              </a:solidFill>
                              <a:latin typeface="Cambria Math" panose="02040503050406030204" pitchFamily="18" charset="0"/>
                              <a:cs typeface="Times New Roman" pitchFamily="18" charset="0"/>
                            </a:rPr>
                          </m:ctrlPr>
                        </m:fPr>
                        <m:num>
                          <m:r>
                            <a:rPr lang="en-US" sz="1800" b="0" i="1" smtClean="0">
                              <a:solidFill>
                                <a:schemeClr val="tx1"/>
                              </a:solidFill>
                              <a:latin typeface="Cambria Math"/>
                              <a:cs typeface="Times New Roman" pitchFamily="18" charset="0"/>
                            </a:rPr>
                            <m:t>1</m:t>
                          </m:r>
                        </m:num>
                        <m:den>
                          <m:r>
                            <a:rPr lang="en-US" sz="1800" b="0" i="1" smtClean="0">
                              <a:solidFill>
                                <a:schemeClr val="tx1"/>
                              </a:solidFill>
                              <a:latin typeface="Cambria Math"/>
                              <a:cs typeface="Times New Roman" pitchFamily="18" charset="0"/>
                            </a:rPr>
                            <m:t>1+</m:t>
                          </m:r>
                          <m:sSup>
                            <m:sSupPr>
                              <m:ctrlPr>
                                <a:rPr lang="en-US" sz="1800" b="0" i="1" smtClean="0">
                                  <a:solidFill>
                                    <a:schemeClr val="tx1"/>
                                  </a:solidFill>
                                  <a:latin typeface="Cambria Math" panose="02040503050406030204" pitchFamily="18" charset="0"/>
                                  <a:cs typeface="Times New Roman" pitchFamily="18" charset="0"/>
                                </a:rPr>
                              </m:ctrlPr>
                            </m:sSupPr>
                            <m:e>
                              <m:r>
                                <a:rPr lang="en-US" sz="1800" b="0" i="1" smtClean="0">
                                  <a:solidFill>
                                    <a:schemeClr val="tx1"/>
                                  </a:solidFill>
                                  <a:latin typeface="Cambria Math"/>
                                  <a:cs typeface="Times New Roman" pitchFamily="18" charset="0"/>
                                </a:rPr>
                                <m:t>𝑒</m:t>
                              </m:r>
                            </m:e>
                            <m:sup>
                              <m:r>
                                <a:rPr lang="en-US" sz="1800" b="0" i="1" smtClean="0">
                                  <a:solidFill>
                                    <a:schemeClr val="tx1"/>
                                  </a:solidFill>
                                  <a:latin typeface="Cambria Math"/>
                                  <a:cs typeface="Times New Roman" pitchFamily="18" charset="0"/>
                                </a:rPr>
                                <m:t>−</m:t>
                              </m:r>
                              <m:sSub>
                                <m:sSubPr>
                                  <m:ctrlPr>
                                    <a:rPr lang="en-US" sz="1800" b="1" i="1">
                                      <a:solidFill>
                                        <a:schemeClr val="tx1"/>
                                      </a:solidFill>
                                      <a:latin typeface="Cambria Math" panose="02040503050406030204" pitchFamily="18" charset="0"/>
                                      <a:cs typeface="Times New Roman" pitchFamily="18" charset="0"/>
                                    </a:rPr>
                                  </m:ctrlPr>
                                </m:sSubPr>
                                <m:e>
                                  <m:r>
                                    <a:rPr lang="en-US" sz="1800" b="1" i="1">
                                      <a:solidFill>
                                        <a:schemeClr val="tx1"/>
                                      </a:solidFill>
                                      <a:latin typeface="Cambria Math"/>
                                      <a:cs typeface="Times New Roman" pitchFamily="18" charset="0"/>
                                    </a:rPr>
                                    <m:t>𝒏𝒆𝒕</m:t>
                                  </m:r>
                                </m:e>
                                <m:sub>
                                  <m:r>
                                    <a:rPr lang="en-US" sz="1800" b="1" i="1">
                                      <a:solidFill>
                                        <a:schemeClr val="tx1"/>
                                      </a:solidFill>
                                      <a:latin typeface="Cambria Math"/>
                                      <a:cs typeface="Times New Roman" pitchFamily="18" charset="0"/>
                                    </a:rPr>
                                    <m:t>𝒉</m:t>
                                  </m:r>
                                  <m:r>
                                    <a:rPr lang="en-US" sz="1800" b="1" i="1">
                                      <a:solidFill>
                                        <a:schemeClr val="tx1"/>
                                      </a:solidFill>
                                      <a:latin typeface="Cambria Math"/>
                                      <a:cs typeface="Times New Roman" pitchFamily="18" charset="0"/>
                                    </a:rPr>
                                    <m:t>𝟏</m:t>
                                  </m:r>
                                </m:sub>
                              </m:sSub>
                            </m:sup>
                          </m:sSup>
                        </m:den>
                      </m:f>
                      <m:r>
                        <a:rPr lang="en-US" sz="1800" i="1">
                          <a:solidFill>
                            <a:schemeClr val="tx1"/>
                          </a:solidFill>
                          <a:latin typeface="Cambria Math"/>
                          <a:cs typeface="Times New Roman" pitchFamily="18" charset="0"/>
                        </a:rPr>
                        <m:t>=</m:t>
                      </m:r>
                      <m:f>
                        <m:fPr>
                          <m:ctrlPr>
                            <a:rPr lang="en-US" sz="1800" i="1">
                              <a:solidFill>
                                <a:schemeClr val="tx1"/>
                              </a:solidFill>
                              <a:latin typeface="Cambria Math" panose="02040503050406030204" pitchFamily="18" charset="0"/>
                              <a:cs typeface="Times New Roman" pitchFamily="18" charset="0"/>
                            </a:rPr>
                          </m:ctrlPr>
                        </m:fPr>
                        <m:num>
                          <m:r>
                            <a:rPr lang="en-US" sz="1800" i="1">
                              <a:solidFill>
                                <a:schemeClr val="tx1"/>
                              </a:solidFill>
                              <a:latin typeface="Cambria Math"/>
                              <a:cs typeface="Times New Roman" pitchFamily="18" charset="0"/>
                            </a:rPr>
                            <m:t>1</m:t>
                          </m:r>
                        </m:num>
                        <m:den>
                          <m:r>
                            <a:rPr lang="en-US" sz="1800" i="1">
                              <a:solidFill>
                                <a:schemeClr val="tx1"/>
                              </a:solidFill>
                              <a:latin typeface="Cambria Math"/>
                              <a:cs typeface="Times New Roman" pitchFamily="18" charset="0"/>
                            </a:rPr>
                            <m:t>1+</m:t>
                          </m:r>
                          <m:sSup>
                            <m:sSupPr>
                              <m:ctrlPr>
                                <a:rPr lang="en-US" sz="1800" i="1">
                                  <a:solidFill>
                                    <a:schemeClr val="tx1"/>
                                  </a:solidFill>
                                  <a:latin typeface="Cambria Math" panose="02040503050406030204" pitchFamily="18" charset="0"/>
                                  <a:cs typeface="Times New Roman" pitchFamily="18" charset="0"/>
                                </a:rPr>
                              </m:ctrlPr>
                            </m:sSupPr>
                            <m:e>
                              <m:r>
                                <a:rPr lang="en-US" sz="1800" i="1">
                                  <a:solidFill>
                                    <a:schemeClr val="tx1"/>
                                  </a:solidFill>
                                  <a:latin typeface="Cambria Math"/>
                                  <a:cs typeface="Times New Roman" pitchFamily="18" charset="0"/>
                                </a:rPr>
                                <m:t>𝑒</m:t>
                              </m:r>
                            </m:e>
                            <m:sup>
                              <m:r>
                                <a:rPr lang="en-US" sz="1800"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𝟎</m:t>
                              </m:r>
                              <m:r>
                                <a:rPr lang="en-US" sz="1800" b="1"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𝟑𝟗𝟐𝟓</m:t>
                              </m:r>
                            </m:sup>
                          </m:sSup>
                        </m:den>
                      </m:f>
                      <m:r>
                        <a:rPr lang="en-US" sz="1800" b="0"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𝟎</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𝟓𝟗𝟔𝟖𝟖𝟒</m:t>
                      </m:r>
                    </m:oMath>
                  </m:oMathPara>
                </a14:m>
                <a:endParaRPr lang="en-US" sz="1800" b="1" dirty="0">
                  <a:solidFill>
                    <a:schemeClr val="tx1"/>
                  </a:solidFill>
                  <a:latin typeface="Times New Roman" pitchFamily="18" charset="0"/>
                  <a:cs typeface="Times New Roman" pitchFamily="18" charset="0"/>
                </a:endParaRPr>
              </a:p>
            </p:txBody>
          </p:sp>
        </mc:Choice>
        <mc:Fallback xmlns="">
          <p:sp>
            <p:nvSpPr>
              <p:cNvPr id="9" name="Subtitle 2">
                <a:extLst>
                  <a:ext uri="{FF2B5EF4-FFF2-40B4-BE49-F238E27FC236}">
                    <a16:creationId xmlns:a16="http://schemas.microsoft.com/office/drawing/2014/main" xmlns:a14="http://schemas.microsoft.com/office/drawing/2010/main" xmlns="" id="{D6F78EE4-952C-15F5-5A5E-ECFC2F2EE2DE}"/>
                  </a:ext>
                </a:extLst>
              </p:cNvPr>
              <p:cNvSpPr txBox="1">
                <a:spLocks noRot="1" noChangeAspect="1" noMove="1" noResize="1" noEditPoints="1" noAdjustHandles="1" noChangeArrowheads="1" noChangeShapeType="1" noTextEdit="1"/>
              </p:cNvSpPr>
              <p:nvPr/>
            </p:nvSpPr>
            <p:spPr>
              <a:xfrm>
                <a:off x="457200" y="4876800"/>
                <a:ext cx="8229600" cy="1371600"/>
              </a:xfrm>
              <a:prstGeom prst="rect">
                <a:avLst/>
              </a:prstGeom>
              <a:blipFill rotWithShape="1">
                <a:blip r:embed="rId3"/>
                <a:stretch>
                  <a:fillRect l="-444" t="-4444"/>
                </a:stretch>
              </a:blipFill>
            </p:spPr>
            <p:txBody>
              <a:bodyPr/>
              <a:lstStyle/>
              <a:p>
                <a:r>
                  <a:rPr lang="en-US">
                    <a:noFill/>
                  </a:rPr>
                  <a:t> </a:t>
                </a:r>
              </a:p>
            </p:txBody>
          </p:sp>
        </mc:Fallback>
      </mc:AlternateContent>
    </p:spTree>
    <p:extLst>
      <p:ext uri="{BB962C8B-B14F-4D97-AF65-F5344CB8AC3E}">
        <p14:creationId xmlns:p14="http://schemas.microsoft.com/office/powerpoint/2010/main" val="23179336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422400" y="381001"/>
            <a:ext cx="88392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609600" y="1447800"/>
            <a:ext cx="109728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Learning using Back-Propagation: Error Calculation</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6402" y="2361946"/>
            <a:ext cx="8044445" cy="2306582"/>
          </a:xfrm>
          <a:prstGeom prst="rect">
            <a:avLst/>
          </a:prstGeom>
          <a:noFill/>
          <a:ln w="9525">
            <a:noFill/>
            <a:miter lim="800000"/>
            <a:headEnd/>
            <a:tailEnd/>
          </a:ln>
        </p:spPr>
      </p:pic>
      <p:sp>
        <p:nvSpPr>
          <p:cNvPr id="7" name="TextBox 6"/>
          <p:cNvSpPr txBox="1"/>
          <p:nvPr/>
        </p:nvSpPr>
        <p:spPr>
          <a:xfrm>
            <a:off x="2342750" y="6400801"/>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mc:AlternateContent xmlns:mc="http://schemas.openxmlformats.org/markup-compatibility/2006" xmlns:a14="http://schemas.microsoft.com/office/drawing/2010/main">
        <mc:Choice Requires="a14">
          <p:sp>
            <p:nvSpPr>
              <p:cNvPr id="9" name="Subtitle 2">
                <a:extLst>
                  <a:ext uri="{FF2B5EF4-FFF2-40B4-BE49-F238E27FC236}">
                    <a16:creationId xmlns:a16="http://schemas.microsoft.com/office/drawing/2014/main" id="{D6F78EE4-952C-15F5-5A5E-ECFC2F2EE2DE}"/>
                  </a:ext>
                </a:extLst>
              </p:cNvPr>
              <p:cNvSpPr txBox="1">
                <a:spLocks/>
              </p:cNvSpPr>
              <p:nvPr/>
            </p:nvSpPr>
            <p:spPr>
              <a:xfrm>
                <a:off x="609600" y="4876800"/>
                <a:ext cx="10972800" cy="13716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b="1" dirty="0">
                    <a:solidFill>
                      <a:schemeClr val="tx1"/>
                    </a:solidFill>
                    <a:latin typeface="Times New Roman" pitchFamily="18" charset="0"/>
                    <a:cs typeface="Times New Roman" pitchFamily="18" charset="0"/>
                  </a:rPr>
                  <a:t>Calculation at node o1</a:t>
                </a:r>
              </a:p>
              <a:p>
                <a:pPr algn="just"/>
                <a14:m>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𝒏𝒆𝒕</m:t>
                        </m:r>
                      </m:e>
                      <m:sub>
                        <m:r>
                          <a:rPr lang="en-US" sz="1800" b="1" i="1" smtClean="0">
                            <a:solidFill>
                              <a:schemeClr val="tx1"/>
                            </a:solidFill>
                            <a:latin typeface="Cambria Math"/>
                            <a:cs typeface="Times New Roman" pitchFamily="18" charset="0"/>
                          </a:rPr>
                          <m:t>𝒐</m:t>
                        </m:r>
                        <m:r>
                          <a:rPr lang="en-US" sz="1800" b="1" i="1" smtClean="0">
                            <a:solidFill>
                              <a:schemeClr val="tx1"/>
                            </a:solidFill>
                            <a:latin typeface="Cambria Math"/>
                            <a:cs typeface="Times New Roman" pitchFamily="18" charset="0"/>
                          </a:rPr>
                          <m:t>𝟏</m:t>
                        </m:r>
                      </m:sub>
                    </m:sSub>
                    <m:r>
                      <a:rPr lang="en-US" sz="1800" b="0" i="1" smtClean="0">
                        <a:solidFill>
                          <a:schemeClr val="tx1"/>
                        </a:solidFill>
                        <a:latin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5</m:t>
                        </m:r>
                      </m:sub>
                    </m:sSub>
                    <m:r>
                      <a:rPr lang="en-US" sz="1800" b="0" i="1" smtClean="0">
                        <a:solidFill>
                          <a:schemeClr val="tx1"/>
                        </a:solidFill>
                        <a:latin typeface="Cambria Math"/>
                        <a:ea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𝑜𝑢𝑡</m:t>
                        </m:r>
                      </m:e>
                      <m:sub>
                        <m:r>
                          <a:rPr lang="en-US" sz="1800" b="0" i="1" smtClean="0">
                            <a:solidFill>
                              <a:schemeClr val="tx1"/>
                            </a:solidFill>
                            <a:latin typeface="Cambria Math"/>
                            <a:cs typeface="Times New Roman" pitchFamily="18" charset="0"/>
                          </a:rPr>
                          <m:t>h</m:t>
                        </m:r>
                        <m:r>
                          <a:rPr lang="en-US" sz="1800" b="0" i="1" smtClean="0">
                            <a:solidFill>
                              <a:schemeClr val="tx1"/>
                            </a:solidFill>
                            <a:latin typeface="Cambria Math"/>
                            <a:cs typeface="Times New Roman" pitchFamily="18" charset="0"/>
                          </a:rPr>
                          <m:t>1</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6</m:t>
                        </m:r>
                      </m:sub>
                    </m:sSub>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ea typeface="Cambria Math"/>
                            <a:cs typeface="Times New Roman" pitchFamily="18" charset="0"/>
                          </a:rPr>
                          <m:t>×</m:t>
                        </m:r>
                        <m:r>
                          <a:rPr lang="en-US" sz="1800" b="0" i="1" smtClean="0">
                            <a:solidFill>
                              <a:schemeClr val="tx1"/>
                            </a:solidFill>
                            <a:latin typeface="Cambria Math"/>
                            <a:ea typeface="Cambria Math"/>
                            <a:cs typeface="Times New Roman" pitchFamily="18" charset="0"/>
                          </a:rPr>
                          <m:t>𝑜𝑢𝑡</m:t>
                        </m:r>
                      </m:e>
                      <m:sub>
                        <m:r>
                          <a:rPr lang="en-US" sz="1800" b="0" i="1" smtClean="0">
                            <a:solidFill>
                              <a:schemeClr val="tx1"/>
                            </a:solidFill>
                            <a:latin typeface="Cambria Math"/>
                            <a:cs typeface="Times New Roman" pitchFamily="18" charset="0"/>
                          </a:rPr>
                          <m:t>h</m:t>
                        </m:r>
                        <m:r>
                          <a:rPr lang="en-US" sz="1800" b="0" i="1" smtClean="0">
                            <a:solidFill>
                              <a:schemeClr val="tx1"/>
                            </a:solidFill>
                            <a:latin typeface="Cambria Math"/>
                            <a:cs typeface="Times New Roman" pitchFamily="18" charset="0"/>
                          </a:rPr>
                          <m:t>2</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𝑏</m:t>
                        </m:r>
                      </m:e>
                      <m:sub>
                        <m:r>
                          <a:rPr lang="en-US" sz="1800" b="0" i="1" smtClean="0">
                            <a:solidFill>
                              <a:schemeClr val="tx1"/>
                            </a:solidFill>
                            <a:latin typeface="Cambria Math"/>
                            <a:cs typeface="Times New Roman" pitchFamily="18" charset="0"/>
                          </a:rPr>
                          <m:t>2</m:t>
                        </m:r>
                      </m:sub>
                    </m:sSub>
                    <m:r>
                      <a:rPr lang="en-US" sz="1800" b="0" i="1" smtClean="0">
                        <a:solidFill>
                          <a:schemeClr val="tx1"/>
                        </a:solidFill>
                        <a:latin typeface="Cambria Math"/>
                        <a:ea typeface="Cambria Math"/>
                        <a:cs typeface="Times New Roman" pitchFamily="18" charset="0"/>
                      </a:rPr>
                      <m:t>×</m:t>
                    </m:r>
                    <m:r>
                      <a:rPr lang="en-US" sz="1800" b="0" i="1" smtClean="0">
                        <a:solidFill>
                          <a:schemeClr val="tx1"/>
                        </a:solidFill>
                        <a:latin typeface="Cambria Math"/>
                        <a:cs typeface="Times New Roman" pitchFamily="18" charset="0"/>
                      </a:rPr>
                      <m:t>1=0.4</m:t>
                    </m:r>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0.593269+0.</a:t>
                </a:r>
                <a14:m>
                  <m:oMath xmlns:m="http://schemas.openxmlformats.org/officeDocument/2006/math">
                    <m:r>
                      <a:rPr lang="en-US" sz="1800" b="0" i="0" smtClean="0">
                        <a:solidFill>
                          <a:schemeClr val="tx1"/>
                        </a:solidFill>
                        <a:latin typeface="Cambria Math"/>
                        <a:ea typeface="Cambria Math"/>
                        <a:cs typeface="Times New Roman" pitchFamily="18" charset="0"/>
                      </a:rPr>
                      <m:t>45</m:t>
                    </m:r>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0.596884+0.6</a:t>
                </a:r>
                <a14:m>
                  <m:oMath xmlns:m="http://schemas.openxmlformats.org/officeDocument/2006/math">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1=1.1059054</a:t>
                </a:r>
              </a:p>
              <a:p>
                <a:pPr algn="just"/>
                <a:endParaRPr lang="en-US" sz="1800" b="1" dirty="0">
                  <a:solidFill>
                    <a:schemeClr val="tx1"/>
                  </a:solidFill>
                  <a:latin typeface="Times New Roman" pitchFamily="18" charset="0"/>
                  <a:cs typeface="Times New Roman" pitchFamily="18" charset="0"/>
                </a:endParaRPr>
              </a:p>
              <a:p>
                <a:pPr algn="just"/>
                <a14:m>
                  <m:oMath xmlns:m="http://schemas.openxmlformats.org/officeDocument/2006/math">
                    <m:sSub>
                      <m:sSubPr>
                        <m:ctrlPr>
                          <a:rPr lang="en-US" sz="1800" b="1" i="1">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𝒐𝒖</m:t>
                        </m:r>
                        <m:r>
                          <a:rPr lang="en-US" sz="1800" b="1" i="1">
                            <a:solidFill>
                              <a:schemeClr val="tx1"/>
                            </a:solidFill>
                            <a:latin typeface="Cambria Math"/>
                            <a:cs typeface="Times New Roman" pitchFamily="18" charset="0"/>
                          </a:rPr>
                          <m:t>𝒕</m:t>
                        </m:r>
                      </m:e>
                      <m:sub>
                        <m:r>
                          <a:rPr lang="en-US" sz="1800" b="1" i="1" smtClean="0">
                            <a:solidFill>
                              <a:schemeClr val="tx1"/>
                            </a:solidFill>
                            <a:latin typeface="Cambria Math"/>
                            <a:cs typeface="Times New Roman" pitchFamily="18" charset="0"/>
                          </a:rPr>
                          <m:t>𝒐</m:t>
                        </m:r>
                        <m:r>
                          <a:rPr lang="en-US" sz="1800" b="1" i="1" smtClean="0">
                            <a:solidFill>
                              <a:schemeClr val="tx1"/>
                            </a:solidFill>
                            <a:latin typeface="Cambria Math"/>
                            <a:cs typeface="Times New Roman" pitchFamily="18" charset="0"/>
                          </a:rPr>
                          <m:t>𝟏</m:t>
                        </m:r>
                      </m:sub>
                    </m:sSub>
                    <m:r>
                      <a:rPr lang="en-US" sz="1800" i="1">
                        <a:solidFill>
                          <a:schemeClr val="tx1"/>
                        </a:solidFill>
                        <a:latin typeface="Cambria Math"/>
                        <a:cs typeface="Times New Roman" pitchFamily="18" charset="0"/>
                      </a:rPr>
                      <m:t>=</m:t>
                    </m:r>
                    <m:f>
                      <m:fPr>
                        <m:ctrlPr>
                          <a:rPr lang="en-US" sz="1800" i="1" smtClean="0">
                            <a:solidFill>
                              <a:schemeClr val="tx1"/>
                            </a:solidFill>
                            <a:latin typeface="Cambria Math" panose="02040503050406030204" pitchFamily="18" charset="0"/>
                            <a:cs typeface="Times New Roman" pitchFamily="18" charset="0"/>
                          </a:rPr>
                        </m:ctrlPr>
                      </m:fPr>
                      <m:num>
                        <m:r>
                          <a:rPr lang="en-US" sz="1800" b="0" i="1" smtClean="0">
                            <a:solidFill>
                              <a:schemeClr val="tx1"/>
                            </a:solidFill>
                            <a:latin typeface="Cambria Math"/>
                            <a:cs typeface="Times New Roman" pitchFamily="18" charset="0"/>
                          </a:rPr>
                          <m:t>1</m:t>
                        </m:r>
                      </m:num>
                      <m:den>
                        <m:r>
                          <a:rPr lang="en-US" sz="1800" b="0" i="1" smtClean="0">
                            <a:solidFill>
                              <a:schemeClr val="tx1"/>
                            </a:solidFill>
                            <a:latin typeface="Cambria Math"/>
                            <a:cs typeface="Times New Roman" pitchFamily="18" charset="0"/>
                          </a:rPr>
                          <m:t>1+</m:t>
                        </m:r>
                        <m:sSup>
                          <m:sSupPr>
                            <m:ctrlPr>
                              <a:rPr lang="en-US" sz="1800" b="0" i="1" smtClean="0">
                                <a:solidFill>
                                  <a:schemeClr val="tx1"/>
                                </a:solidFill>
                                <a:latin typeface="Cambria Math" panose="02040503050406030204" pitchFamily="18" charset="0"/>
                                <a:cs typeface="Times New Roman" pitchFamily="18" charset="0"/>
                              </a:rPr>
                            </m:ctrlPr>
                          </m:sSupPr>
                          <m:e>
                            <m:r>
                              <a:rPr lang="en-US" sz="1800" b="0" i="1" smtClean="0">
                                <a:solidFill>
                                  <a:schemeClr val="tx1"/>
                                </a:solidFill>
                                <a:latin typeface="Cambria Math"/>
                                <a:cs typeface="Times New Roman" pitchFamily="18" charset="0"/>
                              </a:rPr>
                              <m:t>𝑒</m:t>
                            </m:r>
                          </m:e>
                          <m:sup>
                            <m:r>
                              <a:rPr lang="en-US" sz="1800" b="0" i="1" smtClean="0">
                                <a:solidFill>
                                  <a:schemeClr val="tx1"/>
                                </a:solidFill>
                                <a:latin typeface="Cambria Math"/>
                                <a:cs typeface="Times New Roman" pitchFamily="18" charset="0"/>
                              </a:rPr>
                              <m:t>−</m:t>
                            </m:r>
                            <m:sSub>
                              <m:sSubPr>
                                <m:ctrlPr>
                                  <a:rPr lang="en-US" sz="1800" b="1" i="1">
                                    <a:solidFill>
                                      <a:schemeClr val="tx1"/>
                                    </a:solidFill>
                                    <a:latin typeface="Cambria Math" panose="02040503050406030204" pitchFamily="18" charset="0"/>
                                    <a:cs typeface="Times New Roman" pitchFamily="18" charset="0"/>
                                  </a:rPr>
                                </m:ctrlPr>
                              </m:sSubPr>
                              <m:e>
                                <m:r>
                                  <a:rPr lang="en-US" sz="1800" b="1" i="1">
                                    <a:solidFill>
                                      <a:schemeClr val="tx1"/>
                                    </a:solidFill>
                                    <a:latin typeface="Cambria Math"/>
                                    <a:cs typeface="Times New Roman" pitchFamily="18" charset="0"/>
                                  </a:rPr>
                                  <m:t>𝒏𝒆𝒕</m:t>
                                </m:r>
                              </m:e>
                              <m:sub>
                                <m:r>
                                  <a:rPr lang="en-US" sz="1800" b="1" i="1" smtClean="0">
                                    <a:solidFill>
                                      <a:schemeClr val="tx1"/>
                                    </a:solidFill>
                                    <a:latin typeface="Cambria Math"/>
                                    <a:cs typeface="Times New Roman" pitchFamily="18" charset="0"/>
                                  </a:rPr>
                                  <m:t>𝒐</m:t>
                                </m:r>
                                <m:r>
                                  <a:rPr lang="en-US" sz="1800" b="1" i="1">
                                    <a:solidFill>
                                      <a:schemeClr val="tx1"/>
                                    </a:solidFill>
                                    <a:latin typeface="Cambria Math"/>
                                    <a:cs typeface="Times New Roman" pitchFamily="18" charset="0"/>
                                  </a:rPr>
                                  <m:t>𝟏</m:t>
                                </m:r>
                              </m:sub>
                            </m:sSub>
                          </m:sup>
                        </m:sSup>
                      </m:den>
                    </m:f>
                    <m:r>
                      <a:rPr lang="en-US" sz="1800" i="1">
                        <a:solidFill>
                          <a:schemeClr val="tx1"/>
                        </a:solidFill>
                        <a:latin typeface="Cambria Math"/>
                        <a:cs typeface="Times New Roman" pitchFamily="18" charset="0"/>
                      </a:rPr>
                      <m:t>=</m:t>
                    </m:r>
                    <m:f>
                      <m:fPr>
                        <m:ctrlPr>
                          <a:rPr lang="en-US" sz="1800" i="1">
                            <a:solidFill>
                              <a:schemeClr val="tx1"/>
                            </a:solidFill>
                            <a:latin typeface="Cambria Math" panose="02040503050406030204" pitchFamily="18" charset="0"/>
                            <a:cs typeface="Times New Roman" pitchFamily="18" charset="0"/>
                          </a:rPr>
                        </m:ctrlPr>
                      </m:fPr>
                      <m:num>
                        <m:r>
                          <a:rPr lang="en-US" sz="1800" i="1">
                            <a:solidFill>
                              <a:schemeClr val="tx1"/>
                            </a:solidFill>
                            <a:latin typeface="Cambria Math"/>
                            <a:cs typeface="Times New Roman" pitchFamily="18" charset="0"/>
                          </a:rPr>
                          <m:t>1</m:t>
                        </m:r>
                      </m:num>
                      <m:den>
                        <m:r>
                          <a:rPr lang="en-US" sz="1800" i="1">
                            <a:solidFill>
                              <a:schemeClr val="tx1"/>
                            </a:solidFill>
                            <a:latin typeface="Cambria Math"/>
                            <a:cs typeface="Times New Roman" pitchFamily="18" charset="0"/>
                          </a:rPr>
                          <m:t>1+</m:t>
                        </m:r>
                        <m:sSup>
                          <m:sSupPr>
                            <m:ctrlPr>
                              <a:rPr lang="en-US" sz="1800" i="1">
                                <a:solidFill>
                                  <a:schemeClr val="tx1"/>
                                </a:solidFill>
                                <a:latin typeface="Cambria Math" panose="02040503050406030204" pitchFamily="18" charset="0"/>
                                <a:cs typeface="Times New Roman" pitchFamily="18" charset="0"/>
                              </a:rPr>
                            </m:ctrlPr>
                          </m:sSupPr>
                          <m:e>
                            <m:r>
                              <a:rPr lang="en-US" sz="1800" i="1">
                                <a:solidFill>
                                  <a:schemeClr val="tx1"/>
                                </a:solidFill>
                                <a:latin typeface="Cambria Math"/>
                                <a:cs typeface="Times New Roman" pitchFamily="18" charset="0"/>
                              </a:rPr>
                              <m:t>𝑒</m:t>
                            </m:r>
                          </m:e>
                          <m:sup>
                            <m:r>
                              <a:rPr lang="en-US" sz="1800" b="0" i="1" smtClean="0">
                                <a:solidFill>
                                  <a:schemeClr val="tx1"/>
                                </a:solidFill>
                                <a:latin typeface="Cambria Math"/>
                                <a:cs typeface="Times New Roman" pitchFamily="18" charset="0"/>
                              </a:rPr>
                              <m:t>−</m:t>
                            </m:r>
                            <m:r>
                              <a:rPr lang="en-US" sz="1800" i="1">
                                <a:solidFill>
                                  <a:schemeClr val="tx1"/>
                                </a:solidFill>
                                <a:latin typeface="Cambria Math"/>
                                <a:cs typeface="Times New Roman" pitchFamily="18" charset="0"/>
                              </a:rPr>
                              <m:t>1.1059054</m:t>
                            </m:r>
                          </m:sup>
                        </m:sSup>
                      </m:den>
                    </m:f>
                    <m:r>
                      <a:rPr lang="en-US" sz="1800" b="0"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𝟎</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𝟕𝟓𝟏𝟑𝟔</m:t>
                    </m:r>
                  </m:oMath>
                </a14:m>
                <a:r>
                  <a:rPr lang="en-US" sz="1800" b="1" dirty="0">
                    <a:solidFill>
                      <a:schemeClr val="tx1"/>
                    </a:solidFill>
                    <a:latin typeface="Times New Roman" pitchFamily="18" charset="0"/>
                    <a:cs typeface="Times New Roman" pitchFamily="18" charset="0"/>
                  </a:rPr>
                  <a:t>5</a:t>
                </a:r>
              </a:p>
            </p:txBody>
          </p:sp>
        </mc:Choice>
        <mc:Fallback xmlns="">
          <p:sp>
            <p:nvSpPr>
              <p:cNvPr id="9" name="Subtitle 2">
                <a:extLst>
                  <a:ext uri="{FF2B5EF4-FFF2-40B4-BE49-F238E27FC236}">
                    <a16:creationId xmlns:a16="http://schemas.microsoft.com/office/drawing/2014/main" xmlns:a14="http://schemas.microsoft.com/office/drawing/2010/main" xmlns="" id="{D6F78EE4-952C-15F5-5A5E-ECFC2F2EE2DE}"/>
                  </a:ext>
                </a:extLst>
              </p:cNvPr>
              <p:cNvSpPr txBox="1">
                <a:spLocks noRot="1" noChangeAspect="1" noMove="1" noResize="1" noEditPoints="1" noAdjustHandles="1" noChangeArrowheads="1" noChangeShapeType="1" noTextEdit="1"/>
              </p:cNvSpPr>
              <p:nvPr/>
            </p:nvSpPr>
            <p:spPr>
              <a:xfrm>
                <a:off x="457200" y="4876800"/>
                <a:ext cx="8229600" cy="1371600"/>
              </a:xfrm>
              <a:prstGeom prst="rect">
                <a:avLst/>
              </a:prstGeom>
              <a:blipFill rotWithShape="1">
                <a:blip r:embed="rId3"/>
                <a:stretch>
                  <a:fillRect l="-222" t="-2667"/>
                </a:stretch>
              </a:blipFill>
            </p:spPr>
            <p:txBody>
              <a:bodyPr/>
              <a:lstStyle/>
              <a:p>
                <a:r>
                  <a:rPr lang="en-US">
                    <a:noFill/>
                  </a:rPr>
                  <a:t> </a:t>
                </a:r>
              </a:p>
            </p:txBody>
          </p:sp>
        </mc:Fallback>
      </mc:AlternateContent>
    </p:spTree>
    <p:extLst>
      <p:ext uri="{BB962C8B-B14F-4D97-AF65-F5344CB8AC3E}">
        <p14:creationId xmlns:p14="http://schemas.microsoft.com/office/powerpoint/2010/main" val="14889023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422400" y="381001"/>
            <a:ext cx="88392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609600" y="1447800"/>
            <a:ext cx="109728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Learning using Back-Propagation: Error Calculation</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6404" y="2361946"/>
            <a:ext cx="8044441" cy="2306582"/>
          </a:xfrm>
          <a:prstGeom prst="rect">
            <a:avLst/>
          </a:prstGeom>
          <a:noFill/>
          <a:ln w="9525">
            <a:noFill/>
            <a:miter lim="800000"/>
            <a:headEnd/>
            <a:tailEnd/>
          </a:ln>
        </p:spPr>
      </p:pic>
      <p:sp>
        <p:nvSpPr>
          <p:cNvPr id="7" name="TextBox 6"/>
          <p:cNvSpPr txBox="1"/>
          <p:nvPr/>
        </p:nvSpPr>
        <p:spPr>
          <a:xfrm>
            <a:off x="2342750" y="6400801"/>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mc:AlternateContent xmlns:mc="http://schemas.openxmlformats.org/markup-compatibility/2006" xmlns:a14="http://schemas.microsoft.com/office/drawing/2010/main">
        <mc:Choice Requires="a14">
          <p:sp>
            <p:nvSpPr>
              <p:cNvPr id="9" name="Subtitle 2">
                <a:extLst>
                  <a:ext uri="{FF2B5EF4-FFF2-40B4-BE49-F238E27FC236}">
                    <a16:creationId xmlns:a16="http://schemas.microsoft.com/office/drawing/2014/main" id="{D6F78EE4-952C-15F5-5A5E-ECFC2F2EE2DE}"/>
                  </a:ext>
                </a:extLst>
              </p:cNvPr>
              <p:cNvSpPr txBox="1">
                <a:spLocks/>
              </p:cNvSpPr>
              <p:nvPr/>
            </p:nvSpPr>
            <p:spPr>
              <a:xfrm>
                <a:off x="609600" y="4876800"/>
                <a:ext cx="10972800" cy="1371600"/>
              </a:xfrm>
              <a:prstGeom prst="rect">
                <a:avLst/>
              </a:prstGeom>
            </p:spPr>
            <p:txBody>
              <a:bodyPr vert="horz" lIns="91440" tIns="45720" rIns="91440" bIns="45720" rtlCol="0">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b="1" dirty="0">
                    <a:solidFill>
                      <a:schemeClr val="tx1"/>
                    </a:solidFill>
                    <a:latin typeface="Times New Roman" pitchFamily="18" charset="0"/>
                    <a:cs typeface="Times New Roman" pitchFamily="18" charset="0"/>
                  </a:rPr>
                  <a:t>Calculation at node o2</a:t>
                </a:r>
              </a:p>
              <a:p>
                <a:pPr algn="just"/>
                <a14:m>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𝒏𝒆𝒕</m:t>
                        </m:r>
                      </m:e>
                      <m:sub>
                        <m:r>
                          <a:rPr lang="en-US" sz="1800" b="1" i="1" smtClean="0">
                            <a:solidFill>
                              <a:schemeClr val="tx1"/>
                            </a:solidFill>
                            <a:latin typeface="Cambria Math"/>
                            <a:cs typeface="Times New Roman" pitchFamily="18" charset="0"/>
                          </a:rPr>
                          <m:t>𝒐</m:t>
                        </m:r>
                        <m:r>
                          <a:rPr lang="en-US" sz="1800" b="1" i="1" smtClean="0">
                            <a:solidFill>
                              <a:schemeClr val="tx1"/>
                            </a:solidFill>
                            <a:latin typeface="Cambria Math"/>
                            <a:cs typeface="Times New Roman" pitchFamily="18" charset="0"/>
                          </a:rPr>
                          <m:t>𝟐</m:t>
                        </m:r>
                      </m:sub>
                    </m:sSub>
                    <m:r>
                      <a:rPr lang="en-US" sz="1800" b="0" i="1" smtClean="0">
                        <a:solidFill>
                          <a:schemeClr val="tx1"/>
                        </a:solidFill>
                        <a:latin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7</m:t>
                        </m:r>
                      </m:sub>
                    </m:sSub>
                    <m:r>
                      <a:rPr lang="en-US" sz="1800" b="0" i="1" smtClean="0">
                        <a:solidFill>
                          <a:schemeClr val="tx1"/>
                        </a:solidFill>
                        <a:latin typeface="Cambria Math"/>
                        <a:ea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𝑜𝑢𝑡</m:t>
                        </m:r>
                      </m:e>
                      <m:sub>
                        <m:r>
                          <a:rPr lang="en-US" sz="1800" b="0" i="1" smtClean="0">
                            <a:solidFill>
                              <a:schemeClr val="tx1"/>
                            </a:solidFill>
                            <a:latin typeface="Cambria Math"/>
                            <a:cs typeface="Times New Roman" pitchFamily="18" charset="0"/>
                          </a:rPr>
                          <m:t>h</m:t>
                        </m:r>
                        <m:r>
                          <a:rPr lang="en-US" sz="1800" b="0" i="1" smtClean="0">
                            <a:solidFill>
                              <a:schemeClr val="tx1"/>
                            </a:solidFill>
                            <a:latin typeface="Cambria Math"/>
                            <a:cs typeface="Times New Roman" pitchFamily="18" charset="0"/>
                          </a:rPr>
                          <m:t>1</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8</m:t>
                        </m:r>
                      </m:sub>
                    </m:sSub>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ea typeface="Cambria Math"/>
                            <a:cs typeface="Times New Roman" pitchFamily="18" charset="0"/>
                          </a:rPr>
                          <m:t>×</m:t>
                        </m:r>
                        <m:r>
                          <a:rPr lang="en-US" sz="1800" b="0" i="1" smtClean="0">
                            <a:solidFill>
                              <a:schemeClr val="tx1"/>
                            </a:solidFill>
                            <a:latin typeface="Cambria Math"/>
                            <a:ea typeface="Cambria Math"/>
                            <a:cs typeface="Times New Roman" pitchFamily="18" charset="0"/>
                          </a:rPr>
                          <m:t>𝑜𝑢𝑡</m:t>
                        </m:r>
                      </m:e>
                      <m:sub>
                        <m:r>
                          <a:rPr lang="en-US" sz="1800" b="0" i="1" smtClean="0">
                            <a:solidFill>
                              <a:schemeClr val="tx1"/>
                            </a:solidFill>
                            <a:latin typeface="Cambria Math"/>
                            <a:cs typeface="Times New Roman" pitchFamily="18" charset="0"/>
                          </a:rPr>
                          <m:t>h</m:t>
                        </m:r>
                        <m:r>
                          <a:rPr lang="en-US" sz="1800" b="0" i="1" smtClean="0">
                            <a:solidFill>
                              <a:schemeClr val="tx1"/>
                            </a:solidFill>
                            <a:latin typeface="Cambria Math"/>
                            <a:cs typeface="Times New Roman" pitchFamily="18" charset="0"/>
                          </a:rPr>
                          <m:t>2</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𝑏</m:t>
                        </m:r>
                      </m:e>
                      <m:sub>
                        <m:r>
                          <a:rPr lang="en-US" sz="1800" b="0" i="1" smtClean="0">
                            <a:solidFill>
                              <a:schemeClr val="tx1"/>
                            </a:solidFill>
                            <a:latin typeface="Cambria Math"/>
                            <a:cs typeface="Times New Roman" pitchFamily="18" charset="0"/>
                          </a:rPr>
                          <m:t>2</m:t>
                        </m:r>
                      </m:sub>
                    </m:sSub>
                    <m:r>
                      <a:rPr lang="en-US" sz="1800" b="0" i="1" smtClean="0">
                        <a:solidFill>
                          <a:schemeClr val="tx1"/>
                        </a:solidFill>
                        <a:latin typeface="Cambria Math"/>
                        <a:ea typeface="Cambria Math"/>
                        <a:cs typeface="Times New Roman" pitchFamily="18" charset="0"/>
                      </a:rPr>
                      <m:t>×</m:t>
                    </m:r>
                    <m:r>
                      <a:rPr lang="en-US" sz="1800" b="0" i="1" smtClean="0">
                        <a:solidFill>
                          <a:schemeClr val="tx1"/>
                        </a:solidFill>
                        <a:latin typeface="Cambria Math"/>
                        <a:cs typeface="Times New Roman" pitchFamily="18" charset="0"/>
                      </a:rPr>
                      <m:t>1=0.5</m:t>
                    </m:r>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0.593269+0.</a:t>
                </a:r>
                <a14:m>
                  <m:oMath xmlns:m="http://schemas.openxmlformats.org/officeDocument/2006/math">
                    <m:r>
                      <a:rPr lang="en-US" sz="1800" dirty="0">
                        <a:solidFill>
                          <a:schemeClr val="tx1"/>
                        </a:solidFill>
                        <a:latin typeface="Cambria Math"/>
                        <a:ea typeface="Cambria Math"/>
                        <a:cs typeface="Times New Roman" pitchFamily="18" charset="0"/>
                      </a:rPr>
                      <m:t>5</m:t>
                    </m:r>
                    <m:r>
                      <a:rPr lang="en-US" sz="1800" b="0" i="0" smtClean="0">
                        <a:solidFill>
                          <a:schemeClr val="tx1"/>
                        </a:solidFill>
                        <a:latin typeface="Cambria Math"/>
                        <a:ea typeface="Cambria Math"/>
                        <a:cs typeface="Times New Roman" pitchFamily="18" charset="0"/>
                      </a:rPr>
                      <m:t>5</m:t>
                    </m:r>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0.596884+0.6</a:t>
                </a:r>
                <a14:m>
                  <m:oMath xmlns:m="http://schemas.openxmlformats.org/officeDocument/2006/math">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1=1.22492</a:t>
                </a:r>
              </a:p>
              <a:p>
                <a:pPr algn="just"/>
                <a:endParaRPr lang="en-US" sz="1800" b="1"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b="1" i="1">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𝒐𝒖</m:t>
                          </m:r>
                          <m:r>
                            <a:rPr lang="en-US" sz="1800" b="1" i="1">
                              <a:solidFill>
                                <a:schemeClr val="tx1"/>
                              </a:solidFill>
                              <a:latin typeface="Cambria Math"/>
                              <a:cs typeface="Times New Roman" pitchFamily="18" charset="0"/>
                            </a:rPr>
                            <m:t>𝒕</m:t>
                          </m:r>
                        </m:e>
                        <m:sub>
                          <m:r>
                            <a:rPr lang="en-US" sz="1800" b="1" i="1" smtClean="0">
                              <a:solidFill>
                                <a:schemeClr val="tx1"/>
                              </a:solidFill>
                              <a:latin typeface="Cambria Math"/>
                              <a:cs typeface="Times New Roman" pitchFamily="18" charset="0"/>
                            </a:rPr>
                            <m:t>𝒐</m:t>
                          </m:r>
                          <m:r>
                            <a:rPr lang="en-US" sz="1800" b="1" i="1" smtClean="0">
                              <a:solidFill>
                                <a:schemeClr val="tx1"/>
                              </a:solidFill>
                              <a:latin typeface="Cambria Math"/>
                              <a:cs typeface="Times New Roman" pitchFamily="18" charset="0"/>
                            </a:rPr>
                            <m:t>𝟐</m:t>
                          </m:r>
                        </m:sub>
                      </m:sSub>
                      <m:r>
                        <a:rPr lang="en-US" sz="1800" i="1">
                          <a:solidFill>
                            <a:schemeClr val="tx1"/>
                          </a:solidFill>
                          <a:latin typeface="Cambria Math"/>
                          <a:cs typeface="Times New Roman" pitchFamily="18" charset="0"/>
                        </a:rPr>
                        <m:t>=</m:t>
                      </m:r>
                      <m:f>
                        <m:fPr>
                          <m:ctrlPr>
                            <a:rPr lang="en-US" sz="1800" i="1" smtClean="0">
                              <a:solidFill>
                                <a:schemeClr val="tx1"/>
                              </a:solidFill>
                              <a:latin typeface="Cambria Math" panose="02040503050406030204" pitchFamily="18" charset="0"/>
                              <a:cs typeface="Times New Roman" pitchFamily="18" charset="0"/>
                            </a:rPr>
                          </m:ctrlPr>
                        </m:fPr>
                        <m:num>
                          <m:r>
                            <a:rPr lang="en-US" sz="1800" b="0" i="1" smtClean="0">
                              <a:solidFill>
                                <a:schemeClr val="tx1"/>
                              </a:solidFill>
                              <a:latin typeface="Cambria Math"/>
                              <a:cs typeface="Times New Roman" pitchFamily="18" charset="0"/>
                            </a:rPr>
                            <m:t>1</m:t>
                          </m:r>
                        </m:num>
                        <m:den>
                          <m:r>
                            <a:rPr lang="en-US" sz="1800" b="0" i="1" smtClean="0">
                              <a:solidFill>
                                <a:schemeClr val="tx1"/>
                              </a:solidFill>
                              <a:latin typeface="Cambria Math"/>
                              <a:cs typeface="Times New Roman" pitchFamily="18" charset="0"/>
                            </a:rPr>
                            <m:t>1+</m:t>
                          </m:r>
                          <m:sSup>
                            <m:sSupPr>
                              <m:ctrlPr>
                                <a:rPr lang="en-US" sz="1800" b="0" i="1" smtClean="0">
                                  <a:solidFill>
                                    <a:schemeClr val="tx1"/>
                                  </a:solidFill>
                                  <a:latin typeface="Cambria Math" panose="02040503050406030204" pitchFamily="18" charset="0"/>
                                  <a:cs typeface="Times New Roman" pitchFamily="18" charset="0"/>
                                </a:rPr>
                              </m:ctrlPr>
                            </m:sSupPr>
                            <m:e>
                              <m:r>
                                <a:rPr lang="en-US" sz="1800" b="0" i="1" smtClean="0">
                                  <a:solidFill>
                                    <a:schemeClr val="tx1"/>
                                  </a:solidFill>
                                  <a:latin typeface="Cambria Math"/>
                                  <a:cs typeface="Times New Roman" pitchFamily="18" charset="0"/>
                                </a:rPr>
                                <m:t>𝑒</m:t>
                              </m:r>
                            </m:e>
                            <m:sup>
                              <m:r>
                                <a:rPr lang="en-US" sz="1800" b="0" i="1" smtClean="0">
                                  <a:solidFill>
                                    <a:schemeClr val="tx1"/>
                                  </a:solidFill>
                                  <a:latin typeface="Cambria Math"/>
                                  <a:cs typeface="Times New Roman" pitchFamily="18" charset="0"/>
                                </a:rPr>
                                <m:t>−</m:t>
                              </m:r>
                              <m:sSub>
                                <m:sSubPr>
                                  <m:ctrlPr>
                                    <a:rPr lang="en-US" sz="1800" b="1" i="1">
                                      <a:solidFill>
                                        <a:schemeClr val="tx1"/>
                                      </a:solidFill>
                                      <a:latin typeface="Cambria Math" panose="02040503050406030204" pitchFamily="18" charset="0"/>
                                      <a:cs typeface="Times New Roman" pitchFamily="18" charset="0"/>
                                    </a:rPr>
                                  </m:ctrlPr>
                                </m:sSubPr>
                                <m:e>
                                  <m:r>
                                    <a:rPr lang="en-US" sz="1800" b="1" i="1">
                                      <a:solidFill>
                                        <a:schemeClr val="tx1"/>
                                      </a:solidFill>
                                      <a:latin typeface="Cambria Math"/>
                                      <a:cs typeface="Times New Roman" pitchFamily="18" charset="0"/>
                                    </a:rPr>
                                    <m:t>𝒏𝒆𝒕</m:t>
                                  </m:r>
                                </m:e>
                                <m:sub>
                                  <m:r>
                                    <a:rPr lang="en-US" sz="1800" b="1" i="1" smtClean="0">
                                      <a:solidFill>
                                        <a:schemeClr val="tx1"/>
                                      </a:solidFill>
                                      <a:latin typeface="Cambria Math"/>
                                      <a:cs typeface="Times New Roman" pitchFamily="18" charset="0"/>
                                    </a:rPr>
                                    <m:t>𝒐</m:t>
                                  </m:r>
                                  <m:r>
                                    <a:rPr lang="en-US" sz="1800" b="1" i="1" smtClean="0">
                                      <a:solidFill>
                                        <a:schemeClr val="tx1"/>
                                      </a:solidFill>
                                      <a:latin typeface="Cambria Math"/>
                                      <a:cs typeface="Times New Roman" pitchFamily="18" charset="0"/>
                                    </a:rPr>
                                    <m:t>𝟐</m:t>
                                  </m:r>
                                </m:sub>
                              </m:sSub>
                            </m:sup>
                          </m:sSup>
                        </m:den>
                      </m:f>
                      <m:r>
                        <a:rPr lang="en-US" sz="1800" i="1">
                          <a:solidFill>
                            <a:schemeClr val="tx1"/>
                          </a:solidFill>
                          <a:latin typeface="Cambria Math"/>
                          <a:cs typeface="Times New Roman" pitchFamily="18" charset="0"/>
                        </a:rPr>
                        <m:t>=</m:t>
                      </m:r>
                      <m:f>
                        <m:fPr>
                          <m:ctrlPr>
                            <a:rPr lang="en-US" sz="1800" i="1">
                              <a:solidFill>
                                <a:schemeClr val="tx1"/>
                              </a:solidFill>
                              <a:latin typeface="Cambria Math" panose="02040503050406030204" pitchFamily="18" charset="0"/>
                              <a:cs typeface="Times New Roman" pitchFamily="18" charset="0"/>
                            </a:rPr>
                          </m:ctrlPr>
                        </m:fPr>
                        <m:num>
                          <m:r>
                            <a:rPr lang="en-US" sz="1800" i="1">
                              <a:solidFill>
                                <a:schemeClr val="tx1"/>
                              </a:solidFill>
                              <a:latin typeface="Cambria Math"/>
                              <a:cs typeface="Times New Roman" pitchFamily="18" charset="0"/>
                            </a:rPr>
                            <m:t>1</m:t>
                          </m:r>
                        </m:num>
                        <m:den>
                          <m:r>
                            <a:rPr lang="en-US" sz="1800" i="1">
                              <a:solidFill>
                                <a:schemeClr val="tx1"/>
                              </a:solidFill>
                              <a:latin typeface="Cambria Math"/>
                              <a:cs typeface="Times New Roman" pitchFamily="18" charset="0"/>
                            </a:rPr>
                            <m:t>1+</m:t>
                          </m:r>
                          <m:sSup>
                            <m:sSupPr>
                              <m:ctrlPr>
                                <a:rPr lang="en-US" sz="1800" i="1">
                                  <a:solidFill>
                                    <a:schemeClr val="tx1"/>
                                  </a:solidFill>
                                  <a:latin typeface="Cambria Math" panose="02040503050406030204" pitchFamily="18" charset="0"/>
                                  <a:cs typeface="Times New Roman" pitchFamily="18" charset="0"/>
                                </a:rPr>
                              </m:ctrlPr>
                            </m:sSupPr>
                            <m:e>
                              <m:r>
                                <a:rPr lang="en-US" sz="1800" i="1">
                                  <a:solidFill>
                                    <a:schemeClr val="tx1"/>
                                  </a:solidFill>
                                  <a:latin typeface="Cambria Math"/>
                                  <a:cs typeface="Times New Roman" pitchFamily="18" charset="0"/>
                                </a:rPr>
                                <m:t>𝑒</m:t>
                              </m:r>
                            </m:e>
                            <m:sup>
                              <m:r>
                                <a:rPr lang="en-US" sz="1800" b="0" i="1" smtClean="0">
                                  <a:solidFill>
                                    <a:schemeClr val="tx1"/>
                                  </a:solidFill>
                                  <a:latin typeface="Cambria Math"/>
                                  <a:cs typeface="Times New Roman" pitchFamily="18" charset="0"/>
                                </a:rPr>
                                <m:t>−</m:t>
                              </m:r>
                              <m:r>
                                <a:rPr lang="en-US" sz="1800" i="1">
                                  <a:solidFill>
                                    <a:schemeClr val="tx1"/>
                                  </a:solidFill>
                                  <a:latin typeface="Cambria Math"/>
                                  <a:cs typeface="Times New Roman" pitchFamily="18" charset="0"/>
                                </a:rPr>
                                <m:t>1.22492</m:t>
                              </m:r>
                            </m:sup>
                          </m:sSup>
                        </m:den>
                      </m:f>
                      <m:r>
                        <a:rPr lang="en-US" sz="1800" b="0"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𝟎</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𝟕𝟕𝟐𝟗𝟐</m:t>
                      </m:r>
                      <m:r>
                        <a:rPr lang="en-US" sz="1800" b="1" i="0" smtClean="0">
                          <a:solidFill>
                            <a:schemeClr val="tx1"/>
                          </a:solidFill>
                          <a:latin typeface="Cambria Math"/>
                          <a:cs typeface="Times New Roman" pitchFamily="18" charset="0"/>
                        </a:rPr>
                        <m:t>𝟖</m:t>
                      </m:r>
                    </m:oMath>
                  </m:oMathPara>
                </a14:m>
                <a:endParaRPr lang="en-US" sz="1800" b="1" dirty="0">
                  <a:solidFill>
                    <a:schemeClr val="tx1"/>
                  </a:solidFill>
                  <a:latin typeface="Times New Roman" pitchFamily="18" charset="0"/>
                  <a:cs typeface="Times New Roman" pitchFamily="18" charset="0"/>
                </a:endParaRPr>
              </a:p>
            </p:txBody>
          </p:sp>
        </mc:Choice>
        <mc:Fallback xmlns="">
          <p:sp>
            <p:nvSpPr>
              <p:cNvPr id="9" name="Subtitle 2">
                <a:extLst>
                  <a:ext uri="{FF2B5EF4-FFF2-40B4-BE49-F238E27FC236}">
                    <a16:creationId xmlns:a16="http://schemas.microsoft.com/office/drawing/2014/main" xmlns:a14="http://schemas.microsoft.com/office/drawing/2010/main" xmlns="" id="{D6F78EE4-952C-15F5-5A5E-ECFC2F2EE2DE}"/>
                  </a:ext>
                </a:extLst>
              </p:cNvPr>
              <p:cNvSpPr txBox="1">
                <a:spLocks noRot="1" noChangeAspect="1" noMove="1" noResize="1" noEditPoints="1" noAdjustHandles="1" noChangeArrowheads="1" noChangeShapeType="1" noTextEdit="1"/>
              </p:cNvSpPr>
              <p:nvPr/>
            </p:nvSpPr>
            <p:spPr>
              <a:xfrm>
                <a:off x="457200" y="4876800"/>
                <a:ext cx="8229600" cy="1371600"/>
              </a:xfrm>
              <a:prstGeom prst="rect">
                <a:avLst/>
              </a:prstGeom>
              <a:blipFill rotWithShape="1">
                <a:blip r:embed="rId3"/>
                <a:stretch>
                  <a:fillRect l="-222" t="-2667"/>
                </a:stretch>
              </a:blipFill>
            </p:spPr>
            <p:txBody>
              <a:bodyPr/>
              <a:lstStyle/>
              <a:p>
                <a:r>
                  <a:rPr lang="en-US">
                    <a:noFill/>
                  </a:rPr>
                  <a:t> </a:t>
                </a:r>
              </a:p>
            </p:txBody>
          </p:sp>
        </mc:Fallback>
      </mc:AlternateContent>
    </p:spTree>
    <p:extLst>
      <p:ext uri="{BB962C8B-B14F-4D97-AF65-F5344CB8AC3E}">
        <p14:creationId xmlns:p14="http://schemas.microsoft.com/office/powerpoint/2010/main" val="26412493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422400" y="381001"/>
            <a:ext cx="88392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609600" y="1447800"/>
            <a:ext cx="72136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6404" y="2361946"/>
            <a:ext cx="8044441" cy="2306582"/>
          </a:xfrm>
          <a:prstGeom prst="rect">
            <a:avLst/>
          </a:prstGeom>
          <a:noFill/>
          <a:ln w="9525">
            <a:noFill/>
            <a:miter lim="800000"/>
            <a:headEnd/>
            <a:tailEnd/>
          </a:ln>
        </p:spPr>
      </p:pic>
      <p:sp>
        <p:nvSpPr>
          <p:cNvPr id="7" name="TextBox 6"/>
          <p:cNvSpPr txBox="1"/>
          <p:nvPr/>
        </p:nvSpPr>
        <p:spPr>
          <a:xfrm>
            <a:off x="2342750" y="6400801"/>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4" name="Rectangle 3"/>
          <p:cNvSpPr/>
          <p:nvPr/>
        </p:nvSpPr>
        <p:spPr>
          <a:xfrm>
            <a:off x="8565073" y="1905001"/>
            <a:ext cx="3149601" cy="2062103"/>
          </a:xfrm>
          <a:prstGeom prst="rect">
            <a:avLst/>
          </a:prstGeom>
          <a:solidFill>
            <a:schemeClr val="bg1">
              <a:lumMod val="85000"/>
            </a:schemeClr>
          </a:solidFill>
          <a:ln>
            <a:solidFill>
              <a:schemeClr val="accent1"/>
            </a:solidFill>
          </a:ln>
        </p:spPr>
        <p:txBody>
          <a:bodyPr wrap="square">
            <a:spAutoFit/>
          </a:bodyPr>
          <a:lstStyle/>
          <a:p>
            <a:pPr algn="just"/>
            <a:r>
              <a:rPr lang="en-US" sz="1600" dirty="0">
                <a:latin typeface="Times New Roman" pitchFamily="18" charset="0"/>
                <a:cs typeface="Times New Roman" pitchFamily="18" charset="0"/>
              </a:rPr>
              <a:t>Now, we will propagate backwards. This way we will try to reduce the error by changing the values of weights and biases.</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Consider </a:t>
            </a:r>
            <a:r>
              <a:rPr lang="en-US" sz="1600" b="1" dirty="0">
                <a:latin typeface="Times New Roman" pitchFamily="18" charset="0"/>
                <a:cs typeface="Times New Roman" pitchFamily="18" charset="0"/>
              </a:rPr>
              <a:t>w5</a:t>
            </a:r>
            <a:r>
              <a:rPr lang="en-US" sz="1600" dirty="0">
                <a:latin typeface="Times New Roman" pitchFamily="18" charset="0"/>
                <a:cs typeface="Times New Roman" pitchFamily="18" charset="0"/>
              </a:rPr>
              <a:t>, we will calculate the rate of change of error w.r.t change in weight </a:t>
            </a:r>
            <a:r>
              <a:rPr lang="en-US" sz="1600" b="1" dirty="0">
                <a:latin typeface="Times New Roman" pitchFamily="18" charset="0"/>
                <a:cs typeface="Times New Roman" pitchFamily="18" charset="0"/>
              </a:rPr>
              <a:t>w5</a:t>
            </a:r>
            <a:r>
              <a:rPr lang="en-US" sz="1600" dirty="0">
                <a:latin typeface="Times New Roman" pitchFamily="18" charset="0"/>
                <a:cs typeface="Times New Roman" pitchFamily="18" charset="0"/>
              </a:rPr>
              <a:t>.</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670" y="4687219"/>
            <a:ext cx="11544300" cy="17907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17620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422400" y="381001"/>
            <a:ext cx="88392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609600" y="1447800"/>
            <a:ext cx="72136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6404" y="2361946"/>
            <a:ext cx="8044441" cy="2306582"/>
          </a:xfrm>
          <a:prstGeom prst="rect">
            <a:avLst/>
          </a:prstGeom>
          <a:noFill/>
          <a:ln w="9525">
            <a:noFill/>
            <a:miter lim="800000"/>
            <a:headEnd/>
            <a:tailEnd/>
          </a:ln>
        </p:spPr>
      </p:pic>
      <p:sp>
        <p:nvSpPr>
          <p:cNvPr id="7" name="TextBox 6"/>
          <p:cNvSpPr txBox="1"/>
          <p:nvPr/>
        </p:nvSpPr>
        <p:spPr>
          <a:xfrm>
            <a:off x="2342750" y="6400801"/>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4" name="Rectangle 3"/>
          <p:cNvSpPr/>
          <p:nvPr/>
        </p:nvSpPr>
        <p:spPr>
          <a:xfrm>
            <a:off x="8565073" y="1905001"/>
            <a:ext cx="3149601" cy="1077218"/>
          </a:xfrm>
          <a:prstGeom prst="rect">
            <a:avLst/>
          </a:prstGeom>
          <a:solidFill>
            <a:schemeClr val="bg1">
              <a:lumMod val="85000"/>
            </a:schemeClr>
          </a:solidFill>
          <a:ln>
            <a:solidFill>
              <a:schemeClr val="accent1"/>
            </a:solidFill>
          </a:ln>
        </p:spPr>
        <p:txBody>
          <a:bodyPr wrap="square">
            <a:spAutoFit/>
          </a:bodyPr>
          <a:lstStyle/>
          <a:p>
            <a:pPr algn="just"/>
            <a:r>
              <a:rPr lang="en-US" sz="1600" dirty="0">
                <a:latin typeface="Times New Roman" pitchFamily="18" charset="0"/>
                <a:cs typeface="Times New Roman" pitchFamily="18" charset="0"/>
              </a:rPr>
              <a:t>Since we are propagating backwards, first thing we need to do is, calculate the change in total errors w.r.t the output </a:t>
            </a:r>
            <a:r>
              <a:rPr lang="en-US" sz="1600" b="1" dirty="0">
                <a:latin typeface="Times New Roman" pitchFamily="18" charset="0"/>
                <a:cs typeface="Times New Roman" pitchFamily="18" charset="0"/>
              </a:rPr>
              <a:t>o1</a:t>
            </a:r>
            <a:r>
              <a:rPr lang="en-US" sz="1600" dirty="0">
                <a:latin typeface="Times New Roman" pitchFamily="18" charset="0"/>
                <a:cs typeface="Times New Roman" pitchFamily="18" charset="0"/>
              </a:rPr>
              <a:t> and </a:t>
            </a:r>
            <a:r>
              <a:rPr lang="en-US" sz="1600" b="1" dirty="0">
                <a:latin typeface="Times New Roman" pitchFamily="18" charset="0"/>
                <a:cs typeface="Times New Roman" pitchFamily="18" charset="0"/>
              </a:rPr>
              <a:t>o2</a:t>
            </a:r>
            <a:r>
              <a:rPr lang="en-US" sz="1600" dirty="0">
                <a:latin typeface="Times New Roman" pitchFamily="18" charset="0"/>
                <a:cs typeface="Times New Roman" pitchFamily="18" charset="0"/>
              </a:rPr>
              <a:t>.</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2400" y="5224849"/>
            <a:ext cx="985520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4405" y="3886201"/>
            <a:ext cx="499110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Arrow Connector 10"/>
          <p:cNvCxnSpPr/>
          <p:nvPr/>
        </p:nvCxnSpPr>
        <p:spPr>
          <a:xfrm flipH="1">
            <a:off x="7784860" y="4714652"/>
            <a:ext cx="741872" cy="513072"/>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760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422400" y="381001"/>
            <a:ext cx="88392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609600" y="1447800"/>
            <a:ext cx="72136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6404" y="2361946"/>
            <a:ext cx="8044441" cy="2306582"/>
          </a:xfrm>
          <a:prstGeom prst="rect">
            <a:avLst/>
          </a:prstGeom>
          <a:noFill/>
          <a:ln w="9525">
            <a:noFill/>
            <a:miter lim="800000"/>
            <a:headEnd/>
            <a:tailEnd/>
          </a:ln>
        </p:spPr>
      </p:pic>
      <p:sp>
        <p:nvSpPr>
          <p:cNvPr id="7" name="TextBox 6"/>
          <p:cNvSpPr txBox="1"/>
          <p:nvPr/>
        </p:nvSpPr>
        <p:spPr>
          <a:xfrm>
            <a:off x="2342750" y="6400801"/>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4" name="Rectangle 3"/>
          <p:cNvSpPr/>
          <p:nvPr/>
        </p:nvSpPr>
        <p:spPr>
          <a:xfrm>
            <a:off x="8565073" y="1905001"/>
            <a:ext cx="3149601" cy="1077218"/>
          </a:xfrm>
          <a:prstGeom prst="rect">
            <a:avLst/>
          </a:prstGeom>
          <a:solidFill>
            <a:schemeClr val="bg1">
              <a:lumMod val="85000"/>
            </a:schemeClr>
          </a:solidFill>
          <a:ln>
            <a:solidFill>
              <a:schemeClr val="accent1"/>
            </a:solidFill>
          </a:ln>
        </p:spPr>
        <p:txBody>
          <a:bodyPr wrap="square">
            <a:spAutoFit/>
          </a:bodyPr>
          <a:lstStyle/>
          <a:p>
            <a:pPr algn="just"/>
            <a:r>
              <a:rPr lang="en-US" sz="1600" dirty="0">
                <a:latin typeface="Times New Roman" pitchFamily="18" charset="0"/>
                <a:cs typeface="Times New Roman" pitchFamily="18" charset="0"/>
              </a:rPr>
              <a:t>Now, we will propagate further backwards and calculate the change in output </a:t>
            </a:r>
            <a:r>
              <a:rPr lang="en-US" sz="1600" b="1" dirty="0">
                <a:latin typeface="Times New Roman" pitchFamily="18" charset="0"/>
                <a:cs typeface="Times New Roman" pitchFamily="18" charset="0"/>
              </a:rPr>
              <a:t>o1</a:t>
            </a:r>
            <a:r>
              <a:rPr lang="en-US" sz="1600" dirty="0">
                <a:latin typeface="Times New Roman" pitchFamily="18" charset="0"/>
                <a:cs typeface="Times New Roman" pitchFamily="18" charset="0"/>
              </a:rPr>
              <a:t> w.r.t to its total net input.</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4405" y="3886201"/>
            <a:ext cx="499110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Arrow Connector 10"/>
          <p:cNvCxnSpPr/>
          <p:nvPr/>
        </p:nvCxnSpPr>
        <p:spPr>
          <a:xfrm flipH="1">
            <a:off x="8940801" y="4714652"/>
            <a:ext cx="812801" cy="513072"/>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519" y="5334000"/>
            <a:ext cx="113284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24131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422400" y="381001"/>
            <a:ext cx="88392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609600" y="1447800"/>
            <a:ext cx="72136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6404" y="2361946"/>
            <a:ext cx="8044441" cy="2306582"/>
          </a:xfrm>
          <a:prstGeom prst="rect">
            <a:avLst/>
          </a:prstGeom>
          <a:noFill/>
          <a:ln w="9525">
            <a:noFill/>
            <a:miter lim="800000"/>
            <a:headEnd/>
            <a:tailEnd/>
          </a:ln>
        </p:spPr>
      </p:pic>
      <p:sp>
        <p:nvSpPr>
          <p:cNvPr id="7" name="TextBox 6"/>
          <p:cNvSpPr txBox="1"/>
          <p:nvPr/>
        </p:nvSpPr>
        <p:spPr>
          <a:xfrm>
            <a:off x="2342750" y="6400801"/>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4" name="Rectangle 3"/>
          <p:cNvSpPr/>
          <p:nvPr/>
        </p:nvSpPr>
        <p:spPr>
          <a:xfrm>
            <a:off x="8565073" y="1905001"/>
            <a:ext cx="3149601" cy="830997"/>
          </a:xfrm>
          <a:prstGeom prst="rect">
            <a:avLst/>
          </a:prstGeom>
          <a:solidFill>
            <a:schemeClr val="bg1">
              <a:lumMod val="85000"/>
            </a:schemeClr>
          </a:solidFill>
          <a:ln>
            <a:solidFill>
              <a:schemeClr val="accent1"/>
            </a:solidFill>
          </a:ln>
        </p:spPr>
        <p:txBody>
          <a:bodyPr wrap="square">
            <a:spAutoFit/>
          </a:bodyPr>
          <a:lstStyle/>
          <a:p>
            <a:pPr algn="just"/>
            <a:r>
              <a:rPr lang="en-US" sz="1600" dirty="0">
                <a:latin typeface="Times New Roman" pitchFamily="18" charset="0"/>
                <a:cs typeface="Times New Roman" pitchFamily="18" charset="0"/>
              </a:rPr>
              <a:t>Let’s see now how much does the total net input of </a:t>
            </a:r>
            <a:r>
              <a:rPr lang="en-US" sz="1600" b="1" dirty="0">
                <a:latin typeface="Times New Roman" pitchFamily="18" charset="0"/>
                <a:cs typeface="Times New Roman" pitchFamily="18" charset="0"/>
              </a:rPr>
              <a:t>o1</a:t>
            </a:r>
            <a:r>
              <a:rPr lang="en-US" sz="1600" dirty="0">
                <a:latin typeface="Times New Roman" pitchFamily="18" charset="0"/>
                <a:cs typeface="Times New Roman" pitchFamily="18" charset="0"/>
              </a:rPr>
              <a:t> changes w.r.t  </a:t>
            </a:r>
            <a:r>
              <a:rPr lang="en-US" sz="1600" b="1" dirty="0">
                <a:latin typeface="Times New Roman" pitchFamily="18" charset="0"/>
                <a:cs typeface="Times New Roman" pitchFamily="18" charset="0"/>
              </a:rPr>
              <a:t>w5</a:t>
            </a:r>
            <a:r>
              <a:rPr lang="en-US" sz="1600" dirty="0">
                <a:latin typeface="Times New Roman" pitchFamily="18" charset="0"/>
                <a:cs typeface="Times New Roman" pitchFamily="18" charset="0"/>
              </a:rPr>
              <a:t>?</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4405" y="3886201"/>
            <a:ext cx="499110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Arrow Connector 10"/>
          <p:cNvCxnSpPr/>
          <p:nvPr/>
        </p:nvCxnSpPr>
        <p:spPr>
          <a:xfrm flipH="1">
            <a:off x="10566401" y="4714652"/>
            <a:ext cx="304801" cy="628154"/>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404" y="5342807"/>
            <a:ext cx="8636000" cy="10191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02001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422400" y="381001"/>
            <a:ext cx="88392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609600" y="1447800"/>
            <a:ext cx="72136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6404" y="2361946"/>
            <a:ext cx="8044441" cy="2306582"/>
          </a:xfrm>
          <a:prstGeom prst="rect">
            <a:avLst/>
          </a:prstGeom>
          <a:noFill/>
          <a:ln w="9525">
            <a:noFill/>
            <a:miter lim="800000"/>
            <a:headEnd/>
            <a:tailEnd/>
          </a:ln>
        </p:spPr>
      </p:pic>
      <p:sp>
        <p:nvSpPr>
          <p:cNvPr id="7" name="TextBox 6"/>
          <p:cNvSpPr txBox="1"/>
          <p:nvPr/>
        </p:nvSpPr>
        <p:spPr>
          <a:xfrm>
            <a:off x="2342750" y="6400801"/>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4" name="Rectangle 3"/>
          <p:cNvSpPr/>
          <p:nvPr/>
        </p:nvSpPr>
        <p:spPr>
          <a:xfrm>
            <a:off x="8565073" y="1905001"/>
            <a:ext cx="3149601" cy="830997"/>
          </a:xfrm>
          <a:prstGeom prst="rect">
            <a:avLst/>
          </a:prstGeom>
          <a:solidFill>
            <a:schemeClr val="bg1">
              <a:lumMod val="85000"/>
            </a:schemeClr>
          </a:solidFill>
          <a:ln>
            <a:solidFill>
              <a:schemeClr val="accent1"/>
            </a:solidFill>
          </a:ln>
        </p:spPr>
        <p:txBody>
          <a:bodyPr wrap="square">
            <a:spAutoFit/>
          </a:bodyPr>
          <a:lstStyle/>
          <a:p>
            <a:pPr algn="just"/>
            <a:r>
              <a:rPr lang="en-US" sz="1600" dirty="0">
                <a:latin typeface="Times New Roman" pitchFamily="18" charset="0"/>
                <a:cs typeface="Times New Roman" pitchFamily="18" charset="0"/>
              </a:rPr>
              <a:t>Putting all the values together and calculating the updated weight value</a:t>
            </a:r>
          </a:p>
        </p:txBody>
      </p:sp>
      <p:pic>
        <p:nvPicPr>
          <p:cNvPr id="10" name="Picture 9"/>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30908" y="5029200"/>
            <a:ext cx="11730181" cy="841776"/>
          </a:xfrm>
          <a:prstGeom prst="rect">
            <a:avLst/>
          </a:prstGeom>
        </p:spPr>
      </p:pic>
    </p:spTree>
    <p:extLst>
      <p:ext uri="{BB962C8B-B14F-4D97-AF65-F5344CB8AC3E}">
        <p14:creationId xmlns:p14="http://schemas.microsoft.com/office/powerpoint/2010/main" val="27526910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422400" y="381001"/>
            <a:ext cx="88392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609600" y="1447800"/>
            <a:ext cx="72136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6404" y="2361948"/>
            <a:ext cx="8044441" cy="2306581"/>
          </a:xfrm>
          <a:prstGeom prst="rect">
            <a:avLst/>
          </a:prstGeom>
          <a:noFill/>
          <a:ln w="9525">
            <a:noFill/>
            <a:miter lim="800000"/>
            <a:headEnd/>
            <a:tailEnd/>
          </a:ln>
        </p:spPr>
      </p:pic>
      <p:sp>
        <p:nvSpPr>
          <p:cNvPr id="7" name="TextBox 6"/>
          <p:cNvSpPr txBox="1"/>
          <p:nvPr/>
        </p:nvSpPr>
        <p:spPr>
          <a:xfrm>
            <a:off x="2342750" y="6400801"/>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4" name="Rectangle 3"/>
          <p:cNvSpPr/>
          <p:nvPr/>
        </p:nvSpPr>
        <p:spPr>
          <a:xfrm>
            <a:off x="8565073" y="1905001"/>
            <a:ext cx="3149601" cy="584775"/>
          </a:xfrm>
          <a:prstGeom prst="rect">
            <a:avLst/>
          </a:prstGeom>
          <a:solidFill>
            <a:schemeClr val="bg1">
              <a:lumMod val="85000"/>
            </a:schemeClr>
          </a:solidFill>
          <a:ln>
            <a:solidFill>
              <a:schemeClr val="accent1"/>
            </a:solidFill>
          </a:ln>
        </p:spPr>
        <p:txBody>
          <a:bodyPr wrap="square">
            <a:spAutoFit/>
          </a:bodyPr>
          <a:lstStyle/>
          <a:p>
            <a:pPr algn="just"/>
            <a:r>
              <a:rPr lang="en-US" sz="1600" dirty="0">
                <a:latin typeface="Times New Roman" pitchFamily="18" charset="0"/>
                <a:cs typeface="Times New Roman" pitchFamily="18" charset="0"/>
              </a:rPr>
              <a:t>Let’s calculate the updated value of </a:t>
            </a:r>
            <a:r>
              <a:rPr lang="en-US" sz="1600" b="1" dirty="0">
                <a:latin typeface="Times New Roman" pitchFamily="18" charset="0"/>
                <a:cs typeface="Times New Roman" pitchFamily="18" charset="0"/>
              </a:rPr>
              <a:t>w5</a:t>
            </a:r>
            <a:r>
              <a:rPr lang="en-US" sz="1600" dirty="0">
                <a:latin typeface="Times New Roman" pitchFamily="18" charset="0"/>
                <a:cs typeface="Times New Roman" pitchFamily="18" charset="0"/>
              </a:rPr>
              <a:t>:</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0000" y="4668528"/>
            <a:ext cx="8661400" cy="1551410"/>
          </a:xfrm>
          <a:prstGeom prst="rect">
            <a:avLst/>
          </a:prstGeom>
        </p:spPr>
      </p:pic>
    </p:spTree>
    <p:extLst>
      <p:ext uri="{BB962C8B-B14F-4D97-AF65-F5344CB8AC3E}">
        <p14:creationId xmlns:p14="http://schemas.microsoft.com/office/powerpoint/2010/main" val="33079450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422400" y="381001"/>
            <a:ext cx="88392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609600" y="1447800"/>
            <a:ext cx="72136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6404" y="2361948"/>
            <a:ext cx="8044441" cy="2306581"/>
          </a:xfrm>
          <a:prstGeom prst="rect">
            <a:avLst/>
          </a:prstGeom>
          <a:noFill/>
          <a:ln w="9525">
            <a:noFill/>
            <a:miter lim="800000"/>
            <a:headEnd/>
            <a:tailEnd/>
          </a:ln>
        </p:spPr>
      </p:pic>
      <p:sp>
        <p:nvSpPr>
          <p:cNvPr id="7" name="TextBox 6"/>
          <p:cNvSpPr txBox="1"/>
          <p:nvPr/>
        </p:nvSpPr>
        <p:spPr>
          <a:xfrm>
            <a:off x="2342750" y="6400801"/>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pic>
        <p:nvPicPr>
          <p:cNvPr id="9" name="Picture 8">
            <a:extLst>
              <a:ext uri="{FF2B5EF4-FFF2-40B4-BE49-F238E27FC236}">
                <a16:creationId xmlns:a16="http://schemas.microsoft.com/office/drawing/2014/main" id="{EDA88198-33B8-78AA-3884-5F9F193730A3}"/>
              </a:ext>
            </a:extLst>
          </p:cNvPr>
          <p:cNvPicPr>
            <a:picLocks noChangeAspect="1"/>
          </p:cNvPicPr>
          <p:nvPr/>
        </p:nvPicPr>
        <p:blipFill>
          <a:blip r:embed="rId3"/>
          <a:stretch>
            <a:fillRect/>
          </a:stretch>
        </p:blipFill>
        <p:spPr>
          <a:xfrm>
            <a:off x="1524000" y="4604263"/>
            <a:ext cx="9387421" cy="1823854"/>
          </a:xfrm>
          <a:prstGeom prst="rect">
            <a:avLst/>
          </a:prstGeom>
          <a:ln>
            <a:solidFill>
              <a:schemeClr val="accent1"/>
            </a:solidFill>
          </a:ln>
        </p:spPr>
      </p:pic>
    </p:spTree>
    <p:extLst>
      <p:ext uri="{BB962C8B-B14F-4D97-AF65-F5344CB8AC3E}">
        <p14:creationId xmlns:p14="http://schemas.microsoft.com/office/powerpoint/2010/main" val="4192472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422400" y="381001"/>
            <a:ext cx="88392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609600" y="1447800"/>
            <a:ext cx="72136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6404" y="2361948"/>
            <a:ext cx="8044441" cy="2306581"/>
          </a:xfrm>
          <a:prstGeom prst="rect">
            <a:avLst/>
          </a:prstGeom>
          <a:noFill/>
          <a:ln w="9525">
            <a:noFill/>
            <a:miter lim="800000"/>
            <a:headEnd/>
            <a:tailEnd/>
          </a:ln>
        </p:spPr>
      </p:pic>
      <p:sp>
        <p:nvSpPr>
          <p:cNvPr id="7" name="TextBox 6"/>
          <p:cNvSpPr txBox="1"/>
          <p:nvPr/>
        </p:nvSpPr>
        <p:spPr>
          <a:xfrm>
            <a:off x="2342750" y="6400801"/>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3" name="Rectangle 2"/>
          <p:cNvSpPr/>
          <p:nvPr/>
        </p:nvSpPr>
        <p:spPr>
          <a:xfrm>
            <a:off x="406403" y="4668528"/>
            <a:ext cx="11480797" cy="1200329"/>
          </a:xfrm>
          <a:prstGeom prst="rect">
            <a:avLst/>
          </a:prstGeom>
        </p:spPr>
        <p:txBody>
          <a:bodyPr wrap="square">
            <a:spAutoFit/>
          </a:bodyPr>
          <a:lstStyle/>
          <a:p>
            <a:pPr marL="285750" indent="-285750">
              <a:buFont typeface="Arial" pitchFamily="34" charset="0"/>
              <a:buChar char="•"/>
            </a:pPr>
            <a:r>
              <a:rPr lang="en-US" dirty="0">
                <a:latin typeface="Times New Roman" pitchFamily="18" charset="0"/>
                <a:cs typeface="Times New Roman" pitchFamily="18" charset="0"/>
              </a:rPr>
              <a:t>Similarly, we can calculate the other weight values as well.</a:t>
            </a:r>
          </a:p>
          <a:p>
            <a:pPr marL="285750" indent="-285750">
              <a:buFont typeface="Arial" pitchFamily="34" charset="0"/>
              <a:buChar char="•"/>
            </a:pPr>
            <a:r>
              <a:rPr lang="en-US" dirty="0">
                <a:latin typeface="Times New Roman" pitchFamily="18" charset="0"/>
                <a:cs typeface="Times New Roman" pitchFamily="18" charset="0"/>
              </a:rPr>
              <a:t>After that we will again propagate forward and calculate the output. Again, we will calculate the error.</a:t>
            </a:r>
          </a:p>
          <a:p>
            <a:pPr marL="285750" indent="-285750">
              <a:buFont typeface="Arial" pitchFamily="34" charset="0"/>
              <a:buChar char="•"/>
            </a:pPr>
            <a:r>
              <a:rPr lang="en-US" dirty="0">
                <a:latin typeface="Times New Roman" pitchFamily="18" charset="0"/>
                <a:cs typeface="Times New Roman" pitchFamily="18" charset="0"/>
              </a:rPr>
              <a:t>If the error is minimum we will stop right there, else we will again propagate backwards and update the weight values.</a:t>
            </a:r>
          </a:p>
          <a:p>
            <a:pPr marL="285750" indent="-285750">
              <a:buFont typeface="Arial" pitchFamily="34" charset="0"/>
              <a:buChar char="•"/>
            </a:pPr>
            <a:r>
              <a:rPr lang="en-US" dirty="0">
                <a:latin typeface="Times New Roman" pitchFamily="18" charset="0"/>
                <a:cs typeface="Times New Roman" pitchFamily="18" charset="0"/>
              </a:rPr>
              <a:t>This process will keep on repeating until error becomes minimum.</a:t>
            </a:r>
          </a:p>
        </p:txBody>
      </p:sp>
    </p:spTree>
    <p:extLst>
      <p:ext uri="{BB962C8B-B14F-4D97-AF65-F5344CB8AC3E}">
        <p14:creationId xmlns:p14="http://schemas.microsoft.com/office/powerpoint/2010/main" val="18987401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E59A623-4F1B-0665-EF18-3CAFC5E7E133}"/>
              </a:ext>
            </a:extLst>
          </p:cNvPr>
          <p:cNvPicPr>
            <a:picLocks noChangeAspect="1"/>
          </p:cNvPicPr>
          <p:nvPr/>
        </p:nvPicPr>
        <p:blipFill>
          <a:blip r:embed="rId2"/>
          <a:stretch>
            <a:fillRect/>
          </a:stretch>
        </p:blipFill>
        <p:spPr>
          <a:xfrm>
            <a:off x="4417996" y="1371707"/>
            <a:ext cx="6257479" cy="5050972"/>
          </a:xfrm>
          <a:prstGeom prst="rect">
            <a:avLst/>
          </a:prstGeom>
        </p:spPr>
      </p:pic>
      <p:sp>
        <p:nvSpPr>
          <p:cNvPr id="8" name="TextBox 7">
            <a:extLst>
              <a:ext uri="{FF2B5EF4-FFF2-40B4-BE49-F238E27FC236}">
                <a16:creationId xmlns:a16="http://schemas.microsoft.com/office/drawing/2014/main" id="{338F94B4-79C0-3DDF-CBE8-40388461DB03}"/>
              </a:ext>
            </a:extLst>
          </p:cNvPr>
          <p:cNvSpPr txBox="1"/>
          <p:nvPr/>
        </p:nvSpPr>
        <p:spPr>
          <a:xfrm>
            <a:off x="1595394" y="2459505"/>
            <a:ext cx="2822602" cy="1200329"/>
          </a:xfrm>
          <a:prstGeom prst="rect">
            <a:avLst/>
          </a:prstGeom>
          <a:noFill/>
        </p:spPr>
        <p:txBody>
          <a:bodyPr wrap="square">
            <a:spAutoFit/>
          </a:bodyPr>
          <a:lstStyle/>
          <a:p>
            <a:r>
              <a:rPr lang="en-US" dirty="0"/>
              <a:t>Next, we’ll continue the backwards pass by calculating new values for w1, w2, w3 and w4</a:t>
            </a:r>
            <a:endParaRPr lang="en-GB" dirty="0"/>
          </a:p>
        </p:txBody>
      </p:sp>
      <p:sp>
        <p:nvSpPr>
          <p:cNvPr id="5" name="Title 1">
            <a:extLst>
              <a:ext uri="{FF2B5EF4-FFF2-40B4-BE49-F238E27FC236}">
                <a16:creationId xmlns:a16="http://schemas.microsoft.com/office/drawing/2014/main" id="{F4A5BA3F-AEC6-4EC0-5664-4664B5C51C1F}"/>
              </a:ext>
            </a:extLst>
          </p:cNvPr>
          <p:cNvSpPr>
            <a:spLocks noGrp="1"/>
          </p:cNvSpPr>
          <p:nvPr>
            <p:ph type="ctrTitle"/>
          </p:nvPr>
        </p:nvSpPr>
        <p:spPr>
          <a:xfrm>
            <a:off x="1982248" y="620210"/>
            <a:ext cx="7808976" cy="460239"/>
          </a:xfrm>
        </p:spPr>
        <p:txBody>
          <a:bodyPr>
            <a:noAutofit/>
          </a:bodyPr>
          <a:lstStyle/>
          <a:p>
            <a:r>
              <a:rPr lang="en-US" sz="2900" b="1" dirty="0">
                <a:latin typeface="Times New Roman" panose="02020603050405020304" pitchFamily="18" charset="0"/>
                <a:ea typeface="+mn-ea"/>
                <a:cs typeface="Times New Roman" panose="02020603050405020304" pitchFamily="18" charset="0"/>
              </a:rPr>
              <a:t>Learning using Back Propagation</a:t>
            </a:r>
          </a:p>
        </p:txBody>
      </p:sp>
    </p:spTree>
    <p:extLst>
      <p:ext uri="{BB962C8B-B14F-4D97-AF65-F5344CB8AC3E}">
        <p14:creationId xmlns:p14="http://schemas.microsoft.com/office/powerpoint/2010/main" val="12121804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621BEB-5230-2779-574D-E832D739F1AE}"/>
              </a:ext>
            </a:extLst>
          </p:cNvPr>
          <p:cNvPicPr>
            <a:picLocks noChangeAspect="1"/>
          </p:cNvPicPr>
          <p:nvPr/>
        </p:nvPicPr>
        <p:blipFill>
          <a:blip r:embed="rId2"/>
          <a:stretch>
            <a:fillRect/>
          </a:stretch>
        </p:blipFill>
        <p:spPr>
          <a:xfrm>
            <a:off x="2791967" y="1437507"/>
            <a:ext cx="7255313" cy="4800283"/>
          </a:xfrm>
          <a:prstGeom prst="rect">
            <a:avLst/>
          </a:prstGeom>
        </p:spPr>
      </p:pic>
      <p:sp>
        <p:nvSpPr>
          <p:cNvPr id="6" name="Title 1">
            <a:extLst>
              <a:ext uri="{FF2B5EF4-FFF2-40B4-BE49-F238E27FC236}">
                <a16:creationId xmlns:a16="http://schemas.microsoft.com/office/drawing/2014/main" id="{AC4799EA-F92C-9EAE-D45A-5F49ADBC8592}"/>
              </a:ext>
            </a:extLst>
          </p:cNvPr>
          <p:cNvSpPr>
            <a:spLocks noGrp="1"/>
          </p:cNvSpPr>
          <p:nvPr>
            <p:ph type="ctrTitle"/>
          </p:nvPr>
        </p:nvSpPr>
        <p:spPr>
          <a:xfrm>
            <a:off x="1982248" y="620210"/>
            <a:ext cx="7808976" cy="460239"/>
          </a:xfrm>
        </p:spPr>
        <p:txBody>
          <a:bodyPr>
            <a:noAutofit/>
          </a:bodyPr>
          <a:lstStyle/>
          <a:p>
            <a:r>
              <a:rPr lang="en-US" sz="2900" b="1" dirty="0">
                <a:latin typeface="Times New Roman" panose="02020603050405020304" pitchFamily="18" charset="0"/>
                <a:ea typeface="+mn-ea"/>
                <a:cs typeface="Times New Roman" panose="02020603050405020304" pitchFamily="18" charset="0"/>
              </a:rPr>
              <a:t>Learning using Back Propagation</a:t>
            </a:r>
          </a:p>
        </p:txBody>
      </p:sp>
    </p:spTree>
    <p:extLst>
      <p:ext uri="{BB962C8B-B14F-4D97-AF65-F5344CB8AC3E}">
        <p14:creationId xmlns:p14="http://schemas.microsoft.com/office/powerpoint/2010/main" val="9181306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E13DD6-D7F6-1402-9656-04DE6662FC06}"/>
              </a:ext>
            </a:extLst>
          </p:cNvPr>
          <p:cNvPicPr>
            <a:picLocks noChangeAspect="1"/>
          </p:cNvPicPr>
          <p:nvPr/>
        </p:nvPicPr>
        <p:blipFill>
          <a:blip r:embed="rId2"/>
          <a:stretch>
            <a:fillRect/>
          </a:stretch>
        </p:blipFill>
        <p:spPr>
          <a:xfrm>
            <a:off x="2529825" y="1926607"/>
            <a:ext cx="7132349" cy="3813242"/>
          </a:xfrm>
          <a:prstGeom prst="rect">
            <a:avLst/>
          </a:prstGeom>
        </p:spPr>
      </p:pic>
      <p:sp>
        <p:nvSpPr>
          <p:cNvPr id="6" name="Title 1">
            <a:extLst>
              <a:ext uri="{FF2B5EF4-FFF2-40B4-BE49-F238E27FC236}">
                <a16:creationId xmlns:a16="http://schemas.microsoft.com/office/drawing/2014/main" id="{099DDBCA-A013-9598-4AAE-75F868AF6146}"/>
              </a:ext>
            </a:extLst>
          </p:cNvPr>
          <p:cNvSpPr>
            <a:spLocks noGrp="1"/>
          </p:cNvSpPr>
          <p:nvPr>
            <p:ph type="ctrTitle"/>
          </p:nvPr>
        </p:nvSpPr>
        <p:spPr>
          <a:xfrm>
            <a:off x="1982248" y="620210"/>
            <a:ext cx="7808976" cy="460239"/>
          </a:xfrm>
        </p:spPr>
        <p:txBody>
          <a:bodyPr>
            <a:noAutofit/>
          </a:bodyPr>
          <a:lstStyle/>
          <a:p>
            <a:r>
              <a:rPr lang="en-US" sz="2900" b="1" dirty="0">
                <a:latin typeface="Times New Roman" panose="02020603050405020304" pitchFamily="18" charset="0"/>
                <a:ea typeface="+mn-ea"/>
                <a:cs typeface="Times New Roman" panose="02020603050405020304" pitchFamily="18" charset="0"/>
              </a:rPr>
              <a:t>Learning using Back Propagation</a:t>
            </a:r>
          </a:p>
        </p:txBody>
      </p:sp>
    </p:spTree>
    <p:extLst>
      <p:ext uri="{BB962C8B-B14F-4D97-AF65-F5344CB8AC3E}">
        <p14:creationId xmlns:p14="http://schemas.microsoft.com/office/powerpoint/2010/main" val="4212781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439544-34CA-5DFF-C602-06E2316BC309}"/>
              </a:ext>
            </a:extLst>
          </p:cNvPr>
          <p:cNvPicPr>
            <a:picLocks noChangeAspect="1"/>
          </p:cNvPicPr>
          <p:nvPr/>
        </p:nvPicPr>
        <p:blipFill>
          <a:blip r:embed="rId2"/>
          <a:stretch>
            <a:fillRect/>
          </a:stretch>
        </p:blipFill>
        <p:spPr>
          <a:xfrm>
            <a:off x="2421538" y="1709822"/>
            <a:ext cx="6930395" cy="4308556"/>
          </a:xfrm>
          <a:prstGeom prst="rect">
            <a:avLst/>
          </a:prstGeom>
        </p:spPr>
      </p:pic>
      <p:sp>
        <p:nvSpPr>
          <p:cNvPr id="6" name="Title 1">
            <a:extLst>
              <a:ext uri="{FF2B5EF4-FFF2-40B4-BE49-F238E27FC236}">
                <a16:creationId xmlns:a16="http://schemas.microsoft.com/office/drawing/2014/main" id="{46E57040-9BF1-5A64-296B-F7C85AEE8B5A}"/>
              </a:ext>
            </a:extLst>
          </p:cNvPr>
          <p:cNvSpPr>
            <a:spLocks noGrp="1"/>
          </p:cNvSpPr>
          <p:nvPr>
            <p:ph type="ctrTitle"/>
          </p:nvPr>
        </p:nvSpPr>
        <p:spPr>
          <a:xfrm>
            <a:off x="1982248" y="620210"/>
            <a:ext cx="7808976" cy="460239"/>
          </a:xfrm>
        </p:spPr>
        <p:txBody>
          <a:bodyPr>
            <a:noAutofit/>
          </a:bodyPr>
          <a:lstStyle/>
          <a:p>
            <a:r>
              <a:rPr lang="en-US" sz="2900" b="1" dirty="0">
                <a:latin typeface="Times New Roman" panose="02020603050405020304" pitchFamily="18" charset="0"/>
                <a:ea typeface="+mn-ea"/>
                <a:cs typeface="Times New Roman" panose="02020603050405020304" pitchFamily="18" charset="0"/>
              </a:rPr>
              <a:t>Learning using Back Propagation</a:t>
            </a:r>
          </a:p>
        </p:txBody>
      </p:sp>
    </p:spTree>
    <p:extLst>
      <p:ext uri="{BB962C8B-B14F-4D97-AF65-F5344CB8AC3E}">
        <p14:creationId xmlns:p14="http://schemas.microsoft.com/office/powerpoint/2010/main" val="27981341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7AA25A-561E-024A-4E8F-DE65F44817B4}"/>
              </a:ext>
            </a:extLst>
          </p:cNvPr>
          <p:cNvPicPr>
            <a:picLocks noChangeAspect="1"/>
          </p:cNvPicPr>
          <p:nvPr/>
        </p:nvPicPr>
        <p:blipFill>
          <a:blip r:embed="rId2"/>
          <a:stretch>
            <a:fillRect/>
          </a:stretch>
        </p:blipFill>
        <p:spPr>
          <a:xfrm>
            <a:off x="1861825" y="2146234"/>
            <a:ext cx="5307871" cy="1707309"/>
          </a:xfrm>
          <a:prstGeom prst="rect">
            <a:avLst/>
          </a:prstGeom>
        </p:spPr>
      </p:pic>
      <p:pic>
        <p:nvPicPr>
          <p:cNvPr id="9" name="Picture 8">
            <a:extLst>
              <a:ext uri="{FF2B5EF4-FFF2-40B4-BE49-F238E27FC236}">
                <a16:creationId xmlns:a16="http://schemas.microsoft.com/office/drawing/2014/main" id="{CA5B3E38-FDCB-780A-DF18-BD2BB1581EA2}"/>
              </a:ext>
            </a:extLst>
          </p:cNvPr>
          <p:cNvPicPr>
            <a:picLocks noChangeAspect="1"/>
          </p:cNvPicPr>
          <p:nvPr/>
        </p:nvPicPr>
        <p:blipFill>
          <a:blip r:embed="rId3"/>
          <a:stretch>
            <a:fillRect/>
          </a:stretch>
        </p:blipFill>
        <p:spPr>
          <a:xfrm>
            <a:off x="1945341" y="4005411"/>
            <a:ext cx="8069286" cy="1611619"/>
          </a:xfrm>
          <a:prstGeom prst="rect">
            <a:avLst/>
          </a:prstGeom>
        </p:spPr>
      </p:pic>
      <p:sp>
        <p:nvSpPr>
          <p:cNvPr id="6" name="Title 1">
            <a:extLst>
              <a:ext uri="{FF2B5EF4-FFF2-40B4-BE49-F238E27FC236}">
                <a16:creationId xmlns:a16="http://schemas.microsoft.com/office/drawing/2014/main" id="{70E5ABA7-1482-2654-E725-8C0CBB8B3EF0}"/>
              </a:ext>
            </a:extLst>
          </p:cNvPr>
          <p:cNvSpPr>
            <a:spLocks noGrp="1"/>
          </p:cNvSpPr>
          <p:nvPr>
            <p:ph type="ctrTitle"/>
          </p:nvPr>
        </p:nvSpPr>
        <p:spPr>
          <a:xfrm>
            <a:off x="1982248" y="620210"/>
            <a:ext cx="7808976" cy="460239"/>
          </a:xfrm>
        </p:spPr>
        <p:txBody>
          <a:bodyPr>
            <a:noAutofit/>
          </a:bodyPr>
          <a:lstStyle/>
          <a:p>
            <a:r>
              <a:rPr lang="en-US" sz="2900" b="1" dirty="0">
                <a:latin typeface="Times New Roman" panose="02020603050405020304" pitchFamily="18" charset="0"/>
                <a:ea typeface="+mn-ea"/>
                <a:cs typeface="Times New Roman" panose="02020603050405020304" pitchFamily="18" charset="0"/>
              </a:rPr>
              <a:t>Learning using Back Propagation</a:t>
            </a:r>
          </a:p>
        </p:txBody>
      </p:sp>
    </p:spTree>
    <p:extLst>
      <p:ext uri="{BB962C8B-B14F-4D97-AF65-F5344CB8AC3E}">
        <p14:creationId xmlns:p14="http://schemas.microsoft.com/office/powerpoint/2010/main" val="21140605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1DAE2D-5878-29BF-BAB3-B57D8EA0E27A}"/>
              </a:ext>
            </a:extLst>
          </p:cNvPr>
          <p:cNvPicPr>
            <a:picLocks noChangeAspect="1"/>
          </p:cNvPicPr>
          <p:nvPr/>
        </p:nvPicPr>
        <p:blipFill>
          <a:blip r:embed="rId2"/>
          <a:stretch>
            <a:fillRect/>
          </a:stretch>
        </p:blipFill>
        <p:spPr>
          <a:xfrm>
            <a:off x="2110457" y="2210912"/>
            <a:ext cx="3707222" cy="2436175"/>
          </a:xfrm>
          <a:prstGeom prst="rect">
            <a:avLst/>
          </a:prstGeom>
        </p:spPr>
      </p:pic>
      <p:sp>
        <p:nvSpPr>
          <p:cNvPr id="7" name="TextBox 6">
            <a:extLst>
              <a:ext uri="{FF2B5EF4-FFF2-40B4-BE49-F238E27FC236}">
                <a16:creationId xmlns:a16="http://schemas.microsoft.com/office/drawing/2014/main" id="{AA248A1D-9B1A-FDC7-508A-99ED9C1B70E1}"/>
              </a:ext>
            </a:extLst>
          </p:cNvPr>
          <p:cNvSpPr txBox="1"/>
          <p:nvPr/>
        </p:nvSpPr>
        <p:spPr>
          <a:xfrm>
            <a:off x="5652564" y="2850784"/>
            <a:ext cx="4528455" cy="1754326"/>
          </a:xfrm>
          <a:prstGeom prst="rect">
            <a:avLst/>
          </a:prstGeom>
          <a:noFill/>
        </p:spPr>
        <p:txBody>
          <a:bodyPr wrap="square">
            <a:spAutoFit/>
          </a:bodyPr>
          <a:lstStyle/>
          <a:p>
            <a:pPr algn="just"/>
            <a:r>
              <a:rPr lang="en-US" dirty="0"/>
              <a:t>Finally, we’ve updated all of our weights! When we fed forward the 0.05 and 0.1 inputs originally, the error on the network was 0.298371109. After this first round of backpropagation, the total error is now down to 0.291027924. </a:t>
            </a:r>
            <a:endParaRPr lang="en-GB" dirty="0"/>
          </a:p>
        </p:txBody>
      </p:sp>
      <p:sp>
        <p:nvSpPr>
          <p:cNvPr id="10" name="TextBox 9">
            <a:extLst>
              <a:ext uri="{FF2B5EF4-FFF2-40B4-BE49-F238E27FC236}">
                <a16:creationId xmlns:a16="http://schemas.microsoft.com/office/drawing/2014/main" id="{63C604D3-24E9-4221-572F-C70E629587D8}"/>
              </a:ext>
            </a:extLst>
          </p:cNvPr>
          <p:cNvSpPr txBox="1"/>
          <p:nvPr/>
        </p:nvSpPr>
        <p:spPr>
          <a:xfrm>
            <a:off x="1945341" y="4853096"/>
            <a:ext cx="8600040" cy="1200329"/>
          </a:xfrm>
          <a:prstGeom prst="rect">
            <a:avLst/>
          </a:prstGeom>
          <a:noFill/>
        </p:spPr>
        <p:txBody>
          <a:bodyPr wrap="square">
            <a:spAutoFit/>
          </a:bodyPr>
          <a:lstStyle/>
          <a:p>
            <a:r>
              <a:rPr lang="en-US" dirty="0"/>
              <a:t>It might not seem like much, but after repeating this process 10,000 times, for example, the error plummets to 0.0000351085. At this point, when we feed forward 0.05 and 0.1, the two outputs neurons generate 0.015912196 (vs 0.01 target) and 0.984065734 (vs 0.99 target).</a:t>
            </a:r>
            <a:endParaRPr lang="en-GB" dirty="0"/>
          </a:p>
        </p:txBody>
      </p:sp>
      <p:sp>
        <p:nvSpPr>
          <p:cNvPr id="6" name="Title 1">
            <a:extLst>
              <a:ext uri="{FF2B5EF4-FFF2-40B4-BE49-F238E27FC236}">
                <a16:creationId xmlns:a16="http://schemas.microsoft.com/office/drawing/2014/main" id="{408C3C68-060D-8F24-7C98-BF9A85B66518}"/>
              </a:ext>
            </a:extLst>
          </p:cNvPr>
          <p:cNvSpPr>
            <a:spLocks noGrp="1"/>
          </p:cNvSpPr>
          <p:nvPr>
            <p:ph type="ctrTitle"/>
          </p:nvPr>
        </p:nvSpPr>
        <p:spPr>
          <a:xfrm>
            <a:off x="1982248" y="620210"/>
            <a:ext cx="7808976" cy="460239"/>
          </a:xfrm>
        </p:spPr>
        <p:txBody>
          <a:bodyPr>
            <a:noAutofit/>
          </a:bodyPr>
          <a:lstStyle/>
          <a:p>
            <a:r>
              <a:rPr lang="en-US" sz="2900" b="1" dirty="0">
                <a:latin typeface="Times New Roman" panose="02020603050405020304" pitchFamily="18" charset="0"/>
                <a:ea typeface="+mn-ea"/>
                <a:cs typeface="Times New Roman" panose="02020603050405020304" pitchFamily="18" charset="0"/>
              </a:rPr>
              <a:t>Learning using Back Propagation</a:t>
            </a:r>
          </a:p>
        </p:txBody>
      </p:sp>
    </p:spTree>
    <p:extLst>
      <p:ext uri="{BB962C8B-B14F-4D97-AF65-F5344CB8AC3E}">
        <p14:creationId xmlns:p14="http://schemas.microsoft.com/office/powerpoint/2010/main" val="1200343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945342" y="2199989"/>
            <a:ext cx="8071495" cy="2585323"/>
          </a:xfrm>
          <a:prstGeom prst="rect">
            <a:avLst/>
          </a:prstGeom>
          <a:noFill/>
        </p:spPr>
        <p:txBody>
          <a:bodyPr wrap="square" rtlCol="0">
            <a:spAutoFit/>
          </a:bodyPr>
          <a:lstStyle/>
          <a:p>
            <a:r>
              <a:rPr lang="en-US" dirty="0"/>
              <a:t>Similarly, we can calculate the other weight values as well.</a:t>
            </a:r>
          </a:p>
          <a:p>
            <a:endParaRPr lang="en-US" dirty="0"/>
          </a:p>
          <a:p>
            <a:r>
              <a:rPr lang="en-US" dirty="0"/>
              <a:t>After that we will again propagate forward and calculate the output. Again, we will calculate the error.</a:t>
            </a:r>
          </a:p>
          <a:p>
            <a:endParaRPr lang="en-US" dirty="0"/>
          </a:p>
          <a:p>
            <a:r>
              <a:rPr lang="en-US" dirty="0"/>
              <a:t>If the error is minimum we will stop right there, else we will again propagate backwards and update the weight values.</a:t>
            </a:r>
          </a:p>
          <a:p>
            <a:endParaRPr lang="en-US" dirty="0"/>
          </a:p>
          <a:p>
            <a:r>
              <a:rPr lang="en-US" dirty="0"/>
              <a:t>This process will keep on repeating until error becomes minimum.</a:t>
            </a:r>
          </a:p>
        </p:txBody>
      </p:sp>
      <p:sp>
        <p:nvSpPr>
          <p:cNvPr id="5" name="Title 1">
            <a:extLst>
              <a:ext uri="{FF2B5EF4-FFF2-40B4-BE49-F238E27FC236}">
                <a16:creationId xmlns:a16="http://schemas.microsoft.com/office/drawing/2014/main" id="{40D4D3F6-C139-11F4-2784-BF82F470FCC9}"/>
              </a:ext>
            </a:extLst>
          </p:cNvPr>
          <p:cNvSpPr>
            <a:spLocks noGrp="1"/>
          </p:cNvSpPr>
          <p:nvPr>
            <p:ph type="ctrTitle"/>
          </p:nvPr>
        </p:nvSpPr>
        <p:spPr>
          <a:xfrm>
            <a:off x="1982248" y="620210"/>
            <a:ext cx="7808976" cy="460239"/>
          </a:xfrm>
        </p:spPr>
        <p:txBody>
          <a:bodyPr>
            <a:noAutofit/>
          </a:bodyPr>
          <a:lstStyle/>
          <a:p>
            <a:r>
              <a:rPr lang="en-US" sz="2900" b="1" dirty="0">
                <a:latin typeface="Times New Roman" panose="02020603050405020304" pitchFamily="18" charset="0"/>
                <a:ea typeface="+mn-ea"/>
                <a:cs typeface="Times New Roman" panose="02020603050405020304" pitchFamily="18" charset="0"/>
              </a:rPr>
              <a:t>Learning using Back Propagation</a:t>
            </a:r>
          </a:p>
        </p:txBody>
      </p:sp>
    </p:spTree>
    <p:extLst>
      <p:ext uri="{BB962C8B-B14F-4D97-AF65-F5344CB8AC3E}">
        <p14:creationId xmlns:p14="http://schemas.microsoft.com/office/powerpoint/2010/main" val="500901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1683</TotalTime>
  <Words>4821</Words>
  <Application>Microsoft Office PowerPoint</Application>
  <PresentationFormat>Widescreen</PresentationFormat>
  <Paragraphs>328</Paragraphs>
  <Slides>63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63</vt:i4>
      </vt:variant>
    </vt:vector>
  </HeadingPairs>
  <TitlesOfParts>
    <vt:vector size="71" baseType="lpstr">
      <vt:lpstr>Arial</vt:lpstr>
      <vt:lpstr>Calibri</vt:lpstr>
      <vt:lpstr>Calibri Light</vt:lpstr>
      <vt:lpstr>Cambria Math</vt:lpstr>
      <vt:lpstr>Google Sans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Backpropagation Algorithm</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Learning using Back Propagation</vt:lpstr>
      <vt:lpstr>Learning using Back Propagation</vt:lpstr>
      <vt:lpstr>Learning using Back Propagation</vt:lpstr>
      <vt:lpstr>Learning using Back Propagation</vt:lpstr>
      <vt:lpstr>Learning using Back Propagation</vt:lpstr>
      <vt:lpstr>Learning using Back Propagation</vt:lpstr>
      <vt:lpstr>Learning using Back Propagation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Ashraf Uddin</dc:creator>
  <cp:lastModifiedBy>Abdus Salam</cp:lastModifiedBy>
  <cp:revision>522</cp:revision>
  <dcterms:created xsi:type="dcterms:W3CDTF">2023-09-18T11:08:30Z</dcterms:created>
  <dcterms:modified xsi:type="dcterms:W3CDTF">2025-05-17T08:49:50Z</dcterms:modified>
</cp:coreProperties>
</file>