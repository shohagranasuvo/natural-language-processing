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301" r:id="rId2"/>
    <p:sldId id="265" r:id="rId3"/>
    <p:sldId id="302" r:id="rId4"/>
    <p:sldId id="303" r:id="rId5"/>
    <p:sldId id="304" r:id="rId6"/>
    <p:sldId id="305" r:id="rId7"/>
    <p:sldId id="257" r:id="rId8"/>
    <p:sldId id="271" r:id="rId9"/>
    <p:sldId id="307" r:id="rId10"/>
    <p:sldId id="306" r:id="rId11"/>
    <p:sldId id="259" r:id="rId12"/>
    <p:sldId id="272" r:id="rId13"/>
    <p:sldId id="308" r:id="rId14"/>
    <p:sldId id="30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7059" autoAdjust="0"/>
  </p:normalViewPr>
  <p:slideViewPr>
    <p:cSldViewPr snapToGrid="0">
      <p:cViewPr varScale="1">
        <p:scale>
          <a:sx n="82" d="100"/>
          <a:sy n="82" d="100"/>
        </p:scale>
        <p:origin x="691" y="7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s Salam" userId="0e2b1981-3d04-4857-a4cb-b2b53ead0854" providerId="ADAL" clId="{2FD18229-7601-4166-AE6D-EDAE7A66C71F}"/>
    <pc:docChg chg="undo custSel addSld modSld">
      <pc:chgData name="Abdus Salam" userId="0e2b1981-3d04-4857-a4cb-b2b53ead0854" providerId="ADAL" clId="{2FD18229-7601-4166-AE6D-EDAE7A66C71F}" dt="2026-06-08T02:09:47.011" v="356" actId="20577"/>
      <pc:docMkLst>
        <pc:docMk/>
      </pc:docMkLst>
      <pc:sldChg chg="modSp mod">
        <pc:chgData name="Abdus Salam" userId="0e2b1981-3d04-4857-a4cb-b2b53ead0854" providerId="ADAL" clId="{2FD18229-7601-4166-AE6D-EDAE7A66C71F}" dt="2026-06-08T02:09:47.011" v="356" actId="20577"/>
        <pc:sldMkLst>
          <pc:docMk/>
          <pc:sldMk cId="2673292290" sldId="305"/>
        </pc:sldMkLst>
        <pc:spChg chg="mod">
          <ac:chgData name="Abdus Salam" userId="0e2b1981-3d04-4857-a4cb-b2b53ead0854" providerId="ADAL" clId="{2FD18229-7601-4166-AE6D-EDAE7A66C71F}" dt="2026-06-08T02:09:47.011" v="356" actId="20577"/>
          <ac:spMkLst>
            <pc:docMk/>
            <pc:sldMk cId="2673292290" sldId="305"/>
            <ac:spMk id="2" creationId="{4C0C62E8-C4E9-45AD-1795-7E015F3080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9E94A-69B5-4EB2-946B-9F0B55C854A2}" type="datetimeFigureOut">
              <a:rPr lang="en-GB" smtClean="0"/>
              <a:t>08/06/2026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8108C-7A65-4E29-BB97-0193868182BE}" type="slidenum">
              <a:rPr lang="en-GB" smtClean="0"/>
              <a:t>‹#›</a:t>
            </a:fld>
            <a:endParaRPr lang="en-GB"/>
          </a:p>
        </p:txBody>
      </p:sp>
    </p:spTree>
    <p:extLst>
      <p:ext uri="{BB962C8B-B14F-4D97-AF65-F5344CB8AC3E}">
        <p14:creationId xmlns:p14="http://schemas.microsoft.com/office/powerpoint/2010/main" val="1583788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41072699-F9A0-4DBF-879E-04983D165F60}" type="datetime1">
              <a:rPr lang="en-GB" smtClean="0"/>
              <a:t>08/06/2026</a:t>
            </a:fld>
            <a:endParaRPr lang="en-GB"/>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08B654D-6898-4783-8329-E1EB680B937A}" type="slidenum">
              <a:rPr lang="en-GB" smtClean="0"/>
              <a:t>‹#›</a:t>
            </a:fld>
            <a:endParaRPr lang="en-GB"/>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430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DBBE25-9A02-4FF7-A819-4B8DA2236554}" type="datetime1">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901115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029D94-3476-4183-85D7-AB20F6999429}" type="datetime1">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8B654D-6898-4783-8329-E1EB680B937A}" type="slidenum">
              <a:rPr lang="en-GB" smtClean="0"/>
              <a:t>‹#›</a:t>
            </a:fld>
            <a:endParaRPr lang="en-GB"/>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676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7043C2-D694-4B73-A769-AAC359184494}" type="datetime1">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1298127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A77C7F-D740-49AD-8117-A25BD322793F}" type="datetime1">
              <a:rPr lang="en-GB" smtClean="0"/>
              <a:t>08/06/2026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984357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AB3330-D013-4F53-99EE-FA4E14EED1ED}" type="datetime1">
              <a:rPr lang="en-GB" smtClean="0"/>
              <a:t>08/06/2026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133399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48AEA6-1D6A-481D-A3DF-29ABD4449136}" type="datetime1">
              <a:rPr lang="en-GB" smtClean="0"/>
              <a:t>08/06/2026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2428699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2F8788-F4F7-4ECE-B95F-DDA15E37A402}" type="datetime1">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287838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1608DD-13F8-4DD5-A802-E746736570A8}" type="datetime1">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806411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F3733E-F508-4315-A759-93080B87757E}" type="datetime1">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1320272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822343-4584-4574-9ECC-E033E0065FF1}" type="datetime1">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08B654D-6898-4783-8329-E1EB680B937A}" type="slidenum">
              <a:rPr lang="en-GB" smtClean="0"/>
              <a:t>‹#›</a:t>
            </a:fld>
            <a:endParaRPr lang="en-GB"/>
          </a:p>
        </p:txBody>
      </p:sp>
    </p:spTree>
    <p:extLst>
      <p:ext uri="{BB962C8B-B14F-4D97-AF65-F5344CB8AC3E}">
        <p14:creationId xmlns:p14="http://schemas.microsoft.com/office/powerpoint/2010/main" val="3736176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FDA8B93C-9DB8-40BB-95C5-F8284A0B6BFD}" type="datetime1">
              <a:rPr lang="en-GB" smtClean="0"/>
              <a:t>08/06/2026</a:t>
            </a:fld>
            <a:endParaRPr lang="en-GB"/>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GB"/>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008B654D-6898-4783-8329-E1EB680B937A}" type="slidenum">
              <a:rPr lang="en-GB" smtClean="0"/>
              <a:t>‹#›</a:t>
            </a:fld>
            <a:endParaRPr lang="en-GB"/>
          </a:p>
        </p:txBody>
      </p:sp>
    </p:spTree>
    <p:extLst>
      <p:ext uri="{BB962C8B-B14F-4D97-AF65-F5344CB8AC3E}">
        <p14:creationId xmlns:p14="http://schemas.microsoft.com/office/powerpoint/2010/main" val="33214499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1631EF-15E1-48EF-9924-09DC488BD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F324104A-EE89-4314-9D93-42AD78292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itle 2">
            <a:extLst>
              <a:ext uri="{FF2B5EF4-FFF2-40B4-BE49-F238E27FC236}">
                <a16:creationId xmlns:a16="http://schemas.microsoft.com/office/drawing/2014/main" id="{E8259A8F-F0ED-D9C8-2544-F9DBF2BADB2E}"/>
              </a:ext>
            </a:extLst>
          </p:cNvPr>
          <p:cNvSpPr>
            <a:spLocks noGrp="1"/>
          </p:cNvSpPr>
          <p:nvPr>
            <p:ph type="ctrTitle"/>
          </p:nvPr>
        </p:nvSpPr>
        <p:spPr>
          <a:xfrm>
            <a:off x="1775900" y="637563"/>
            <a:ext cx="8640201" cy="3070370"/>
          </a:xfrm>
        </p:spPr>
        <p:txBody>
          <a:bodyPr anchor="b">
            <a:normAutofit/>
          </a:bodyPr>
          <a:lstStyle/>
          <a:p>
            <a:r>
              <a:rPr lang="en-US" sz="4800" dirty="0"/>
              <a:t>introduction</a:t>
            </a:r>
          </a:p>
        </p:txBody>
      </p:sp>
      <p:sp>
        <p:nvSpPr>
          <p:cNvPr id="4" name="Subtitle 3">
            <a:extLst>
              <a:ext uri="{FF2B5EF4-FFF2-40B4-BE49-F238E27FC236}">
                <a16:creationId xmlns:a16="http://schemas.microsoft.com/office/drawing/2014/main" id="{60005ED7-704A-D353-93E5-2422E6AE8279}"/>
              </a:ext>
            </a:extLst>
          </p:cNvPr>
          <p:cNvSpPr>
            <a:spLocks noGrp="1"/>
          </p:cNvSpPr>
          <p:nvPr>
            <p:ph type="subTitle" idx="1"/>
          </p:nvPr>
        </p:nvSpPr>
        <p:spPr>
          <a:xfrm>
            <a:off x="1775899" y="3707933"/>
            <a:ext cx="8640202" cy="2483069"/>
          </a:xfrm>
        </p:spPr>
        <p:txBody>
          <a:bodyPr anchor="t">
            <a:normAutofit fontScale="92500" lnSpcReduction="10000"/>
          </a:bodyPr>
          <a:lstStyle/>
          <a:p>
            <a:r>
              <a:rPr lang="en-US" dirty="0"/>
              <a:t>Natural language processing</a:t>
            </a:r>
          </a:p>
          <a:p>
            <a:endParaRPr lang="en-US" dirty="0"/>
          </a:p>
          <a:p>
            <a:r>
              <a:rPr lang="en-US" dirty="0"/>
              <a:t>Dr. Abdus Salam</a:t>
            </a:r>
          </a:p>
          <a:p>
            <a:r>
              <a:rPr lang="en-US" dirty="0"/>
              <a:t>Associate Professor</a:t>
            </a:r>
          </a:p>
          <a:p>
            <a:r>
              <a:rPr lang="en-US" dirty="0"/>
              <a:t>abdus.salam@aiub.edu</a:t>
            </a:r>
          </a:p>
          <a:p>
            <a:r>
              <a:rPr lang="en-US" dirty="0"/>
              <a:t>Room# 9508I</a:t>
            </a:r>
          </a:p>
        </p:txBody>
      </p:sp>
      <p:sp>
        <p:nvSpPr>
          <p:cNvPr id="2" name="Slide Number Placeholder 1">
            <a:extLst>
              <a:ext uri="{FF2B5EF4-FFF2-40B4-BE49-F238E27FC236}">
                <a16:creationId xmlns:a16="http://schemas.microsoft.com/office/drawing/2014/main" id="{199946E0-D76B-3C82-4C33-4B9AFB4A6BEA}"/>
              </a:ext>
            </a:extLst>
          </p:cNvPr>
          <p:cNvSpPr>
            <a:spLocks noGrp="1"/>
          </p:cNvSpPr>
          <p:nvPr>
            <p:ph type="sldNum" sz="quarter" idx="12"/>
          </p:nvPr>
        </p:nvSpPr>
        <p:spPr>
          <a:xfrm>
            <a:off x="9329530" y="6223828"/>
            <a:ext cx="1706217" cy="365125"/>
          </a:xfrm>
        </p:spPr>
        <p:txBody>
          <a:bodyPr>
            <a:normAutofit/>
          </a:bodyPr>
          <a:lstStyle/>
          <a:p>
            <a:pPr>
              <a:spcAft>
                <a:spcPts val="600"/>
              </a:spcAft>
            </a:pPr>
            <a:fld id="{008B654D-6898-4783-8329-E1EB680B937A}" type="slidenum">
              <a:rPr lang="en-GB" smtClean="0"/>
              <a:pPr>
                <a:spcAft>
                  <a:spcPts val="600"/>
                </a:spcAft>
              </a:pPr>
              <a:t>1</a:t>
            </a:fld>
            <a:endParaRPr lang="en-GB"/>
          </a:p>
        </p:txBody>
      </p:sp>
    </p:spTree>
    <p:extLst>
      <p:ext uri="{BB962C8B-B14F-4D97-AF65-F5344CB8AC3E}">
        <p14:creationId xmlns:p14="http://schemas.microsoft.com/office/powerpoint/2010/main" val="3425029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0986A-21F1-99AF-D60C-161EAAAE62B5}"/>
              </a:ext>
            </a:extLst>
          </p:cNvPr>
          <p:cNvSpPr>
            <a:spLocks noGrp="1"/>
          </p:cNvSpPr>
          <p:nvPr>
            <p:ph type="title"/>
          </p:nvPr>
        </p:nvSpPr>
        <p:spPr/>
        <p:txBody>
          <a:bodyPr/>
          <a:lstStyle/>
          <a:p>
            <a:r>
              <a:rPr lang="en-US" dirty="0"/>
              <a:t>Vision &amp; Mission of AIUB</a:t>
            </a:r>
          </a:p>
        </p:txBody>
      </p:sp>
      <p:sp>
        <p:nvSpPr>
          <p:cNvPr id="5" name="Rectangle 4">
            <a:extLst>
              <a:ext uri="{FF2B5EF4-FFF2-40B4-BE49-F238E27FC236}">
                <a16:creationId xmlns:a16="http://schemas.microsoft.com/office/drawing/2014/main" id="{EE55216C-88AB-B68A-E4FE-FE0109DC1C92}"/>
              </a:ext>
            </a:extLst>
          </p:cNvPr>
          <p:cNvSpPr/>
          <p:nvPr/>
        </p:nvSpPr>
        <p:spPr>
          <a:xfrm>
            <a:off x="1143000" y="2088107"/>
            <a:ext cx="9875520" cy="3785652"/>
          </a:xfrm>
          <a:prstGeom prst="rect">
            <a:avLst/>
          </a:prstGeom>
        </p:spPr>
        <p:txBody>
          <a:bodyPr wrap="square">
            <a:spAutoFit/>
          </a:bodyPr>
          <a:lstStyle/>
          <a:p>
            <a:pPr marL="274320" indent="-274320" algn="just">
              <a:spcBef>
                <a:spcPts val="600"/>
              </a:spcBef>
              <a:buFont typeface="Arial" pitchFamily="34" charset="0"/>
              <a:buChar char="•"/>
            </a:pPr>
            <a:r>
              <a:rPr lang="en-US" altLang="ja-JP" sz="2000" b="1" dirty="0">
                <a:solidFill>
                  <a:srgbClr val="0000FF"/>
                </a:solidFill>
              </a:rPr>
              <a:t>Vision</a:t>
            </a:r>
          </a:p>
          <a:p>
            <a:pPr marL="274320" indent="-274320" algn="just">
              <a:spcBef>
                <a:spcPts val="600"/>
              </a:spcBef>
            </a:pPr>
            <a:r>
              <a:rPr lang="en-US" altLang="ja-JP" sz="2000" dirty="0"/>
              <a:t>	AMERICAN INTERNATIONAL UNIVERSITY-BANGLADESH (AIUB) envisions promoting professionals and excellent leadership catering to the technological  progress and development needs of the country. </a:t>
            </a:r>
          </a:p>
          <a:p>
            <a:pPr marL="274320" indent="-274320" algn="just">
              <a:spcBef>
                <a:spcPts val="600"/>
              </a:spcBef>
              <a:buFont typeface="Arial" pitchFamily="34" charset="0"/>
              <a:buChar char="•"/>
            </a:pPr>
            <a:r>
              <a:rPr lang="en-US" sz="2000" b="1" dirty="0">
                <a:solidFill>
                  <a:srgbClr val="0000FF"/>
                </a:solidFill>
              </a:rPr>
              <a:t>Mission:</a:t>
            </a:r>
          </a:p>
          <a:p>
            <a:pPr marL="274320" indent="-274320" algn="just">
              <a:spcBef>
                <a:spcPts val="600"/>
              </a:spcBef>
            </a:pPr>
            <a:r>
              <a:rPr lang="en-US" altLang="ja-JP" sz="2000" dirty="0"/>
              <a:t>	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 </a:t>
            </a:r>
            <a:endParaRPr lang="en-US" sz="2000" dirty="0"/>
          </a:p>
        </p:txBody>
      </p:sp>
      <p:sp>
        <p:nvSpPr>
          <p:cNvPr id="3" name="Slide Number Placeholder 2">
            <a:extLst>
              <a:ext uri="{FF2B5EF4-FFF2-40B4-BE49-F238E27FC236}">
                <a16:creationId xmlns:a16="http://schemas.microsoft.com/office/drawing/2014/main" id="{CB0DAB1F-BE67-2825-C294-6388F5D30BFB}"/>
              </a:ext>
            </a:extLst>
          </p:cNvPr>
          <p:cNvSpPr>
            <a:spLocks noGrp="1"/>
          </p:cNvSpPr>
          <p:nvPr>
            <p:ph type="sldNum" sz="quarter" idx="12"/>
          </p:nvPr>
        </p:nvSpPr>
        <p:spPr/>
        <p:txBody>
          <a:bodyPr/>
          <a:lstStyle/>
          <a:p>
            <a:fld id="{C3584116-71E9-45F8-BC17-47CE06098486}" type="slidenum">
              <a:rPr lang="en-US" smtClean="0"/>
              <a:t>2</a:t>
            </a:fld>
            <a:endParaRPr lang="en-US"/>
          </a:p>
        </p:txBody>
      </p:sp>
    </p:spTree>
    <p:extLst>
      <p:ext uri="{BB962C8B-B14F-4D97-AF65-F5344CB8AC3E}">
        <p14:creationId xmlns:p14="http://schemas.microsoft.com/office/powerpoint/2010/main" val="2331477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11BA-8EA5-4EFE-F282-5C721B87BEE3}"/>
              </a:ext>
            </a:extLst>
          </p:cNvPr>
          <p:cNvSpPr>
            <a:spLocks noGrp="1"/>
          </p:cNvSpPr>
          <p:nvPr>
            <p:ph type="title"/>
          </p:nvPr>
        </p:nvSpPr>
        <p:spPr/>
        <p:txBody>
          <a:bodyPr/>
          <a:lstStyle/>
          <a:p>
            <a:r>
              <a:rPr lang="en-US" dirty="0"/>
              <a:t>Goals of AIUB</a:t>
            </a:r>
          </a:p>
        </p:txBody>
      </p:sp>
      <p:sp>
        <p:nvSpPr>
          <p:cNvPr id="4" name="Rectangle 3">
            <a:extLst>
              <a:ext uri="{FF2B5EF4-FFF2-40B4-BE49-F238E27FC236}">
                <a16:creationId xmlns:a16="http://schemas.microsoft.com/office/drawing/2014/main" id="{CB236575-2166-2A19-76DE-DB5C505FAA69}"/>
              </a:ext>
            </a:extLst>
          </p:cNvPr>
          <p:cNvSpPr/>
          <p:nvPr/>
        </p:nvSpPr>
        <p:spPr>
          <a:xfrm>
            <a:off x="1143000" y="2079955"/>
            <a:ext cx="9875520" cy="4001095"/>
          </a:xfrm>
          <a:prstGeom prst="rect">
            <a:avLst/>
          </a:prstGeom>
        </p:spPr>
        <p:txBody>
          <a:bodyPr wrap="square">
            <a:spAutoFit/>
          </a:bodyPr>
          <a:lstStyle/>
          <a:p>
            <a:pPr marL="274320" indent="-274320" algn="just">
              <a:spcBef>
                <a:spcPts val="600"/>
              </a:spcBef>
              <a:buFont typeface="Arial" pitchFamily="34" charset="0"/>
              <a:buChar char="•"/>
            </a:pPr>
            <a:r>
              <a:rPr lang="en-US" altLang="ja-JP" sz="1600" dirty="0"/>
              <a:t>Sustain development and progress of the university </a:t>
            </a:r>
          </a:p>
          <a:p>
            <a:pPr marL="274320" indent="-274320" algn="just">
              <a:spcBef>
                <a:spcPts val="600"/>
              </a:spcBef>
              <a:buFont typeface="Arial" pitchFamily="34" charset="0"/>
              <a:buChar char="•"/>
            </a:pPr>
            <a:r>
              <a:rPr lang="en-US" altLang="ja-JP" sz="1600" dirty="0"/>
              <a:t>Continue to upgrade educational services and facilities responsive of the demands for change and needs of the society </a:t>
            </a:r>
          </a:p>
          <a:p>
            <a:pPr marL="274320" indent="-274320" algn="just">
              <a:spcBef>
                <a:spcPts val="600"/>
              </a:spcBef>
              <a:buFont typeface="Arial" pitchFamily="34" charset="0"/>
              <a:buChar char="•"/>
            </a:pPr>
            <a:r>
              <a:rPr lang="en-US" altLang="ja-JP" sz="1600" dirty="0"/>
              <a:t>Inculcate professional culture among management, faculty and personnel in the attainment of the institution's vision, mission and goals </a:t>
            </a:r>
          </a:p>
          <a:p>
            <a:pPr marL="274320" indent="-274320" algn="just">
              <a:spcBef>
                <a:spcPts val="600"/>
              </a:spcBef>
              <a:buFont typeface="Arial" pitchFamily="34" charset="0"/>
              <a:buChar char="•"/>
            </a:pPr>
            <a:r>
              <a:rPr lang="en-US" altLang="ja-JP" sz="1600" dirty="0"/>
              <a:t>Enhance research consciousness in discovering new dimensions for curriculum development and enrichment </a:t>
            </a:r>
          </a:p>
          <a:p>
            <a:pPr marL="274320" indent="-274320" algn="just">
              <a:spcBef>
                <a:spcPts val="600"/>
              </a:spcBef>
              <a:buFont typeface="Arial" pitchFamily="34" charset="0"/>
              <a:buChar char="•"/>
            </a:pPr>
            <a:r>
              <a:rPr lang="en-US" altLang="ja-JP" sz="1600" dirty="0"/>
              <a:t>Implement meaningful and relevant community outreach programs reflective of the available resources and expertise of the university </a:t>
            </a:r>
          </a:p>
          <a:p>
            <a:pPr marL="274320" indent="-274320" algn="just">
              <a:spcBef>
                <a:spcPts val="600"/>
              </a:spcBef>
              <a:buFont typeface="Arial" pitchFamily="34" charset="0"/>
              <a:buChar char="•"/>
            </a:pPr>
            <a:r>
              <a:rPr lang="en-US" altLang="ja-JP" sz="1600" dirty="0"/>
              <a:t>Establish strong networking of programs, sharing of resources and expertise with local and international educational institutions and organizations </a:t>
            </a:r>
          </a:p>
          <a:p>
            <a:pPr marL="274320" indent="-274320" algn="just">
              <a:spcBef>
                <a:spcPts val="600"/>
              </a:spcBef>
              <a:buFont typeface="Arial" pitchFamily="34" charset="0"/>
              <a:buChar char="•"/>
            </a:pPr>
            <a:r>
              <a:rPr lang="en-US" altLang="ja-JP" sz="1600" dirty="0"/>
              <a:t>Accelerate the participation of alumni, students and professionals in the implementation of educational programs and development of projects designed to expand and improve global academic standards </a:t>
            </a:r>
            <a:r>
              <a:rPr lang="en-US" sz="1600" dirty="0"/>
              <a:t> </a:t>
            </a:r>
          </a:p>
        </p:txBody>
      </p:sp>
      <p:sp>
        <p:nvSpPr>
          <p:cNvPr id="3" name="Slide Number Placeholder 2">
            <a:extLst>
              <a:ext uri="{FF2B5EF4-FFF2-40B4-BE49-F238E27FC236}">
                <a16:creationId xmlns:a16="http://schemas.microsoft.com/office/drawing/2014/main" id="{31B3107F-17B0-99B1-58FD-A9A174D773A6}"/>
              </a:ext>
            </a:extLst>
          </p:cNvPr>
          <p:cNvSpPr>
            <a:spLocks noGrp="1"/>
          </p:cNvSpPr>
          <p:nvPr>
            <p:ph type="sldNum" sz="quarter" idx="12"/>
          </p:nvPr>
        </p:nvSpPr>
        <p:spPr/>
        <p:txBody>
          <a:bodyPr/>
          <a:lstStyle/>
          <a:p>
            <a:fld id="{C3584116-71E9-45F8-BC17-47CE06098486}" type="slidenum">
              <a:rPr lang="en-US" smtClean="0"/>
              <a:t>3</a:t>
            </a:fld>
            <a:endParaRPr lang="en-US"/>
          </a:p>
        </p:txBody>
      </p:sp>
    </p:spTree>
    <p:extLst>
      <p:ext uri="{BB962C8B-B14F-4D97-AF65-F5344CB8AC3E}">
        <p14:creationId xmlns:p14="http://schemas.microsoft.com/office/powerpoint/2010/main" val="3416222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DC9DB-ED7A-106A-C67C-DCDEFCD3C4F7}"/>
              </a:ext>
            </a:extLst>
          </p:cNvPr>
          <p:cNvSpPr>
            <a:spLocks noGrp="1"/>
          </p:cNvSpPr>
          <p:nvPr>
            <p:ph type="title"/>
          </p:nvPr>
        </p:nvSpPr>
        <p:spPr/>
        <p:txBody>
          <a:bodyPr/>
          <a:lstStyle/>
          <a:p>
            <a:r>
              <a:rPr lang="en-US" dirty="0"/>
              <a:t>Vision &amp; Mission of CS Department</a:t>
            </a:r>
          </a:p>
        </p:txBody>
      </p:sp>
      <p:sp>
        <p:nvSpPr>
          <p:cNvPr id="4" name="Rectangle 3">
            <a:extLst>
              <a:ext uri="{FF2B5EF4-FFF2-40B4-BE49-F238E27FC236}">
                <a16:creationId xmlns:a16="http://schemas.microsoft.com/office/drawing/2014/main" id="{BDCB53C8-278E-FE3D-26F3-8A7B99B65D92}"/>
              </a:ext>
            </a:extLst>
          </p:cNvPr>
          <p:cNvSpPr/>
          <p:nvPr/>
        </p:nvSpPr>
        <p:spPr>
          <a:xfrm>
            <a:off x="1142999" y="2088108"/>
            <a:ext cx="9875520" cy="4370427"/>
          </a:xfrm>
          <a:prstGeom prst="rect">
            <a:avLst/>
          </a:prstGeom>
        </p:spPr>
        <p:txBody>
          <a:bodyPr wrap="square">
            <a:spAutoFit/>
          </a:bodyPr>
          <a:lstStyle/>
          <a:p>
            <a:pPr marL="274320" indent="-274320">
              <a:spcBef>
                <a:spcPts val="600"/>
              </a:spcBef>
              <a:buFont typeface="Arial" pitchFamily="34" charset="0"/>
              <a:buChar char="•"/>
              <a:defRPr/>
            </a:pPr>
            <a:r>
              <a:rPr lang="en-US" altLang="ja-JP" sz="2400" b="1" dirty="0">
                <a:solidFill>
                  <a:srgbClr val="0000FF"/>
                </a:solidFill>
                <a:cs typeface="Arial" panose="020B0604020202020204" pitchFamily="34" charset="0"/>
              </a:rPr>
              <a:t>Vision</a:t>
            </a:r>
          </a:p>
          <a:p>
            <a:pPr marL="274320" indent="-274320" algn="just">
              <a:spcBef>
                <a:spcPts val="600"/>
              </a:spcBef>
              <a:defRPr/>
            </a:pPr>
            <a:r>
              <a:rPr lang="en-US" altLang="ja-JP" sz="2000" dirty="0"/>
              <a:t>	Provides leadership in the pursuit of quality and excellent computer education and produce highly skilled and globally competitive IT professionals.</a:t>
            </a:r>
          </a:p>
          <a:p>
            <a:pPr marL="274320" indent="-274320">
              <a:spcBef>
                <a:spcPts val="600"/>
              </a:spcBef>
              <a:defRPr/>
            </a:pPr>
            <a:endParaRPr lang="en-US" altLang="ja-JP" sz="2000" dirty="0"/>
          </a:p>
          <a:p>
            <a:pPr marL="274320" indent="-274320" algn="just">
              <a:spcBef>
                <a:spcPts val="600"/>
              </a:spcBef>
              <a:buFont typeface="Arial" pitchFamily="34" charset="0"/>
              <a:buChar char="•"/>
              <a:defRPr/>
            </a:pPr>
            <a:r>
              <a:rPr lang="en-US" altLang="ja-JP" sz="2400" b="1" dirty="0">
                <a:cs typeface="Arial" panose="020B0604020202020204" pitchFamily="34" charset="0"/>
              </a:rPr>
              <a:t> </a:t>
            </a:r>
            <a:r>
              <a:rPr lang="en-US" altLang="ja-JP" sz="2400" b="1" dirty="0">
                <a:solidFill>
                  <a:srgbClr val="0000FF"/>
                </a:solidFill>
                <a:cs typeface="Arial" panose="020B0604020202020204" pitchFamily="34" charset="0"/>
              </a:rPr>
              <a:t>Mission</a:t>
            </a:r>
            <a:endParaRPr lang="en-US" sz="2400" b="1" dirty="0">
              <a:solidFill>
                <a:srgbClr val="0000FF"/>
              </a:solidFill>
              <a:cs typeface="Arial" panose="020B0604020202020204" pitchFamily="34" charset="0"/>
            </a:endParaRPr>
          </a:p>
          <a:p>
            <a:pPr marL="274320" indent="-274320" algn="just">
              <a:spcBef>
                <a:spcPts val="600"/>
              </a:spcBef>
              <a:defRPr/>
            </a:pPr>
            <a:r>
              <a:rPr lang="en-US" altLang="ja-JP" sz="2000" dirty="0"/>
              <a:t>	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p>
          <a:p>
            <a:pPr marL="274320" indent="-274320" algn="just">
              <a:spcBef>
                <a:spcPts val="600"/>
              </a:spcBef>
              <a:defRPr/>
            </a:pPr>
            <a:endParaRPr lang="en-US" sz="2000" dirty="0"/>
          </a:p>
          <a:p>
            <a:pPr marL="274320" indent="-274320">
              <a:spcBef>
                <a:spcPts val="600"/>
              </a:spcBef>
              <a:defRPr/>
            </a:pPr>
            <a:endParaRPr lang="en-US" sz="2000" dirty="0"/>
          </a:p>
        </p:txBody>
      </p:sp>
      <p:sp>
        <p:nvSpPr>
          <p:cNvPr id="3" name="Slide Number Placeholder 2">
            <a:extLst>
              <a:ext uri="{FF2B5EF4-FFF2-40B4-BE49-F238E27FC236}">
                <a16:creationId xmlns:a16="http://schemas.microsoft.com/office/drawing/2014/main" id="{1C9A7F2A-DE91-EC35-3BC2-50EA550AC028}"/>
              </a:ext>
            </a:extLst>
          </p:cNvPr>
          <p:cNvSpPr>
            <a:spLocks noGrp="1"/>
          </p:cNvSpPr>
          <p:nvPr>
            <p:ph type="sldNum" sz="quarter" idx="12"/>
          </p:nvPr>
        </p:nvSpPr>
        <p:spPr/>
        <p:txBody>
          <a:bodyPr/>
          <a:lstStyle/>
          <a:p>
            <a:fld id="{C3584116-71E9-45F8-BC17-47CE06098486}" type="slidenum">
              <a:rPr lang="en-US" smtClean="0"/>
              <a:t>4</a:t>
            </a:fld>
            <a:endParaRPr lang="en-US"/>
          </a:p>
        </p:txBody>
      </p:sp>
    </p:spTree>
    <p:extLst>
      <p:ext uri="{BB962C8B-B14F-4D97-AF65-F5344CB8AC3E}">
        <p14:creationId xmlns:p14="http://schemas.microsoft.com/office/powerpoint/2010/main" val="3735594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2925-2368-2313-E526-A5468DCFC05E}"/>
              </a:ext>
            </a:extLst>
          </p:cNvPr>
          <p:cNvSpPr>
            <a:spLocks noGrp="1"/>
          </p:cNvSpPr>
          <p:nvPr>
            <p:ph type="title"/>
          </p:nvPr>
        </p:nvSpPr>
        <p:spPr/>
        <p:txBody>
          <a:bodyPr/>
          <a:lstStyle/>
          <a:p>
            <a:r>
              <a:rPr lang="en-US" dirty="0"/>
              <a:t>Goals of CS Department</a:t>
            </a:r>
          </a:p>
        </p:txBody>
      </p:sp>
      <p:sp>
        <p:nvSpPr>
          <p:cNvPr id="4" name="Rectangle 3">
            <a:extLst>
              <a:ext uri="{FF2B5EF4-FFF2-40B4-BE49-F238E27FC236}">
                <a16:creationId xmlns:a16="http://schemas.microsoft.com/office/drawing/2014/main" id="{50CAAFDA-F110-8C2A-2A2C-BEB64317E8CF}"/>
              </a:ext>
            </a:extLst>
          </p:cNvPr>
          <p:cNvSpPr/>
          <p:nvPr/>
        </p:nvSpPr>
        <p:spPr>
          <a:xfrm>
            <a:off x="1143000" y="2085230"/>
            <a:ext cx="9875520" cy="3477875"/>
          </a:xfrm>
          <a:prstGeom prst="rect">
            <a:avLst/>
          </a:prstGeom>
        </p:spPr>
        <p:txBody>
          <a:bodyPr wrap="square">
            <a:spAutoFit/>
          </a:bodyPr>
          <a:lstStyle/>
          <a:p>
            <a:pPr marL="274320" indent="-274320" algn="just">
              <a:spcBef>
                <a:spcPts val="600"/>
              </a:spcBef>
              <a:buFont typeface="Arial" pitchFamily="34" charset="0"/>
              <a:buChar char="•"/>
            </a:pPr>
            <a:r>
              <a:rPr lang="en-US" altLang="ja-JP" sz="2000" dirty="0"/>
              <a:t>Enrich the computer education curriculum to suit the needs of the industry-wide standards for both domestic and international markets</a:t>
            </a:r>
          </a:p>
          <a:p>
            <a:pPr marL="274320" indent="-274320" algn="just">
              <a:spcBef>
                <a:spcPts val="600"/>
              </a:spcBef>
              <a:buFont typeface="Arial" pitchFamily="34" charset="0"/>
              <a:buChar char="•"/>
            </a:pPr>
            <a:r>
              <a:rPr lang="en-US" altLang="ja-JP" sz="2000" dirty="0"/>
              <a:t>Equip the faculty and staff with professional, modern technological and research skills</a:t>
            </a:r>
          </a:p>
          <a:p>
            <a:pPr marL="274320" indent="-274320" algn="just">
              <a:spcBef>
                <a:spcPts val="600"/>
              </a:spcBef>
              <a:buFont typeface="Arial" pitchFamily="34" charset="0"/>
              <a:buChar char="•"/>
            </a:pPr>
            <a:r>
              <a:rPr lang="en-US" altLang="ja-JP" sz="2000" dirty="0"/>
              <a:t>Upgrade continuously computer hardware, facilities and instructional materials to cope with the challenges of the information technology age</a:t>
            </a:r>
          </a:p>
          <a:p>
            <a:pPr marL="274320" indent="-274320" algn="just">
              <a:spcBef>
                <a:spcPts val="600"/>
              </a:spcBef>
              <a:buFont typeface="Arial" pitchFamily="34" charset="0"/>
              <a:buChar char="•"/>
            </a:pPr>
            <a:r>
              <a:rPr lang="en-US" altLang="ja-JP" sz="2000" dirty="0"/>
              <a:t>Initiate and conduct relevant research, software development and outreach services.</a:t>
            </a:r>
          </a:p>
          <a:p>
            <a:pPr marL="274320" indent="-274320" algn="just">
              <a:spcBef>
                <a:spcPts val="600"/>
              </a:spcBef>
              <a:buFont typeface="Arial" pitchFamily="34" charset="0"/>
              <a:buChar char="•"/>
            </a:pPr>
            <a:r>
              <a:rPr lang="en-US" altLang="ja-JP" sz="2000" dirty="0"/>
              <a:t>Establish linkage with industry and other IT-based organizations/institutions for sharing of resources and expertise, and better job opportunities for students </a:t>
            </a:r>
            <a:endParaRPr lang="en-US" sz="2000" dirty="0"/>
          </a:p>
        </p:txBody>
      </p:sp>
      <p:sp>
        <p:nvSpPr>
          <p:cNvPr id="3" name="Slide Number Placeholder 2">
            <a:extLst>
              <a:ext uri="{FF2B5EF4-FFF2-40B4-BE49-F238E27FC236}">
                <a16:creationId xmlns:a16="http://schemas.microsoft.com/office/drawing/2014/main" id="{86B4578E-4682-D377-7A8F-BEFF3C9D1EB7}"/>
              </a:ext>
            </a:extLst>
          </p:cNvPr>
          <p:cNvSpPr>
            <a:spLocks noGrp="1"/>
          </p:cNvSpPr>
          <p:nvPr>
            <p:ph type="sldNum" sz="quarter" idx="12"/>
          </p:nvPr>
        </p:nvSpPr>
        <p:spPr/>
        <p:txBody>
          <a:bodyPr/>
          <a:lstStyle/>
          <a:p>
            <a:fld id="{C3584116-71E9-45F8-BC17-47CE06098486}" type="slidenum">
              <a:rPr lang="en-US" smtClean="0"/>
              <a:t>5</a:t>
            </a:fld>
            <a:endParaRPr lang="en-US"/>
          </a:p>
        </p:txBody>
      </p:sp>
    </p:spTree>
    <p:extLst>
      <p:ext uri="{BB962C8B-B14F-4D97-AF65-F5344CB8AC3E}">
        <p14:creationId xmlns:p14="http://schemas.microsoft.com/office/powerpoint/2010/main" val="4226171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62E8-C4E9-45AD-1795-7E015F308049}"/>
              </a:ext>
            </a:extLst>
          </p:cNvPr>
          <p:cNvSpPr>
            <a:spLocks noGrp="1"/>
          </p:cNvSpPr>
          <p:nvPr>
            <p:ph type="title"/>
          </p:nvPr>
        </p:nvSpPr>
        <p:spPr/>
        <p:txBody>
          <a:bodyPr/>
          <a:lstStyle/>
          <a:p>
            <a:r>
              <a:rPr lang="en-US" dirty="0"/>
              <a:t>Semester Schedule </a:t>
            </a:r>
            <a:r>
              <a:rPr lang="en-US"/>
              <a:t>(Summer </a:t>
            </a:r>
            <a:r>
              <a:rPr lang="en-US" dirty="0"/>
              <a:t>25-26)</a:t>
            </a:r>
          </a:p>
        </p:txBody>
      </p:sp>
      <p:sp>
        <p:nvSpPr>
          <p:cNvPr id="3" name="Content Placeholder 2">
            <a:extLst>
              <a:ext uri="{FF2B5EF4-FFF2-40B4-BE49-F238E27FC236}">
                <a16:creationId xmlns:a16="http://schemas.microsoft.com/office/drawing/2014/main" id="{846D9E06-3AA6-9784-BBC8-20DC2028C1CB}"/>
              </a:ext>
            </a:extLst>
          </p:cNvPr>
          <p:cNvSpPr>
            <a:spLocks noGrp="1"/>
          </p:cNvSpPr>
          <p:nvPr>
            <p:ph idx="1"/>
          </p:nvPr>
        </p:nvSpPr>
        <p:spPr/>
        <p:txBody>
          <a:bodyPr/>
          <a:lstStyle/>
          <a:p>
            <a:r>
              <a:rPr lang="en-US" dirty="0"/>
              <a:t>Week 1 - Week 6: Classes</a:t>
            </a:r>
          </a:p>
          <a:p>
            <a:r>
              <a:rPr lang="en-US" dirty="0"/>
              <a:t>Week 7: Midterm Exam</a:t>
            </a:r>
          </a:p>
          <a:p>
            <a:r>
              <a:rPr lang="en-US" dirty="0"/>
              <a:t>Week 8 – Week 13: Classes</a:t>
            </a:r>
          </a:p>
          <a:p>
            <a:r>
              <a:rPr lang="en-US" dirty="0"/>
              <a:t>Week 14: Final Exam </a:t>
            </a:r>
          </a:p>
        </p:txBody>
      </p:sp>
      <p:sp>
        <p:nvSpPr>
          <p:cNvPr id="4" name="Slide Number Placeholder 3">
            <a:extLst>
              <a:ext uri="{FF2B5EF4-FFF2-40B4-BE49-F238E27FC236}">
                <a16:creationId xmlns:a16="http://schemas.microsoft.com/office/drawing/2014/main" id="{1C39D34E-735C-6C11-117B-0B53EC8B7E73}"/>
              </a:ext>
            </a:extLst>
          </p:cNvPr>
          <p:cNvSpPr>
            <a:spLocks noGrp="1"/>
          </p:cNvSpPr>
          <p:nvPr>
            <p:ph type="sldNum" sz="quarter" idx="12"/>
          </p:nvPr>
        </p:nvSpPr>
        <p:spPr/>
        <p:txBody>
          <a:bodyPr/>
          <a:lstStyle/>
          <a:p>
            <a:fld id="{C3584116-71E9-45F8-BC17-47CE06098486}" type="slidenum">
              <a:rPr lang="en-US" smtClean="0"/>
              <a:t>6</a:t>
            </a:fld>
            <a:endParaRPr lang="en-US"/>
          </a:p>
        </p:txBody>
      </p:sp>
    </p:spTree>
    <p:extLst>
      <p:ext uri="{BB962C8B-B14F-4D97-AF65-F5344CB8AC3E}">
        <p14:creationId xmlns:p14="http://schemas.microsoft.com/office/powerpoint/2010/main" val="2673292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2C4F97E-B5AE-8267-81DC-4B320CDDDF4F}"/>
              </a:ext>
            </a:extLst>
          </p:cNvPr>
          <p:cNvSpPr>
            <a:spLocks noGrp="1"/>
          </p:cNvSpPr>
          <p:nvPr>
            <p:ph type="sldNum" sz="quarter" idx="12"/>
          </p:nvPr>
        </p:nvSpPr>
        <p:spPr/>
        <p:txBody>
          <a:bodyPr/>
          <a:lstStyle/>
          <a:p>
            <a:fld id="{008B654D-6898-4783-8329-E1EB680B937A}" type="slidenum">
              <a:rPr lang="en-GB" smtClean="0"/>
              <a:t>7</a:t>
            </a:fld>
            <a:endParaRPr lang="en-GB"/>
          </a:p>
        </p:txBody>
      </p:sp>
      <p:graphicFrame>
        <p:nvGraphicFramePr>
          <p:cNvPr id="2" name="Table 1">
            <a:extLst>
              <a:ext uri="{FF2B5EF4-FFF2-40B4-BE49-F238E27FC236}">
                <a16:creationId xmlns:a16="http://schemas.microsoft.com/office/drawing/2014/main" id="{CACD9E32-96F2-F5F9-C927-8E635DB3399F}"/>
              </a:ext>
            </a:extLst>
          </p:cNvPr>
          <p:cNvGraphicFramePr>
            <a:graphicFrameLocks noGrp="1"/>
          </p:cNvGraphicFramePr>
          <p:nvPr>
            <p:extLst>
              <p:ext uri="{D42A27DB-BD31-4B8C-83A1-F6EECF244321}">
                <p14:modId xmlns:p14="http://schemas.microsoft.com/office/powerpoint/2010/main" val="1480803197"/>
              </p:ext>
            </p:extLst>
          </p:nvPr>
        </p:nvGraphicFramePr>
        <p:xfrm>
          <a:off x="2804887" y="2087154"/>
          <a:ext cx="6851863" cy="3708400"/>
        </p:xfrm>
        <a:graphic>
          <a:graphicData uri="http://schemas.openxmlformats.org/drawingml/2006/table">
            <a:tbl>
              <a:tblPr firstRow="1" bandRow="1">
                <a:tableStyleId>{5C22544A-7EE6-4342-B048-85BDC9FD1C3A}</a:tableStyleId>
              </a:tblPr>
              <a:tblGrid>
                <a:gridCol w="1194435">
                  <a:extLst>
                    <a:ext uri="{9D8B030D-6E8A-4147-A177-3AD203B41FA5}">
                      <a16:colId xmlns:a16="http://schemas.microsoft.com/office/drawing/2014/main" val="3160574454"/>
                    </a:ext>
                  </a:extLst>
                </a:gridCol>
                <a:gridCol w="3835718">
                  <a:extLst>
                    <a:ext uri="{9D8B030D-6E8A-4147-A177-3AD203B41FA5}">
                      <a16:colId xmlns:a16="http://schemas.microsoft.com/office/drawing/2014/main" val="4285800704"/>
                    </a:ext>
                  </a:extLst>
                </a:gridCol>
                <a:gridCol w="467043">
                  <a:extLst>
                    <a:ext uri="{9D8B030D-6E8A-4147-A177-3AD203B41FA5}">
                      <a16:colId xmlns:a16="http://schemas.microsoft.com/office/drawing/2014/main" val="2214865122"/>
                    </a:ext>
                  </a:extLst>
                </a:gridCol>
                <a:gridCol w="1354667">
                  <a:extLst>
                    <a:ext uri="{9D8B030D-6E8A-4147-A177-3AD203B41FA5}">
                      <a16:colId xmlns:a16="http://schemas.microsoft.com/office/drawing/2014/main" val="602235536"/>
                    </a:ext>
                  </a:extLst>
                </a:gridCol>
              </a:tblGrid>
              <a:tr h="370840">
                <a:tc>
                  <a:txBody>
                    <a:bodyPr/>
                    <a:lstStyle/>
                    <a:p>
                      <a:endParaRPr lang="en-GB"/>
                    </a:p>
                  </a:txBody>
                  <a:tcPr/>
                </a:tc>
                <a:tc>
                  <a:txBody>
                    <a:bodyPr/>
                    <a:lstStyle/>
                    <a:p>
                      <a:endParaRPr lang="en-GB"/>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309184989"/>
                  </a:ext>
                </a:extLst>
              </a:tr>
              <a:tr h="370840">
                <a:tc rowSpan="4">
                  <a:txBody>
                    <a:bodyPr/>
                    <a:lstStyle/>
                    <a:p>
                      <a:pPr algn="ctr"/>
                      <a:r>
                        <a:rPr lang="en-GB" b="1" dirty="0"/>
                        <a:t>Mid Term</a:t>
                      </a:r>
                    </a:p>
                  </a:txBody>
                  <a:tcPr anchor="ctr"/>
                </a:tc>
                <a:tc>
                  <a:txBody>
                    <a:bodyPr/>
                    <a:lstStyle/>
                    <a:p>
                      <a:pPr algn="l"/>
                      <a:r>
                        <a:rPr lang="en-GB" dirty="0"/>
                        <a:t>Attendance</a:t>
                      </a:r>
                    </a:p>
                  </a:txBody>
                  <a:tcPr anchor="ctr"/>
                </a:tc>
                <a:tc>
                  <a:txBody>
                    <a:bodyPr/>
                    <a:lstStyle/>
                    <a:p>
                      <a:pPr algn="ctr"/>
                      <a:r>
                        <a:rPr lang="en-GB" dirty="0"/>
                        <a:t>10</a:t>
                      </a:r>
                    </a:p>
                  </a:txBody>
                  <a:tcPr anchor="ctr"/>
                </a:tc>
                <a:tc rowSpan="4">
                  <a:txBody>
                    <a:bodyPr/>
                    <a:lstStyle/>
                    <a:p>
                      <a:pPr algn="ctr"/>
                      <a:r>
                        <a:rPr lang="en-GB" b="1" dirty="0"/>
                        <a:t>40%</a:t>
                      </a:r>
                    </a:p>
                  </a:txBody>
                  <a:tcPr anchor="ctr"/>
                </a:tc>
                <a:extLst>
                  <a:ext uri="{0D108BD9-81ED-4DB2-BD59-A6C34878D82A}">
                    <a16:rowId xmlns:a16="http://schemas.microsoft.com/office/drawing/2014/main" val="3482864164"/>
                  </a:ext>
                </a:extLst>
              </a:tr>
              <a:tr h="370840">
                <a:tc vMerge="1">
                  <a:txBody>
                    <a:bodyPr/>
                    <a:lstStyle/>
                    <a:p>
                      <a:endParaRPr lang="en-US"/>
                    </a:p>
                  </a:txBody>
                  <a:tcPr/>
                </a:tc>
                <a:tc>
                  <a:txBody>
                    <a:bodyPr/>
                    <a:lstStyle/>
                    <a:p>
                      <a:pPr algn="l"/>
                      <a:r>
                        <a:rPr lang="en-GB" dirty="0"/>
                        <a:t>Quizzes</a:t>
                      </a:r>
                    </a:p>
                  </a:txBody>
                  <a:tcPr anchor="ctr"/>
                </a:tc>
                <a:tc>
                  <a:txBody>
                    <a:bodyPr/>
                    <a:lstStyle/>
                    <a:p>
                      <a:pPr algn="ctr"/>
                      <a:r>
                        <a:rPr lang="en-GB" dirty="0"/>
                        <a:t>30</a:t>
                      </a:r>
                    </a:p>
                  </a:txBody>
                  <a:tcPr anchor="ctr"/>
                </a:tc>
                <a:tc vMerge="1">
                  <a:txBody>
                    <a:bodyPr/>
                    <a:lstStyle/>
                    <a:p>
                      <a:endParaRPr lang="en-US"/>
                    </a:p>
                  </a:txBody>
                  <a:tcPr/>
                </a:tc>
                <a:extLst>
                  <a:ext uri="{0D108BD9-81ED-4DB2-BD59-A6C34878D82A}">
                    <a16:rowId xmlns:a16="http://schemas.microsoft.com/office/drawing/2014/main" val="2876015838"/>
                  </a:ext>
                </a:extLst>
              </a:tr>
              <a:tr h="370840">
                <a:tc vMerge="1">
                  <a:txBody>
                    <a:bodyPr/>
                    <a:lstStyle/>
                    <a:p>
                      <a:endParaRPr lang="en-GB" dirty="0"/>
                    </a:p>
                  </a:txBody>
                  <a:tcPr/>
                </a:tc>
                <a:tc>
                  <a:txBody>
                    <a:bodyPr/>
                    <a:lstStyle/>
                    <a:p>
                      <a:pPr algn="l"/>
                      <a:r>
                        <a:rPr lang="en-GB" dirty="0"/>
                        <a:t>Tasks/Presentation</a:t>
                      </a:r>
                    </a:p>
                  </a:txBody>
                  <a:tcPr anchor="ctr"/>
                </a:tc>
                <a:tc>
                  <a:txBody>
                    <a:bodyPr/>
                    <a:lstStyle/>
                    <a:p>
                      <a:pPr algn="ctr"/>
                      <a:r>
                        <a:rPr lang="en-GB" dirty="0"/>
                        <a:t>10</a:t>
                      </a:r>
                    </a:p>
                  </a:txBody>
                  <a:tcPr anchor="ctr"/>
                </a:tc>
                <a:tc vMerge="1">
                  <a:txBody>
                    <a:bodyPr/>
                    <a:lstStyle/>
                    <a:p>
                      <a:endParaRPr lang="en-GB" dirty="0"/>
                    </a:p>
                  </a:txBody>
                  <a:tcPr/>
                </a:tc>
                <a:extLst>
                  <a:ext uri="{0D108BD9-81ED-4DB2-BD59-A6C34878D82A}">
                    <a16:rowId xmlns:a16="http://schemas.microsoft.com/office/drawing/2014/main" val="172124317"/>
                  </a:ext>
                </a:extLst>
              </a:tr>
              <a:tr h="370840">
                <a:tc vMerge="1">
                  <a:txBody>
                    <a:bodyPr/>
                    <a:lstStyle/>
                    <a:p>
                      <a:endParaRPr lang="en-GB" dirty="0"/>
                    </a:p>
                  </a:txBody>
                  <a:tcPr/>
                </a:tc>
                <a:tc>
                  <a:txBody>
                    <a:bodyPr/>
                    <a:lstStyle/>
                    <a:p>
                      <a:pPr algn="l"/>
                      <a:r>
                        <a:rPr lang="en-GB" dirty="0"/>
                        <a:t>Assignment + Viva</a:t>
                      </a:r>
                    </a:p>
                  </a:txBody>
                  <a:tcPr anchor="ctr"/>
                </a:tc>
                <a:tc>
                  <a:txBody>
                    <a:bodyPr/>
                    <a:lstStyle/>
                    <a:p>
                      <a:pPr algn="ctr"/>
                      <a:r>
                        <a:rPr lang="en-GB" dirty="0"/>
                        <a:t>50</a:t>
                      </a:r>
                    </a:p>
                  </a:txBody>
                  <a:tcPr anchor="ctr"/>
                </a:tc>
                <a:tc vMerge="1">
                  <a:txBody>
                    <a:bodyPr/>
                    <a:lstStyle/>
                    <a:p>
                      <a:endParaRPr lang="en-GB" dirty="0"/>
                    </a:p>
                  </a:txBody>
                  <a:tcPr/>
                </a:tc>
                <a:extLst>
                  <a:ext uri="{0D108BD9-81ED-4DB2-BD59-A6C34878D82A}">
                    <a16:rowId xmlns:a16="http://schemas.microsoft.com/office/drawing/2014/main" val="4219773479"/>
                  </a:ext>
                </a:extLst>
              </a:tr>
              <a:tr h="370840">
                <a:tc rowSpan="4">
                  <a:txBody>
                    <a:bodyPr/>
                    <a:lstStyle/>
                    <a:p>
                      <a:pPr algn="ctr"/>
                      <a:r>
                        <a:rPr lang="en-GB" b="1" dirty="0"/>
                        <a:t>Final Term</a:t>
                      </a:r>
                    </a:p>
                  </a:txBody>
                  <a:tcPr anchor="ctr"/>
                </a:tc>
                <a:tc>
                  <a:txBody>
                    <a:bodyPr/>
                    <a:lstStyle/>
                    <a:p>
                      <a:pPr algn="l"/>
                      <a:r>
                        <a:rPr lang="en-GB" dirty="0"/>
                        <a:t>Attendance</a:t>
                      </a:r>
                    </a:p>
                  </a:txBody>
                  <a:tcPr anchor="ctr"/>
                </a:tc>
                <a:tc>
                  <a:txBody>
                    <a:bodyPr/>
                    <a:lstStyle/>
                    <a:p>
                      <a:pPr algn="ctr"/>
                      <a:r>
                        <a:rPr lang="en-GB" dirty="0"/>
                        <a:t>10</a:t>
                      </a:r>
                    </a:p>
                  </a:txBody>
                  <a:tcPr anchor="ctr"/>
                </a:tc>
                <a:tc rowSpan="4">
                  <a:txBody>
                    <a:bodyPr/>
                    <a:lstStyle/>
                    <a:p>
                      <a:pPr algn="ctr"/>
                      <a:r>
                        <a:rPr lang="en-GB" b="1" dirty="0"/>
                        <a:t>60%</a:t>
                      </a:r>
                    </a:p>
                  </a:txBody>
                  <a:tcPr anchor="ctr"/>
                </a:tc>
                <a:extLst>
                  <a:ext uri="{0D108BD9-81ED-4DB2-BD59-A6C34878D82A}">
                    <a16:rowId xmlns:a16="http://schemas.microsoft.com/office/drawing/2014/main" val="442334988"/>
                  </a:ext>
                </a:extLst>
              </a:tr>
              <a:tr h="370840">
                <a:tc vMerge="1">
                  <a:txBody>
                    <a:bodyPr/>
                    <a:lstStyle/>
                    <a:p>
                      <a:endParaRPr lang="en-US"/>
                    </a:p>
                  </a:txBody>
                  <a:tcPr/>
                </a:tc>
                <a:tc>
                  <a:txBody>
                    <a:bodyPr/>
                    <a:lstStyle/>
                    <a:p>
                      <a:pPr algn="l"/>
                      <a:r>
                        <a:rPr lang="en-GB" dirty="0"/>
                        <a:t>Quizzes</a:t>
                      </a:r>
                    </a:p>
                  </a:txBody>
                  <a:tcPr anchor="ctr"/>
                </a:tc>
                <a:tc>
                  <a:txBody>
                    <a:bodyPr/>
                    <a:lstStyle/>
                    <a:p>
                      <a:pPr algn="ctr"/>
                      <a:r>
                        <a:rPr lang="en-GB" dirty="0"/>
                        <a:t>30</a:t>
                      </a:r>
                    </a:p>
                  </a:txBody>
                  <a:tcPr anchor="ctr"/>
                </a:tc>
                <a:tc vMerge="1">
                  <a:txBody>
                    <a:bodyPr/>
                    <a:lstStyle/>
                    <a:p>
                      <a:endParaRPr lang="en-US"/>
                    </a:p>
                  </a:txBody>
                  <a:tcPr/>
                </a:tc>
                <a:extLst>
                  <a:ext uri="{0D108BD9-81ED-4DB2-BD59-A6C34878D82A}">
                    <a16:rowId xmlns:a16="http://schemas.microsoft.com/office/drawing/2014/main" val="1221548725"/>
                  </a:ext>
                </a:extLst>
              </a:tr>
              <a:tr h="370840">
                <a:tc vMerge="1">
                  <a:txBody>
                    <a:bodyPr/>
                    <a:lstStyle/>
                    <a:p>
                      <a:endParaRPr lang="en-GB" dirty="0"/>
                    </a:p>
                  </a:txBody>
                  <a:tcPr/>
                </a:tc>
                <a:tc>
                  <a:txBody>
                    <a:bodyPr/>
                    <a:lstStyle/>
                    <a:p>
                      <a:pPr algn="l"/>
                      <a:r>
                        <a:rPr lang="en-GB" dirty="0"/>
                        <a:t>Tasks/Presentation</a:t>
                      </a:r>
                    </a:p>
                  </a:txBody>
                  <a:tcPr anchor="ctr"/>
                </a:tc>
                <a:tc>
                  <a:txBody>
                    <a:bodyPr/>
                    <a:lstStyle/>
                    <a:p>
                      <a:pPr algn="ctr"/>
                      <a:r>
                        <a:rPr lang="en-GB" dirty="0"/>
                        <a:t>10</a:t>
                      </a:r>
                    </a:p>
                  </a:txBody>
                  <a:tcPr anchor="ctr"/>
                </a:tc>
                <a:tc vMerge="1">
                  <a:txBody>
                    <a:bodyPr/>
                    <a:lstStyle/>
                    <a:p>
                      <a:endParaRPr lang="en-GB" dirty="0"/>
                    </a:p>
                  </a:txBody>
                  <a:tcPr/>
                </a:tc>
                <a:extLst>
                  <a:ext uri="{0D108BD9-81ED-4DB2-BD59-A6C34878D82A}">
                    <a16:rowId xmlns:a16="http://schemas.microsoft.com/office/drawing/2014/main" val="2866774510"/>
                  </a:ext>
                </a:extLst>
              </a:tr>
              <a:tr h="370840">
                <a:tc vMerge="1">
                  <a:txBody>
                    <a:bodyPr/>
                    <a:lstStyle/>
                    <a:p>
                      <a:endParaRPr lang="en-GB" dirty="0"/>
                    </a:p>
                  </a:txBody>
                  <a:tcPr/>
                </a:tc>
                <a:tc>
                  <a:txBody>
                    <a:bodyPr/>
                    <a:lstStyle/>
                    <a:p>
                      <a:pPr algn="l"/>
                      <a:r>
                        <a:rPr lang="en-GB" dirty="0"/>
                        <a:t>Project Implementation + VIVA</a:t>
                      </a:r>
                    </a:p>
                  </a:txBody>
                  <a:tcPr anchor="ctr"/>
                </a:tc>
                <a:tc>
                  <a:txBody>
                    <a:bodyPr/>
                    <a:lstStyle/>
                    <a:p>
                      <a:pPr algn="ctr"/>
                      <a:r>
                        <a:rPr lang="en-GB"/>
                        <a:t>50</a:t>
                      </a:r>
                      <a:endParaRPr lang="en-GB" dirty="0"/>
                    </a:p>
                  </a:txBody>
                  <a:tcPr anchor="ctr"/>
                </a:tc>
                <a:tc vMerge="1">
                  <a:txBody>
                    <a:bodyPr/>
                    <a:lstStyle/>
                    <a:p>
                      <a:endParaRPr lang="en-GB" dirty="0"/>
                    </a:p>
                  </a:txBody>
                  <a:tcPr/>
                </a:tc>
                <a:extLst>
                  <a:ext uri="{0D108BD9-81ED-4DB2-BD59-A6C34878D82A}">
                    <a16:rowId xmlns:a16="http://schemas.microsoft.com/office/drawing/2014/main" val="621032680"/>
                  </a:ext>
                </a:extLst>
              </a:tr>
              <a:tr h="370840">
                <a:tc>
                  <a:txBody>
                    <a:bodyPr/>
                    <a:lstStyle/>
                    <a:p>
                      <a:pPr algn="ctr"/>
                      <a:r>
                        <a:rPr lang="en-GB" b="1" dirty="0"/>
                        <a:t>Grand</a:t>
                      </a:r>
                    </a:p>
                  </a:txBody>
                  <a:tcPr anchor="ctr"/>
                </a:tc>
                <a:tc>
                  <a:txBody>
                    <a:bodyPr/>
                    <a:lstStyle/>
                    <a:p>
                      <a:pPr algn="ctr"/>
                      <a:endParaRPr lang="en-GB" dirty="0"/>
                    </a:p>
                  </a:txBody>
                  <a:tcPr anchor="ctr"/>
                </a:tc>
                <a:tc>
                  <a:txBody>
                    <a:bodyPr/>
                    <a:lstStyle/>
                    <a:p>
                      <a:pPr algn="ctr"/>
                      <a:endParaRPr lang="en-GB" dirty="0"/>
                    </a:p>
                  </a:txBody>
                  <a:tcPr anchor="ctr"/>
                </a:tc>
                <a:tc>
                  <a:txBody>
                    <a:bodyPr/>
                    <a:lstStyle/>
                    <a:p>
                      <a:pPr algn="ctr"/>
                      <a:r>
                        <a:rPr lang="en-GB" b="1" dirty="0"/>
                        <a:t>100%</a:t>
                      </a:r>
                    </a:p>
                  </a:txBody>
                  <a:tcPr anchor="ctr"/>
                </a:tc>
                <a:extLst>
                  <a:ext uri="{0D108BD9-81ED-4DB2-BD59-A6C34878D82A}">
                    <a16:rowId xmlns:a16="http://schemas.microsoft.com/office/drawing/2014/main" val="3012076639"/>
                  </a:ext>
                </a:extLst>
              </a:tr>
            </a:tbl>
          </a:graphicData>
        </a:graphic>
      </p:graphicFrame>
      <p:sp>
        <p:nvSpPr>
          <p:cNvPr id="4" name="Title 1">
            <a:extLst>
              <a:ext uri="{FF2B5EF4-FFF2-40B4-BE49-F238E27FC236}">
                <a16:creationId xmlns:a16="http://schemas.microsoft.com/office/drawing/2014/main" id="{5F44FE12-C11A-C020-4145-241094B7F49D}"/>
              </a:ext>
            </a:extLst>
          </p:cNvPr>
          <p:cNvSpPr txBox="1">
            <a:spLocks/>
          </p:cNvSpPr>
          <p:nvPr/>
        </p:nvSpPr>
        <p:spPr>
          <a:xfrm>
            <a:off x="1143000" y="609600"/>
            <a:ext cx="9875520" cy="135636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Course Evaluation</a:t>
            </a:r>
          </a:p>
        </p:txBody>
      </p:sp>
    </p:spTree>
    <p:extLst>
      <p:ext uri="{BB962C8B-B14F-4D97-AF65-F5344CB8AC3E}">
        <p14:creationId xmlns:p14="http://schemas.microsoft.com/office/powerpoint/2010/main" val="3021129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3C298-228B-E346-0448-C224F0B293EF}"/>
              </a:ext>
            </a:extLst>
          </p:cNvPr>
          <p:cNvSpPr>
            <a:spLocks noGrp="1"/>
          </p:cNvSpPr>
          <p:nvPr>
            <p:ph type="title"/>
          </p:nvPr>
        </p:nvSpPr>
        <p:spPr/>
        <p:txBody>
          <a:bodyPr/>
          <a:lstStyle/>
          <a:p>
            <a:r>
              <a:rPr lang="en-US" dirty="0"/>
              <a:t>Course Requirements</a:t>
            </a:r>
          </a:p>
        </p:txBody>
      </p:sp>
      <p:sp>
        <p:nvSpPr>
          <p:cNvPr id="3" name="Content Placeholder 2">
            <a:extLst>
              <a:ext uri="{FF2B5EF4-FFF2-40B4-BE49-F238E27FC236}">
                <a16:creationId xmlns:a16="http://schemas.microsoft.com/office/drawing/2014/main" id="{AB1D6F5B-C710-88EC-3077-0D742C04BB6C}"/>
              </a:ext>
            </a:extLst>
          </p:cNvPr>
          <p:cNvSpPr>
            <a:spLocks noGrp="1"/>
          </p:cNvSpPr>
          <p:nvPr>
            <p:ph idx="1"/>
          </p:nvPr>
        </p:nvSpPr>
        <p:spPr/>
        <p:txBody>
          <a:bodyPr>
            <a:normAutofit/>
          </a:bodyPr>
          <a:lstStyle/>
          <a:p>
            <a:pPr marL="274320" indent="-274320" algn="just">
              <a:spcBef>
                <a:spcPts val="600"/>
              </a:spcBef>
              <a:buFont typeface="Wingdings" pitchFamily="2" charset="2"/>
              <a:buChar char="§"/>
            </a:pPr>
            <a:r>
              <a:rPr lang="en-US" sz="2400" dirty="0">
                <a:solidFill>
                  <a:srgbClr val="FF0000"/>
                </a:solidFill>
              </a:rPr>
              <a:t>Must have at least 80% attendance to pass this course. </a:t>
            </a:r>
            <a:r>
              <a:rPr lang="en-US" sz="2400" dirty="0"/>
              <a:t>Failure to do so will result in an </a:t>
            </a:r>
            <a:r>
              <a:rPr lang="en-US" sz="2400" b="1" dirty="0">
                <a:solidFill>
                  <a:srgbClr val="FF0000"/>
                </a:solidFill>
              </a:rPr>
              <a:t>automatic</a:t>
            </a:r>
            <a:r>
              <a:rPr lang="en-US" sz="2400" dirty="0"/>
              <a:t> </a:t>
            </a:r>
            <a:r>
              <a:rPr lang="en-US" sz="2400" b="1" dirty="0">
                <a:solidFill>
                  <a:srgbClr val="FF0000"/>
                </a:solidFill>
              </a:rPr>
              <a:t>UW</a:t>
            </a:r>
            <a:r>
              <a:rPr lang="en-US" sz="2400" dirty="0"/>
              <a:t>.</a:t>
            </a:r>
          </a:p>
          <a:p>
            <a:pPr marL="274320" indent="-274320" algn="just">
              <a:spcBef>
                <a:spcPts val="600"/>
              </a:spcBef>
              <a:buFont typeface="Wingdings" pitchFamily="2" charset="2"/>
              <a:buChar char="§"/>
            </a:pPr>
            <a:r>
              <a:rPr lang="en-US" sz="2400" dirty="0"/>
              <a:t>Must appear in the midterm and final term exam.</a:t>
            </a:r>
          </a:p>
          <a:p>
            <a:pPr marL="274320" indent="-274320" algn="just">
              <a:spcBef>
                <a:spcPts val="600"/>
              </a:spcBef>
              <a:buFont typeface="Wingdings" pitchFamily="2" charset="2"/>
              <a:buChar char="§"/>
            </a:pPr>
            <a:r>
              <a:rPr lang="en-US" sz="2400" dirty="0"/>
              <a:t>No make-up Quiz. </a:t>
            </a:r>
          </a:p>
          <a:p>
            <a:pPr marL="274320" lvl="1" indent="-274320" algn="just">
              <a:spcBef>
                <a:spcPts val="600"/>
              </a:spcBef>
              <a:buFont typeface="Wingdings" pitchFamily="2" charset="2"/>
              <a:buChar char="§"/>
            </a:pPr>
            <a:r>
              <a:rPr lang="en-US" sz="2400" dirty="0"/>
              <a:t>No request will be entertained for raising grade.</a:t>
            </a:r>
          </a:p>
          <a:p>
            <a:pPr marL="274320" lvl="1" indent="-274320" algn="just">
              <a:spcBef>
                <a:spcPts val="600"/>
              </a:spcBef>
              <a:buFont typeface="Wingdings" pitchFamily="2" charset="2"/>
              <a:buChar char="§"/>
            </a:pPr>
            <a:endParaRPr lang="en-US" sz="2400" dirty="0"/>
          </a:p>
          <a:p>
            <a:pPr algn="just"/>
            <a:endParaRPr lang="en-US" sz="2000" dirty="0"/>
          </a:p>
        </p:txBody>
      </p:sp>
      <p:sp>
        <p:nvSpPr>
          <p:cNvPr id="4" name="Slide Number Placeholder 3">
            <a:extLst>
              <a:ext uri="{FF2B5EF4-FFF2-40B4-BE49-F238E27FC236}">
                <a16:creationId xmlns:a16="http://schemas.microsoft.com/office/drawing/2014/main" id="{90606F65-4E64-4BDD-BFBE-95C2810E9921}"/>
              </a:ext>
            </a:extLst>
          </p:cNvPr>
          <p:cNvSpPr>
            <a:spLocks noGrp="1"/>
          </p:cNvSpPr>
          <p:nvPr>
            <p:ph type="sldNum" sz="quarter" idx="12"/>
          </p:nvPr>
        </p:nvSpPr>
        <p:spPr/>
        <p:txBody>
          <a:bodyPr/>
          <a:lstStyle/>
          <a:p>
            <a:fld id="{C3584116-71E9-45F8-BC17-47CE06098486}" type="slidenum">
              <a:rPr lang="en-US" smtClean="0"/>
              <a:t>8</a:t>
            </a:fld>
            <a:endParaRPr lang="en-US"/>
          </a:p>
        </p:txBody>
      </p:sp>
    </p:spTree>
    <p:extLst>
      <p:ext uri="{BB962C8B-B14F-4D97-AF65-F5344CB8AC3E}">
        <p14:creationId xmlns:p14="http://schemas.microsoft.com/office/powerpoint/2010/main" val="2760359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01ABB-55A2-33EF-937C-9F936E2392D7}"/>
              </a:ext>
            </a:extLst>
          </p:cNvPr>
          <p:cNvSpPr>
            <a:spLocks noGrp="1"/>
          </p:cNvSpPr>
          <p:nvPr>
            <p:ph type="title"/>
          </p:nvPr>
        </p:nvSpPr>
        <p:spPr/>
        <p:txBody>
          <a:bodyPr/>
          <a:lstStyle/>
          <a:p>
            <a:r>
              <a:rPr lang="en-US" dirty="0"/>
              <a:t>Attendance</a:t>
            </a:r>
          </a:p>
        </p:txBody>
      </p:sp>
      <p:sp>
        <p:nvSpPr>
          <p:cNvPr id="3" name="Content Placeholder 2">
            <a:extLst>
              <a:ext uri="{FF2B5EF4-FFF2-40B4-BE49-F238E27FC236}">
                <a16:creationId xmlns:a16="http://schemas.microsoft.com/office/drawing/2014/main" id="{635BF3BE-E58D-8140-6BD7-192C346B3B95}"/>
              </a:ext>
            </a:extLst>
          </p:cNvPr>
          <p:cNvSpPr>
            <a:spLocks noGrp="1"/>
          </p:cNvSpPr>
          <p:nvPr>
            <p:ph idx="1"/>
          </p:nvPr>
        </p:nvSpPr>
        <p:spPr/>
        <p:txBody>
          <a:bodyPr>
            <a:normAutofit/>
          </a:bodyPr>
          <a:lstStyle/>
          <a:p>
            <a:pPr marL="274320" indent="-274320" algn="just">
              <a:spcBef>
                <a:spcPts val="600"/>
              </a:spcBef>
              <a:buFont typeface="Arial" pitchFamily="34" charset="0"/>
              <a:buChar char="•"/>
            </a:pPr>
            <a:r>
              <a:rPr lang="en-US" sz="2400" dirty="0">
                <a:solidFill>
                  <a:srgbClr val="FF0000"/>
                </a:solidFill>
              </a:rPr>
              <a:t>If your attendance falls below 75%, you will get UW.</a:t>
            </a:r>
          </a:p>
          <a:p>
            <a:pPr marL="274320" indent="-274320" algn="just">
              <a:spcBef>
                <a:spcPts val="600"/>
              </a:spcBef>
              <a:buFont typeface="Arial" pitchFamily="34" charset="0"/>
              <a:buChar char="•"/>
            </a:pPr>
            <a:r>
              <a:rPr lang="en-US" sz="2400" dirty="0"/>
              <a:t>If you are absent for some reason, then you must submit an application (hard copy, in the given format) with valid supporting documents when you come next time in the class. </a:t>
            </a:r>
          </a:p>
          <a:p>
            <a:pPr marL="274320" indent="-274320" algn="just">
              <a:spcBef>
                <a:spcPts val="600"/>
              </a:spcBef>
              <a:buFont typeface="Arial" pitchFamily="34" charset="0"/>
              <a:buChar char="•"/>
            </a:pPr>
            <a:r>
              <a:rPr lang="en-US" sz="2400" u="sng" dirty="0">
                <a:solidFill>
                  <a:srgbClr val="FF0000"/>
                </a:solidFill>
              </a:rPr>
              <a:t>If you are in probation</a:t>
            </a:r>
            <a:r>
              <a:rPr lang="en-US" sz="2400" dirty="0">
                <a:solidFill>
                  <a:srgbClr val="FF0000"/>
                </a:solidFill>
              </a:rPr>
              <a:t>, do NOT miss any class.</a:t>
            </a:r>
          </a:p>
          <a:p>
            <a:pPr marL="274320" indent="-274320" algn="just">
              <a:spcBef>
                <a:spcPts val="600"/>
              </a:spcBef>
              <a:buFont typeface="Arial" pitchFamily="34" charset="0"/>
              <a:buChar char="•"/>
            </a:pPr>
            <a:r>
              <a:rPr lang="en-US" sz="2400" b="1" i="1" u="sng" dirty="0">
                <a:solidFill>
                  <a:srgbClr val="FF0000"/>
                </a:solidFill>
              </a:rPr>
              <a:t>Note</a:t>
            </a:r>
            <a:r>
              <a:rPr lang="en-US" sz="2400" dirty="0">
                <a:solidFill>
                  <a:srgbClr val="FF0000"/>
                </a:solidFill>
              </a:rPr>
              <a:t>: A Probation student can NOT DROP course. </a:t>
            </a:r>
          </a:p>
          <a:p>
            <a:pPr algn="just"/>
            <a:endParaRPr lang="en-US" sz="2400" dirty="0"/>
          </a:p>
        </p:txBody>
      </p:sp>
      <p:sp>
        <p:nvSpPr>
          <p:cNvPr id="4" name="Slide Number Placeholder 3">
            <a:extLst>
              <a:ext uri="{FF2B5EF4-FFF2-40B4-BE49-F238E27FC236}">
                <a16:creationId xmlns:a16="http://schemas.microsoft.com/office/drawing/2014/main" id="{3D6F819B-31F9-527B-A8A0-A39A97D9D53A}"/>
              </a:ext>
            </a:extLst>
          </p:cNvPr>
          <p:cNvSpPr>
            <a:spLocks noGrp="1"/>
          </p:cNvSpPr>
          <p:nvPr>
            <p:ph type="sldNum" sz="quarter" idx="12"/>
          </p:nvPr>
        </p:nvSpPr>
        <p:spPr/>
        <p:txBody>
          <a:bodyPr/>
          <a:lstStyle/>
          <a:p>
            <a:fld id="{C3584116-71E9-45F8-BC17-47CE06098486}" type="slidenum">
              <a:rPr lang="en-US" smtClean="0"/>
              <a:t>9</a:t>
            </a:fld>
            <a:endParaRPr lang="en-US"/>
          </a:p>
        </p:txBody>
      </p:sp>
    </p:spTree>
    <p:extLst>
      <p:ext uri="{BB962C8B-B14F-4D97-AF65-F5344CB8AC3E}">
        <p14:creationId xmlns:p14="http://schemas.microsoft.com/office/powerpoint/2010/main" val="645114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390A-A2A4-C3EA-86DC-229B2F2B8FD5}"/>
              </a:ext>
            </a:extLst>
          </p:cNvPr>
          <p:cNvSpPr>
            <a:spLocks noGrp="1"/>
          </p:cNvSpPr>
          <p:nvPr>
            <p:ph type="title"/>
          </p:nvPr>
        </p:nvSpPr>
        <p:spPr/>
        <p:txBody>
          <a:bodyPr/>
          <a:lstStyle/>
          <a:p>
            <a:r>
              <a:rPr lang="en-US" dirty="0"/>
              <a:t>Cheating Policy (Official Rule)</a:t>
            </a:r>
          </a:p>
        </p:txBody>
      </p:sp>
      <p:sp>
        <p:nvSpPr>
          <p:cNvPr id="3" name="Content Placeholder 2">
            <a:extLst>
              <a:ext uri="{FF2B5EF4-FFF2-40B4-BE49-F238E27FC236}">
                <a16:creationId xmlns:a16="http://schemas.microsoft.com/office/drawing/2014/main" id="{4F384648-89EB-07B4-44A5-A2810CDB1741}"/>
              </a:ext>
            </a:extLst>
          </p:cNvPr>
          <p:cNvSpPr>
            <a:spLocks noGrp="1"/>
          </p:cNvSpPr>
          <p:nvPr>
            <p:ph idx="1"/>
          </p:nvPr>
        </p:nvSpPr>
        <p:spPr/>
        <p:txBody>
          <a:bodyPr/>
          <a:lstStyle/>
          <a:p>
            <a:pPr marL="274320" lvl="1" indent="-274320">
              <a:spcBef>
                <a:spcPts val="600"/>
              </a:spcBef>
              <a:buFont typeface="Arial" pitchFamily="34" charset="0"/>
              <a:buChar char="•"/>
            </a:pPr>
            <a:r>
              <a:rPr lang="en-US" sz="2400" dirty="0"/>
              <a:t>AIUB does not allow any kind of cheating.</a:t>
            </a:r>
          </a:p>
          <a:p>
            <a:pPr marL="274320" lvl="1" indent="-274320">
              <a:spcBef>
                <a:spcPts val="600"/>
              </a:spcBef>
              <a:buFont typeface="Arial" pitchFamily="34" charset="0"/>
              <a:buChar char="•"/>
            </a:pPr>
            <a:r>
              <a:rPr lang="en-US" sz="2400" dirty="0"/>
              <a:t>In case of cheating, you’ll get an </a:t>
            </a:r>
            <a:r>
              <a:rPr lang="en-US" sz="2400" b="1" dirty="0">
                <a:solidFill>
                  <a:srgbClr val="FF0000"/>
                </a:solidFill>
              </a:rPr>
              <a:t>F</a:t>
            </a:r>
            <a:r>
              <a:rPr lang="en-US" sz="2400" dirty="0"/>
              <a:t> in the course.</a:t>
            </a:r>
          </a:p>
          <a:p>
            <a:pPr marL="274320" lvl="1" indent="-274320">
              <a:spcBef>
                <a:spcPts val="600"/>
              </a:spcBef>
            </a:pPr>
            <a:endParaRPr lang="en-US" dirty="0"/>
          </a:p>
          <a:p>
            <a:endParaRPr lang="en-US" dirty="0"/>
          </a:p>
        </p:txBody>
      </p:sp>
      <p:sp>
        <p:nvSpPr>
          <p:cNvPr id="4" name="Slide Number Placeholder 3">
            <a:extLst>
              <a:ext uri="{FF2B5EF4-FFF2-40B4-BE49-F238E27FC236}">
                <a16:creationId xmlns:a16="http://schemas.microsoft.com/office/drawing/2014/main" id="{408BEDDD-8660-DCD6-9412-DDE919C44A37}"/>
              </a:ext>
            </a:extLst>
          </p:cNvPr>
          <p:cNvSpPr>
            <a:spLocks noGrp="1"/>
          </p:cNvSpPr>
          <p:nvPr>
            <p:ph type="sldNum" sz="quarter" idx="12"/>
          </p:nvPr>
        </p:nvSpPr>
        <p:spPr/>
        <p:txBody>
          <a:bodyPr/>
          <a:lstStyle/>
          <a:p>
            <a:fld id="{C3584116-71E9-45F8-BC17-47CE06098486}" type="slidenum">
              <a:rPr lang="en-US" smtClean="0"/>
              <a:t>10</a:t>
            </a:fld>
            <a:endParaRPr lang="en-US"/>
          </a:p>
        </p:txBody>
      </p:sp>
    </p:spTree>
    <p:extLst>
      <p:ext uri="{BB962C8B-B14F-4D97-AF65-F5344CB8AC3E}">
        <p14:creationId xmlns:p14="http://schemas.microsoft.com/office/powerpoint/2010/main" val="2739253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C4EE64E1-A97D-E42B-BF2C-18D6414D97F7}"/>
              </a:ext>
            </a:extLst>
          </p:cNvPr>
          <p:cNvSpPr>
            <a:spLocks noGrp="1" noChangeArrowheads="1"/>
          </p:cNvSpPr>
          <p:nvPr>
            <p:ph type="title"/>
          </p:nvPr>
        </p:nvSpPr>
        <p:spPr/>
        <p:txBody>
          <a:bodyPr/>
          <a:lstStyle/>
          <a:p>
            <a:pPr eaLnBrk="1" hangingPunct="1"/>
            <a:r>
              <a:rPr lang="en-US" altLang="en-US"/>
              <a:t>Teaching</a:t>
            </a:r>
          </a:p>
        </p:txBody>
      </p:sp>
      <p:sp>
        <p:nvSpPr>
          <p:cNvPr id="12291" name="Content Placeholder 2">
            <a:extLst>
              <a:ext uri="{FF2B5EF4-FFF2-40B4-BE49-F238E27FC236}">
                <a16:creationId xmlns:a16="http://schemas.microsoft.com/office/drawing/2014/main" id="{07EF6D2A-2D2C-C3D0-D93B-C866D65AA8CD}"/>
              </a:ext>
            </a:extLst>
          </p:cNvPr>
          <p:cNvSpPr>
            <a:spLocks noGrp="1" noChangeArrowheads="1"/>
          </p:cNvSpPr>
          <p:nvPr>
            <p:ph idx="1"/>
          </p:nvPr>
        </p:nvSpPr>
        <p:spPr/>
        <p:txBody>
          <a:bodyPr/>
          <a:lstStyle/>
          <a:p>
            <a:pPr eaLnBrk="1" hangingPunct="1"/>
            <a:r>
              <a:rPr lang="en-US" altLang="en-US" dirty="0"/>
              <a:t>Class lectures are mandatory.</a:t>
            </a:r>
          </a:p>
          <a:p>
            <a:pPr lvl="1" eaLnBrk="1" hangingPunct="1">
              <a:spcBef>
                <a:spcPts val="1200"/>
              </a:spcBef>
            </a:pPr>
            <a:r>
              <a:rPr lang="en-US" altLang="en-US" sz="2200" dirty="0"/>
              <a:t>Class attendance</a:t>
            </a:r>
          </a:p>
          <a:p>
            <a:pPr lvl="1" eaLnBrk="1" hangingPunct="1"/>
            <a:r>
              <a:rPr lang="en-US" altLang="en-US" sz="2200" dirty="0"/>
              <a:t>Late in class</a:t>
            </a:r>
          </a:p>
          <a:p>
            <a:pPr lvl="1" eaLnBrk="1" hangingPunct="1"/>
            <a:r>
              <a:rPr lang="en-US" altLang="en-US" sz="2200" dirty="0"/>
              <a:t>Class break</a:t>
            </a:r>
          </a:p>
          <a:p>
            <a:pPr eaLnBrk="1" hangingPunct="1"/>
            <a:r>
              <a:rPr lang="en-US" altLang="en-US" dirty="0"/>
              <a:t>Course materials will be provided (on VUES) and suggested time to time.</a:t>
            </a:r>
          </a:p>
          <a:p>
            <a:pPr eaLnBrk="1" hangingPunct="1"/>
            <a:r>
              <a:rPr lang="en-US" altLang="en-US" dirty="0"/>
              <a:t>Consultation /Communication</a:t>
            </a:r>
          </a:p>
          <a:p>
            <a:pPr eaLnBrk="1" hangingPunct="1"/>
            <a:r>
              <a:rPr lang="en-US" altLang="en-US" dirty="0"/>
              <a:t>Grading: F/ I /UW</a:t>
            </a:r>
          </a:p>
          <a:p>
            <a:pPr eaLnBrk="1" hangingPunct="1"/>
            <a:endParaRPr lang="en-US" altLang="en-US" dirty="0"/>
          </a:p>
        </p:txBody>
      </p:sp>
      <p:sp>
        <p:nvSpPr>
          <p:cNvPr id="12292" name="Slide Number Placeholder 1">
            <a:extLst>
              <a:ext uri="{FF2B5EF4-FFF2-40B4-BE49-F238E27FC236}">
                <a16:creationId xmlns:a16="http://schemas.microsoft.com/office/drawing/2014/main" id="{4C1C2525-C396-72FB-E9C2-5B23146A180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eaLnBrk="0" fontAlgn="base" hangingPunct="0">
              <a:spcBef>
                <a:spcPct val="0"/>
              </a:spcBef>
              <a:spcAft>
                <a:spcPct val="0"/>
              </a:spcAft>
              <a:defRPr>
                <a:solidFill>
                  <a:schemeClr val="tx1"/>
                </a:solidFill>
                <a:latin typeface="Rockwell" panose="02060603020205020403" pitchFamily="18" charset="0"/>
              </a:defRPr>
            </a:lvl6pPr>
            <a:lvl7pPr marL="2971800" indent="-228600" defTabSz="457200" eaLnBrk="0" fontAlgn="base" hangingPunct="0">
              <a:spcBef>
                <a:spcPct val="0"/>
              </a:spcBef>
              <a:spcAft>
                <a:spcPct val="0"/>
              </a:spcAft>
              <a:defRPr>
                <a:solidFill>
                  <a:schemeClr val="tx1"/>
                </a:solidFill>
                <a:latin typeface="Rockwell" panose="02060603020205020403" pitchFamily="18" charset="0"/>
              </a:defRPr>
            </a:lvl7pPr>
            <a:lvl8pPr marL="3429000" indent="-228600" defTabSz="457200" eaLnBrk="0" fontAlgn="base" hangingPunct="0">
              <a:spcBef>
                <a:spcPct val="0"/>
              </a:spcBef>
              <a:spcAft>
                <a:spcPct val="0"/>
              </a:spcAft>
              <a:defRPr>
                <a:solidFill>
                  <a:schemeClr val="tx1"/>
                </a:solidFill>
                <a:latin typeface="Rockwell" panose="02060603020205020403" pitchFamily="18" charset="0"/>
              </a:defRPr>
            </a:lvl8pPr>
            <a:lvl9pPr marL="3886200" indent="-228600" defTabSz="457200" eaLnBrk="0" fontAlgn="base" hangingPunct="0">
              <a:spcBef>
                <a:spcPct val="0"/>
              </a:spcBef>
              <a:spcAft>
                <a:spcPct val="0"/>
              </a:spcAft>
              <a:defRPr>
                <a:solidFill>
                  <a:schemeClr val="tx1"/>
                </a:solidFill>
                <a:latin typeface="Rockwell" panose="02060603020205020403" pitchFamily="18" charset="0"/>
              </a:defRPr>
            </a:lvl9pPr>
          </a:lstStyle>
          <a:p>
            <a:fld id="{9050439D-35BB-4AC9-8B2D-77C36A934D42}" type="slidenum">
              <a:rPr lang="en-US" altLang="en-US" smtClean="0"/>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A4BCD461-C65F-4100-6A86-657516AE1C62}"/>
              </a:ext>
            </a:extLst>
          </p:cNvPr>
          <p:cNvSpPr>
            <a:spLocks noGrp="1" noChangeArrowheads="1"/>
          </p:cNvSpPr>
          <p:nvPr>
            <p:ph type="title"/>
          </p:nvPr>
        </p:nvSpPr>
        <p:spPr/>
        <p:txBody>
          <a:bodyPr/>
          <a:lstStyle/>
          <a:p>
            <a:pPr eaLnBrk="1" hangingPunct="1"/>
            <a:r>
              <a:rPr lang="en-US" altLang="en-US"/>
              <a:t>Course Outline</a:t>
            </a:r>
          </a:p>
        </p:txBody>
      </p:sp>
      <p:sp>
        <p:nvSpPr>
          <p:cNvPr id="3" name="Content Placeholder 2">
            <a:extLst>
              <a:ext uri="{FF2B5EF4-FFF2-40B4-BE49-F238E27FC236}">
                <a16:creationId xmlns:a16="http://schemas.microsoft.com/office/drawing/2014/main" id="{2DA165A5-4528-903E-88D6-627D5E45988B}"/>
              </a:ext>
            </a:extLst>
          </p:cNvPr>
          <p:cNvSpPr>
            <a:spLocks noGrp="1"/>
          </p:cNvSpPr>
          <p:nvPr>
            <p:ph idx="1"/>
          </p:nvPr>
        </p:nvSpPr>
        <p:spPr>
          <a:xfrm>
            <a:off x="1143000" y="2057400"/>
            <a:ext cx="9872663" cy="4489450"/>
          </a:xfrm>
        </p:spPr>
        <p:txBody>
          <a:bodyPr rtlCol="0">
            <a:normAutofit lnSpcReduction="10000"/>
          </a:bodyPr>
          <a:lstStyle/>
          <a:p>
            <a:pPr indent="-182880" eaLnBrk="1" fontAlgn="auto" hangingPunct="1">
              <a:spcAft>
                <a:spcPts val="0"/>
              </a:spcAft>
              <a:defRPr/>
            </a:pPr>
            <a:endParaRPr lang="en-US" sz="1800" dirty="0"/>
          </a:p>
          <a:p>
            <a:pPr indent="-182880" eaLnBrk="1" fontAlgn="auto" hangingPunct="1">
              <a:spcAft>
                <a:spcPts val="0"/>
              </a:spcAft>
              <a:defRPr/>
            </a:pPr>
            <a:endParaRPr lang="en-US" sz="1800" dirty="0"/>
          </a:p>
          <a:p>
            <a:pPr indent="-182880" eaLnBrk="1" fontAlgn="auto" hangingPunct="1">
              <a:spcAft>
                <a:spcPts val="0"/>
              </a:spcAft>
              <a:defRPr/>
            </a:pPr>
            <a:r>
              <a:rPr lang="en-US" sz="1800" dirty="0"/>
              <a:t>NLP Basics</a:t>
            </a:r>
          </a:p>
          <a:p>
            <a:pPr indent="-182880" eaLnBrk="1" fontAlgn="auto" hangingPunct="1">
              <a:spcAft>
                <a:spcPts val="0"/>
              </a:spcAft>
              <a:defRPr/>
            </a:pPr>
            <a:r>
              <a:rPr lang="en-US" sz="1800" dirty="0"/>
              <a:t>Regular Expression</a:t>
            </a:r>
          </a:p>
          <a:p>
            <a:pPr indent="-182880" eaLnBrk="1" fontAlgn="auto" hangingPunct="1">
              <a:spcAft>
                <a:spcPts val="0"/>
              </a:spcAft>
              <a:defRPr/>
            </a:pPr>
            <a:r>
              <a:rPr lang="en-US" sz="1800" dirty="0"/>
              <a:t>Text Processing/Normalization</a:t>
            </a:r>
          </a:p>
          <a:p>
            <a:pPr>
              <a:defRPr/>
            </a:pPr>
            <a:r>
              <a:rPr lang="en-US" sz="1800" dirty="0"/>
              <a:t>Vector Semantics and Embeddings </a:t>
            </a:r>
          </a:p>
          <a:p>
            <a:pPr>
              <a:defRPr/>
            </a:pPr>
            <a:r>
              <a:rPr lang="en-US" sz="1800" dirty="0"/>
              <a:t>Text Classification</a:t>
            </a:r>
          </a:p>
          <a:p>
            <a:pPr indent="-182880" eaLnBrk="1" fontAlgn="auto" hangingPunct="1">
              <a:spcAft>
                <a:spcPts val="0"/>
              </a:spcAft>
              <a:defRPr/>
            </a:pPr>
            <a:r>
              <a:rPr lang="en-US" sz="1800" dirty="0"/>
              <a:t>Edit Distance</a:t>
            </a:r>
          </a:p>
          <a:p>
            <a:pPr indent="-182880" eaLnBrk="1" fontAlgn="auto" hangingPunct="1">
              <a:spcAft>
                <a:spcPts val="0"/>
              </a:spcAft>
              <a:defRPr/>
            </a:pPr>
            <a:r>
              <a:rPr lang="en-US" sz="1800" dirty="0"/>
              <a:t>N-Gram Language Models</a:t>
            </a:r>
          </a:p>
          <a:p>
            <a:pPr indent="-182880" eaLnBrk="1" fontAlgn="auto" hangingPunct="1">
              <a:spcAft>
                <a:spcPts val="0"/>
              </a:spcAft>
              <a:defRPr/>
            </a:pPr>
            <a:r>
              <a:rPr lang="en-US" sz="1800" dirty="0"/>
              <a:t>Neural Networks</a:t>
            </a:r>
          </a:p>
          <a:p>
            <a:pPr indent="-182880" eaLnBrk="1" fontAlgn="auto" hangingPunct="1">
              <a:spcAft>
                <a:spcPts val="0"/>
              </a:spcAft>
              <a:defRPr/>
            </a:pPr>
            <a:r>
              <a:rPr lang="en-US" sz="1800" dirty="0"/>
              <a:t>Transformers</a:t>
            </a:r>
          </a:p>
        </p:txBody>
      </p:sp>
      <p:sp>
        <p:nvSpPr>
          <p:cNvPr id="11270" name="Slide Number Placeholder 1">
            <a:extLst>
              <a:ext uri="{FF2B5EF4-FFF2-40B4-BE49-F238E27FC236}">
                <a16:creationId xmlns:a16="http://schemas.microsoft.com/office/drawing/2014/main" id="{096F4620-A45D-27CB-E1FE-4A8C53D0CC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Rockwell" panose="02060603020205020403" pitchFamily="18" charset="0"/>
              </a:defRPr>
            </a:lvl1pPr>
            <a:lvl2pPr marL="742950" indent="-285750">
              <a:defRPr>
                <a:solidFill>
                  <a:schemeClr val="tx1"/>
                </a:solidFill>
                <a:latin typeface="Rockwell" panose="02060603020205020403" pitchFamily="18" charset="0"/>
              </a:defRPr>
            </a:lvl2pPr>
            <a:lvl3pPr marL="1143000" indent="-228600">
              <a:defRPr>
                <a:solidFill>
                  <a:schemeClr val="tx1"/>
                </a:solidFill>
                <a:latin typeface="Rockwell" panose="02060603020205020403" pitchFamily="18" charset="0"/>
              </a:defRPr>
            </a:lvl3pPr>
            <a:lvl4pPr marL="1600200" indent="-228600">
              <a:defRPr>
                <a:solidFill>
                  <a:schemeClr val="tx1"/>
                </a:solidFill>
                <a:latin typeface="Rockwell" panose="02060603020205020403" pitchFamily="18" charset="0"/>
              </a:defRPr>
            </a:lvl4pPr>
            <a:lvl5pPr marL="2057400" indent="-228600">
              <a:defRPr>
                <a:solidFill>
                  <a:schemeClr val="tx1"/>
                </a:solidFill>
                <a:latin typeface="Rockwell" panose="02060603020205020403" pitchFamily="18" charset="0"/>
              </a:defRPr>
            </a:lvl5pPr>
            <a:lvl6pPr marL="2514600" indent="-228600" defTabSz="457200" eaLnBrk="0" fontAlgn="base" hangingPunct="0">
              <a:spcBef>
                <a:spcPct val="0"/>
              </a:spcBef>
              <a:spcAft>
                <a:spcPct val="0"/>
              </a:spcAft>
              <a:defRPr>
                <a:solidFill>
                  <a:schemeClr val="tx1"/>
                </a:solidFill>
                <a:latin typeface="Rockwell" panose="02060603020205020403" pitchFamily="18" charset="0"/>
              </a:defRPr>
            </a:lvl6pPr>
            <a:lvl7pPr marL="2971800" indent="-228600" defTabSz="457200" eaLnBrk="0" fontAlgn="base" hangingPunct="0">
              <a:spcBef>
                <a:spcPct val="0"/>
              </a:spcBef>
              <a:spcAft>
                <a:spcPct val="0"/>
              </a:spcAft>
              <a:defRPr>
                <a:solidFill>
                  <a:schemeClr val="tx1"/>
                </a:solidFill>
                <a:latin typeface="Rockwell" panose="02060603020205020403" pitchFamily="18" charset="0"/>
              </a:defRPr>
            </a:lvl7pPr>
            <a:lvl8pPr marL="3429000" indent="-228600" defTabSz="457200" eaLnBrk="0" fontAlgn="base" hangingPunct="0">
              <a:spcBef>
                <a:spcPct val="0"/>
              </a:spcBef>
              <a:spcAft>
                <a:spcPct val="0"/>
              </a:spcAft>
              <a:defRPr>
                <a:solidFill>
                  <a:schemeClr val="tx1"/>
                </a:solidFill>
                <a:latin typeface="Rockwell" panose="02060603020205020403" pitchFamily="18" charset="0"/>
              </a:defRPr>
            </a:lvl8pPr>
            <a:lvl9pPr marL="3886200" indent="-228600" defTabSz="457200" eaLnBrk="0" fontAlgn="base" hangingPunct="0">
              <a:spcBef>
                <a:spcPct val="0"/>
              </a:spcBef>
              <a:spcAft>
                <a:spcPct val="0"/>
              </a:spcAft>
              <a:defRPr>
                <a:solidFill>
                  <a:schemeClr val="tx1"/>
                </a:solidFill>
                <a:latin typeface="Rockwell" panose="02060603020205020403" pitchFamily="18" charset="0"/>
              </a:defRPr>
            </a:lvl9pPr>
          </a:lstStyle>
          <a:p>
            <a:fld id="{095C4126-BE0F-402D-A163-8FC765362C34}" type="slidenum">
              <a:rPr lang="en-US" altLang="en-US" smtClean="0"/>
              <a:pPr/>
              <a:t>12</a:t>
            </a:fld>
            <a:endParaRPr lang="en-US" altLang="en-US"/>
          </a:p>
        </p:txBody>
      </p:sp>
      <p:sp>
        <p:nvSpPr>
          <p:cNvPr id="2" name="Rectangle 1">
            <a:extLst>
              <a:ext uri="{FF2B5EF4-FFF2-40B4-BE49-F238E27FC236}">
                <a16:creationId xmlns:a16="http://schemas.microsoft.com/office/drawing/2014/main" id="{B7163ADB-C074-4302-9D84-A8E73A753AFA}"/>
              </a:ext>
            </a:extLst>
          </p:cNvPr>
          <p:cNvSpPr/>
          <p:nvPr/>
        </p:nvSpPr>
        <p:spPr>
          <a:xfrm>
            <a:off x="1155224" y="1911115"/>
            <a:ext cx="9881552" cy="9144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just" eaLnBrk="1" fontAlgn="auto" hangingPunct="1">
              <a:spcBef>
                <a:spcPts val="0"/>
              </a:spcBef>
              <a:spcAft>
                <a:spcPts val="0"/>
              </a:spcAft>
              <a:defRPr/>
            </a:pPr>
            <a:r>
              <a:rPr lang="en-US" sz="2200" dirty="0"/>
              <a:t>This course focuses on learning NLP techniques.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A1044-357D-AE3D-BA02-E584BC0996E0}"/>
              </a:ext>
            </a:extLst>
          </p:cNvPr>
          <p:cNvSpPr>
            <a:spLocks noGrp="1"/>
          </p:cNvSpPr>
          <p:nvPr>
            <p:ph type="title"/>
          </p:nvPr>
        </p:nvSpPr>
        <p:spPr/>
        <p:txBody>
          <a:bodyPr/>
          <a:lstStyle/>
          <a:p>
            <a:r>
              <a:rPr lang="en-US" dirty="0"/>
              <a:t>Text/Reference Books</a:t>
            </a:r>
          </a:p>
        </p:txBody>
      </p:sp>
      <p:sp>
        <p:nvSpPr>
          <p:cNvPr id="3" name="Content Placeholder 2">
            <a:extLst>
              <a:ext uri="{FF2B5EF4-FFF2-40B4-BE49-F238E27FC236}">
                <a16:creationId xmlns:a16="http://schemas.microsoft.com/office/drawing/2014/main" id="{500E9E74-EB3E-8D2B-36E5-753D3DC50304}"/>
              </a:ext>
            </a:extLst>
          </p:cNvPr>
          <p:cNvSpPr>
            <a:spLocks noGrp="1"/>
          </p:cNvSpPr>
          <p:nvPr>
            <p:ph idx="1"/>
          </p:nvPr>
        </p:nvSpPr>
        <p:spPr/>
        <p:txBody>
          <a:bodyPr>
            <a:normAutofit/>
          </a:bodyPr>
          <a:lstStyle/>
          <a:p>
            <a:pPr algn="just"/>
            <a:r>
              <a:rPr lang="en-US" dirty="0"/>
              <a:t>Daniel </a:t>
            </a:r>
            <a:r>
              <a:rPr lang="en-US" dirty="0" err="1"/>
              <a:t>Jurafsky</a:t>
            </a:r>
            <a:r>
              <a:rPr lang="en-US" dirty="0"/>
              <a:t> and James H. Martin. 2025. </a:t>
            </a:r>
            <a:r>
              <a:rPr lang="en-US" b="1" dirty="0"/>
              <a:t>Speech and Language Processing</a:t>
            </a:r>
            <a:r>
              <a:rPr lang="en-US" dirty="0"/>
              <a:t>: An Introduction to Natural Language Processing, Computational Linguistics, and Speech Recognition with Language Models, 3rd edition.</a:t>
            </a:r>
          </a:p>
          <a:p>
            <a:pPr algn="just"/>
            <a:r>
              <a:rPr lang="en-US" dirty="0"/>
              <a:t>Hobson Lane, Maria </a:t>
            </a:r>
            <a:r>
              <a:rPr lang="en-US" dirty="0" err="1"/>
              <a:t>Dyshel</a:t>
            </a:r>
            <a:r>
              <a:rPr lang="en-US" dirty="0"/>
              <a:t>. 2025. Natural Language Processing in Action.</a:t>
            </a:r>
          </a:p>
          <a:p>
            <a:pPr algn="just"/>
            <a:endParaRPr lang="en-US" dirty="0"/>
          </a:p>
        </p:txBody>
      </p:sp>
      <p:sp>
        <p:nvSpPr>
          <p:cNvPr id="4" name="Slide Number Placeholder 3">
            <a:extLst>
              <a:ext uri="{FF2B5EF4-FFF2-40B4-BE49-F238E27FC236}">
                <a16:creationId xmlns:a16="http://schemas.microsoft.com/office/drawing/2014/main" id="{725FBC1E-A144-0A85-A303-0CE6B401944B}"/>
              </a:ext>
            </a:extLst>
          </p:cNvPr>
          <p:cNvSpPr>
            <a:spLocks noGrp="1"/>
          </p:cNvSpPr>
          <p:nvPr>
            <p:ph type="sldNum" sz="quarter" idx="12"/>
          </p:nvPr>
        </p:nvSpPr>
        <p:spPr/>
        <p:txBody>
          <a:bodyPr/>
          <a:lstStyle/>
          <a:p>
            <a:fld id="{C3584116-71E9-45F8-BC17-47CE06098486}" type="slidenum">
              <a:rPr lang="en-US" smtClean="0"/>
              <a:t>13</a:t>
            </a:fld>
            <a:endParaRPr lang="en-US"/>
          </a:p>
        </p:txBody>
      </p:sp>
    </p:spTree>
    <p:extLst>
      <p:ext uri="{BB962C8B-B14F-4D97-AF65-F5344CB8AC3E}">
        <p14:creationId xmlns:p14="http://schemas.microsoft.com/office/powerpoint/2010/main" val="2930386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F754CD-FA56-6EC2-E3F8-E36B8FBA1572}"/>
              </a:ext>
            </a:extLst>
          </p:cNvPr>
          <p:cNvSpPr/>
          <p:nvPr/>
        </p:nvSpPr>
        <p:spPr>
          <a:xfrm>
            <a:off x="3404685" y="2428240"/>
            <a:ext cx="5382630" cy="200152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2200" dirty="0"/>
              <a:t>Questions?</a:t>
            </a:r>
          </a:p>
          <a:p>
            <a:pPr algn="ctr"/>
            <a:endParaRPr lang="en-AU" sz="2200" dirty="0"/>
          </a:p>
          <a:p>
            <a:pPr algn="ctr"/>
            <a:r>
              <a:rPr lang="en-AU" sz="2200" dirty="0"/>
              <a:t>Thank you!</a:t>
            </a:r>
          </a:p>
        </p:txBody>
      </p:sp>
      <p:sp>
        <p:nvSpPr>
          <p:cNvPr id="5" name="Slide Number Placeholder 4">
            <a:extLst>
              <a:ext uri="{FF2B5EF4-FFF2-40B4-BE49-F238E27FC236}">
                <a16:creationId xmlns:a16="http://schemas.microsoft.com/office/drawing/2014/main" id="{2CC6092F-6D97-124F-C398-4661CE28F4ED}"/>
              </a:ext>
            </a:extLst>
          </p:cNvPr>
          <p:cNvSpPr>
            <a:spLocks noGrp="1"/>
          </p:cNvSpPr>
          <p:nvPr>
            <p:ph type="sldNum" sz="quarter" idx="12"/>
          </p:nvPr>
        </p:nvSpPr>
        <p:spPr/>
        <p:txBody>
          <a:bodyPr/>
          <a:lstStyle/>
          <a:p>
            <a:fld id="{C5F95AAA-C40A-4A12-A8B6-0D7C65AC565A}" type="slidenum">
              <a:rPr lang="en-US" smtClean="0"/>
              <a:t>14</a:t>
            </a:fld>
            <a:endParaRPr lang="en-US"/>
          </a:p>
        </p:txBody>
      </p:sp>
    </p:spTree>
    <p:extLst>
      <p:ext uri="{BB962C8B-B14F-4D97-AF65-F5344CB8AC3E}">
        <p14:creationId xmlns:p14="http://schemas.microsoft.com/office/powerpoint/2010/main" val="4215101053"/>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625</TotalTime>
  <Words>767</Words>
  <Application>Microsoft Office PowerPoint</Application>
  <PresentationFormat>Widescreen</PresentationFormat>
  <Paragraphs>114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Corbel</vt:lpstr>
      <vt:lpstr>Rockwell</vt:lpstr>
      <vt:lpstr>Tw Cen MT</vt:lpstr>
      <vt:lpstr>Wingdings</vt:lpstr>
      <vt:lpstr>Basis</vt:lpstr>
      <vt:lpstr>introduction</vt:lpstr>
      <vt:lpstr>Vision &amp; Mission of AIUB</vt:lpstr>
      <vt:lpstr>Goals of AIUB</vt:lpstr>
      <vt:lpstr>Vision &amp; Mission of CS Department</vt:lpstr>
      <vt:lpstr>Goals of CS Department</vt:lpstr>
      <vt:lpstr>Semester Schedule (Summer 25-26)</vt:lpstr>
      <vt:lpstr>PowerPoint Presentation</vt:lpstr>
      <vt:lpstr>Course Requirements</vt:lpstr>
      <vt:lpstr>Attendance</vt:lpstr>
      <vt:lpstr>Cheating Policy (Official Rule)</vt:lpstr>
      <vt:lpstr>Teaching</vt:lpstr>
      <vt:lpstr>Course Outline</vt:lpstr>
      <vt:lpstr>Text/Reference Books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Ashraf Uddin</dc:creator>
  <cp:lastModifiedBy>Abdus Salam</cp:lastModifiedBy>
  <cp:revision>112</cp:revision>
  <dcterms:created xsi:type="dcterms:W3CDTF">2023-09-18T11:08:30Z</dcterms:created>
  <dcterms:modified xsi:type="dcterms:W3CDTF">2026-06-08T02:09:47Z</dcterms:modified>
</cp:coreProperties>
</file>