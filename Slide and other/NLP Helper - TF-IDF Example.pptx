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Corbel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7vm8VzX2XIbnm1D2cLjBur1nu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BEA0DB-D86F-46F9-BDDF-17BE01D0601D}">
  <a:tblStyle styleId="{78BEA0DB-D86F-46F9-BDDF-17BE01D0601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6E6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6E6E6"/>
          </a:solidFill>
        </a:fill>
      </a:tcStyle>
    </a:firstRow>
    <a:neCell>
      <a:tcTxStyle/>
    </a:neCell>
    <a:nwCell>
      <a:tcTxStyle/>
    </a:nwCell>
  </a:tblStyle>
  <a:tblStyle styleId="{74D6A0AE-6718-402B-B092-4DD5243BA79E}" styleName="Table_1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rbel-bold.fntdata"/><Relationship Id="rId16" Type="http://schemas.openxmlformats.org/officeDocument/2006/relationships/font" Target="fonts/Corbel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Corbel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orbel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1143000" y="2057400"/>
            <a:ext cx="9872663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231775" y="244475"/>
            <a:ext cx="11723688" cy="63769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13"/>
          <p:cNvCxnSpPr/>
          <p:nvPr/>
        </p:nvCxnSpPr>
        <p:spPr>
          <a:xfrm>
            <a:off x="1978025" y="3733800"/>
            <a:ext cx="8229600" cy="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3"/>
          <p:cNvSpPr txBox="1"/>
          <p:nvPr>
            <p:ph type="ctrTitle"/>
          </p:nvPr>
        </p:nvSpPr>
        <p:spPr>
          <a:xfrm>
            <a:off x="1109980" y="882376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7200" cap="none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" type="subTitle"/>
          </p:nvPr>
        </p:nvSpPr>
        <p:spPr>
          <a:xfrm>
            <a:off x="1709530" y="3869634"/>
            <a:ext cx="8767860" cy="13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76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6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2000"/>
            </a:lvl9pPr>
          </a:lstStyle>
          <a:p/>
        </p:txBody>
      </p:sp>
      <p:sp>
        <p:nvSpPr>
          <p:cNvPr id="27" name="Google Shape;27;p13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31;p14"/>
          <p:cNvCxnSpPr/>
          <p:nvPr/>
        </p:nvCxnSpPr>
        <p:spPr>
          <a:xfrm>
            <a:off x="1981200" y="4021138"/>
            <a:ext cx="8229600" cy="0"/>
          </a:xfrm>
          <a:prstGeom prst="straightConnector1">
            <a:avLst/>
          </a:prstGeom>
          <a:noFill/>
          <a:ln cap="flat" cmpd="sng" w="10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14"/>
          <p:cNvSpPr txBox="1"/>
          <p:nvPr>
            <p:ph type="title"/>
          </p:nvPr>
        </p:nvSpPr>
        <p:spPr>
          <a:xfrm>
            <a:off x="1106424" y="1173575"/>
            <a:ext cx="99669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7200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1709928" y="4154520"/>
            <a:ext cx="8769096" cy="13638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1143000" y="2057399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6267612" y="20574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1143000" y="2001511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1143000" y="2721483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6269173" y="1999032"/>
            <a:ext cx="4754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6269173" y="2719322"/>
            <a:ext cx="475488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03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60"/>
              <a:buChar char="•"/>
              <a:defRPr sz="2200"/>
            </a:lvl1pPr>
            <a:lvl2pPr indent="-3302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0988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4pPr>
            <a:lvl5pPr indent="-30988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5pPr>
            <a:lvl6pPr indent="-30988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6pPr>
            <a:lvl7pPr indent="-30988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7pPr>
            <a:lvl8pPr indent="-30988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80"/>
              <a:buChar char="•"/>
              <a:defRPr sz="1600"/>
            </a:lvl8pPr>
            <a:lvl9pPr indent="-30988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28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9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5852159" y="1097280"/>
            <a:ext cx="521208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9116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60"/>
              <a:buChar char="•"/>
              <a:defRPr sz="3200"/>
            </a:lvl1pPr>
            <a:lvl2pPr indent="-3708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240"/>
              <a:buChar char="•"/>
              <a:defRPr sz="2800"/>
            </a:lvl2pPr>
            <a:lvl3pPr indent="-35052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920"/>
              <a:buChar char="•"/>
              <a:defRPr sz="24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•"/>
              <a:defRPr sz="20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•"/>
              <a:defRPr sz="2000"/>
            </a:lvl9pPr>
          </a:lstStyle>
          <a:p/>
        </p:txBody>
      </p:sp>
      <p:sp>
        <p:nvSpPr>
          <p:cNvPr id="65" name="Google Shape;65;p19"/>
          <p:cNvSpPr txBox="1"/>
          <p:nvPr>
            <p:ph idx="2" type="body"/>
          </p:nvPr>
        </p:nvSpPr>
        <p:spPr>
          <a:xfrm>
            <a:off x="1143000" y="2834640"/>
            <a:ext cx="39319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6" name="Google Shape;66;p19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/>
          <p:nvPr>
            <p:ph type="title"/>
          </p:nvPr>
        </p:nvSpPr>
        <p:spPr>
          <a:xfrm>
            <a:off x="1143000" y="1097280"/>
            <a:ext cx="39319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/>
          <p:nvPr>
            <p:ph idx="2" type="pic"/>
          </p:nvPr>
        </p:nvSpPr>
        <p:spPr>
          <a:xfrm>
            <a:off x="5413248" y="1069847"/>
            <a:ext cx="6099048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0"/>
          <p:cNvSpPr txBox="1"/>
          <p:nvPr>
            <p:ph idx="1" type="body"/>
          </p:nvPr>
        </p:nvSpPr>
        <p:spPr>
          <a:xfrm>
            <a:off x="1143000" y="2834640"/>
            <a:ext cx="393192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60"/>
              <a:buNone/>
              <a:defRPr sz="17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3" name="Google Shape;73;p20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1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 rot="5400000">
            <a:off x="4060032" y="-859632"/>
            <a:ext cx="4038600" cy="9872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 rot="5400000">
            <a:off x="7181850" y="2305050"/>
            <a:ext cx="54102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" type="body"/>
          </p:nvPr>
        </p:nvSpPr>
        <p:spPr>
          <a:xfrm rot="5400000">
            <a:off x="2152650" y="-247650"/>
            <a:ext cx="5410200" cy="74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2004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4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3pPr>
            <a:lvl4pPr indent="-32004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4pPr>
            <a:lvl5pPr indent="-32004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5pPr>
            <a:lvl6pPr indent="-32004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6pPr>
            <a:lvl7pPr indent="-32004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7pPr>
            <a:lvl8pPr indent="-32004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40"/>
              <a:buChar char="•"/>
              <a:defRPr/>
            </a:lvl8pPr>
            <a:lvl9pPr indent="-32004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40"/>
              <a:buChar char="•"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231775" y="244475"/>
            <a:ext cx="11723688" cy="637698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1"/>
          <p:cNvSpPr txBox="1"/>
          <p:nvPr>
            <p:ph type="title"/>
          </p:nvPr>
        </p:nvSpPr>
        <p:spPr>
          <a:xfrm>
            <a:off x="1143000" y="609600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" type="body"/>
          </p:nvPr>
        </p:nvSpPr>
        <p:spPr>
          <a:xfrm>
            <a:off x="1143000" y="2057400"/>
            <a:ext cx="9872663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036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Corbel"/>
              <a:buChar char="•"/>
              <a:defRPr b="0" i="0" sz="2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004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0988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0988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0988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0988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0988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0988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280"/>
              <a:buFont typeface="Corbel"/>
              <a:buChar char="•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1143000" y="6224588"/>
            <a:ext cx="23288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1" type="ftr"/>
          </p:nvPr>
        </p:nvSpPr>
        <p:spPr>
          <a:xfrm>
            <a:off x="3949700" y="6224588"/>
            <a:ext cx="471646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TF-IDF: Measuring Word Importance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TF-IDF stands for Term Frequency-Inverse Document Frequency. It's a numerical statistic used to evaluate how important a word is to a specific document within a collection of documents (a corpus).</a:t>
            </a:r>
            <a:endParaRPr/>
          </a:p>
          <a:p>
            <a:pPr indent="-342900" lvl="1" marL="4238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Term Frequency (TF): Measures how often a word appears in a single document. A word that appears many times has a higher TF.</a:t>
            </a:r>
            <a:endParaRPr/>
          </a:p>
          <a:p>
            <a:pPr indent="-342900" lvl="1" marL="4238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Inverse Document Frequency (IDF): Measures how common or rare a word is across all documents. Common words (like "data") will have a low IDF score, while rare, specialized words will have a high IDF score.</a:t>
            </a:r>
            <a:endParaRPr/>
          </a:p>
        </p:txBody>
      </p:sp>
      <p:sp>
        <p:nvSpPr>
          <p:cNvPr id="94" name="Google Shape;94;p1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" r="-62" t="-19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3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Step-by-Step TF-IDF Example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Sample Corpus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Let's say we have the following two documents: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Document 1 (D1): "Data science is fun“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Document 2 (D2): "Data science is powerful"</a:t>
            </a:r>
            <a:endParaRPr/>
          </a:p>
        </p:txBody>
      </p:sp>
      <p:sp>
        <p:nvSpPr>
          <p:cNvPr id="108" name="Google Shape;108;p3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Step-by-Step TF-IDF Example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1: Preprocess the Text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Lowercase all words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Remove punctuation (if any)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Tokenize (split into words)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After preprocessing: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D1: ["data", "science", "is", "fun"]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D2: ["data", "science", "is", "powerful"]</a:t>
            </a:r>
            <a:endParaRPr/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1143001" y="1655763"/>
            <a:ext cx="7135586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Step-by-Step TF-IDF Example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2: Term Frequency (TF)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Calculate how often each term appears in a document.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D1: ["data", "science", "is", "fun"]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D2: ["data", "science", "is", "powerful"]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this case, each word appears only once in each document, so raw term frequency = 1 (or 0 if absent).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5"/>
          <p:cNvGraphicFramePr/>
          <p:nvPr/>
        </p:nvGraphicFramePr>
        <p:xfrm>
          <a:off x="6531429" y="30447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187775"/>
                <a:gridCol w="118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Step-by-Step TF-IDF Example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3: Document Frequency (DF)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Number of documents in which each term appears.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D1: ["data", "science", "is", "fun"]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D2: ["data", "science", "is", "powerful"]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6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6"/>
          <p:cNvGraphicFramePr/>
          <p:nvPr/>
        </p:nvGraphicFramePr>
        <p:xfrm>
          <a:off x="1338943" y="39836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187775"/>
                <a:gridCol w="118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32" name="Google Shape;132;p6"/>
          <p:cNvGraphicFramePr/>
          <p:nvPr/>
        </p:nvGraphicFramePr>
        <p:xfrm>
          <a:off x="5167993" y="3983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{74D6A0AE-6718-402B-B092-4DD5243BA79E}</a:tableStyleId>
              </a:tblPr>
              <a:tblGrid>
                <a:gridCol w="1163825"/>
                <a:gridCol w="5702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DF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143000" y="1655763"/>
            <a:ext cx="9872663" cy="444023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" r="0" t="-192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2563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6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39" name="Google Shape;139;p7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7"/>
          <p:cNvGraphicFramePr/>
          <p:nvPr/>
        </p:nvGraphicFramePr>
        <p:xfrm>
          <a:off x="653143" y="3950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187775"/>
                <a:gridCol w="118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41" name="Google Shape;141;p7"/>
          <p:cNvGraphicFramePr/>
          <p:nvPr/>
        </p:nvGraphicFramePr>
        <p:xfrm>
          <a:off x="4588329" y="39591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{74D6A0AE-6718-402B-B092-4DD5243BA79E}</a:tableStyleId>
              </a:tblPr>
              <a:tblGrid>
                <a:gridCol w="1163825"/>
                <a:gridCol w="5702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DF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42" name="Google Shape;142;p7"/>
          <p:cNvGraphicFramePr/>
          <p:nvPr/>
        </p:nvGraphicFramePr>
        <p:xfrm>
          <a:off x="6645729" y="39509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2499050"/>
                <a:gridCol w="11353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IDF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Value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log10(2/2) = log10(1)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log10(2/2) = log10(1)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log10(2/2) = log10(1)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log10(2/1) = log10(2)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log10(2/1) = log10(2)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1143000" y="1655763"/>
            <a:ext cx="4931229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80963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Step-by-Step TF-IDF Example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Step 5: TF × IDF</a:t>
            </a:r>
            <a:endParaRPr/>
          </a:p>
          <a:p>
            <a:pPr indent="0" lvl="1" marL="809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Now multiply TF with IDF for each term in each document:</a:t>
            </a:r>
            <a:endParaRPr/>
          </a:p>
        </p:txBody>
      </p:sp>
      <p:sp>
        <p:nvSpPr>
          <p:cNvPr id="149" name="Google Shape;149;p8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0" name="Google Shape;150;p8"/>
          <p:cNvGraphicFramePr/>
          <p:nvPr/>
        </p:nvGraphicFramePr>
        <p:xfrm>
          <a:off x="8081136" y="1379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187775"/>
                <a:gridCol w="118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51" name="Google Shape;151;p8"/>
          <p:cNvGraphicFramePr/>
          <p:nvPr/>
        </p:nvGraphicFramePr>
        <p:xfrm>
          <a:off x="8074477" y="4228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32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IDF</a:t>
                      </a:r>
                      <a:r>
                        <a:rPr b="1" lang="en-US" sz="1800"/>
                        <a:t> </a:t>
                      </a:r>
                      <a:r>
                        <a:rPr b="1" lang="en-US" sz="1800"/>
                        <a:t>Value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52" name="Google Shape;152;p8"/>
          <p:cNvGraphicFramePr/>
          <p:nvPr/>
        </p:nvGraphicFramePr>
        <p:xfrm>
          <a:off x="1458541" y="37142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230325"/>
                <a:gridCol w="2373350"/>
                <a:gridCol w="22424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TF-IDF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TF-IDF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 × 0 = 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 × 0.301 = 0.075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 × 0.301 = 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 × 0.301 = 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 × 0.301 = 0.075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53" name="Google Shape;153;p8"/>
          <p:cNvSpPr/>
          <p:nvPr/>
        </p:nvSpPr>
        <p:spPr>
          <a:xfrm>
            <a:off x="8817429" y="3608614"/>
            <a:ext cx="408214" cy="5715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905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062108" y="3477985"/>
            <a:ext cx="881743" cy="832758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1143000" y="447675"/>
            <a:ext cx="9875838" cy="1355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Basics of NLP: TF-IDF</a:t>
            </a:r>
            <a:endParaRPr sz="320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840922" y="1639435"/>
            <a:ext cx="6833507" cy="224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1" marL="423863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5"/>
              </a:buClr>
              <a:buSzPts val="192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Common words like "data", "science", and "is" have TF-IDF = 0 because they appear in all documents (not informative).</a:t>
            </a:r>
            <a:endParaRPr/>
          </a:p>
          <a:p>
            <a:pPr indent="-342900" lvl="1" marL="423863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B5395"/>
              </a:buClr>
              <a:buSzPts val="192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Unique words like "fun" and "powerful" have higher TF-IDF values, making them more important for distinguishing between the documents.</a:t>
            </a:r>
            <a:endParaRPr/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9329738" y="6224588"/>
            <a:ext cx="17065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9"/>
          <p:cNvGraphicFramePr/>
          <p:nvPr/>
        </p:nvGraphicFramePr>
        <p:xfrm>
          <a:off x="8081136" y="13792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187775"/>
                <a:gridCol w="118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1/4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63" name="Google Shape;163;p9"/>
          <p:cNvGraphicFramePr/>
          <p:nvPr/>
        </p:nvGraphicFramePr>
        <p:xfrm>
          <a:off x="8074477" y="42285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1327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Value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≈ 0.3010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64" name="Google Shape;164;p9"/>
          <p:cNvGraphicFramePr/>
          <p:nvPr/>
        </p:nvGraphicFramePr>
        <p:xfrm>
          <a:off x="1466705" y="4236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{78BEA0DB-D86F-46F9-BDDF-17BE01D0601D}</a:tableStyleId>
              </a:tblPr>
              <a:tblGrid>
                <a:gridCol w="1163825"/>
                <a:gridCol w="2245050"/>
                <a:gridCol w="21212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Term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TF-IDF in D1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TF-IDF in D2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science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0.075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powerful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0.075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asis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2016-09-26T17:30:27Z</dcterms:created>
  <dc:creator>HP</dc:creator>
</cp:coreProperties>
</file>